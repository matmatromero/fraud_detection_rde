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5" r:id="rId2"/>
    <p:sldId id="2076138149" r:id="rId3"/>
    <p:sldId id="256" r:id="rId4"/>
    <p:sldId id="2146848601" r:id="rId5"/>
    <p:sldId id="2146848604" r:id="rId6"/>
    <p:sldId id="2146848606" r:id="rId7"/>
    <p:sldId id="2146848607" r:id="rId8"/>
    <p:sldId id="2146848608" r:id="rId9"/>
    <p:sldId id="2146848612" r:id="rId10"/>
    <p:sldId id="2146848613" r:id="rId11"/>
    <p:sldId id="214684861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A50FC9-99A2-48D3-8FDE-B9D7AD45635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C39D2F-3627-44C0-BB82-86B201A9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065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9076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D9FBD-BA94-60B9-B294-459D5F010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7EA796-5DCD-B9BB-9584-18F5FBC422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EC4F21-7856-8C74-792E-8EC79EAC7D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6F2D2F-C02C-B743-79F9-FC0BFC4E34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247812-3409-784D-BAE7-ABE53735D59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1719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805BF-5ECC-D2F9-1659-A161373A5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C1DF36-55BD-9F56-4D22-F9D71EA21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5B8286-26C8-C56A-99DC-15C6B9F7D2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038BF2-C39B-FC1D-054F-7E3C847875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84966-9EED-4F0D-ABBF-00C77588944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8248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1F205-421C-0F9D-2079-B36035AD7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CEE599-C953-5043-B814-938FD9FC84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6E8052-F1DF-7E1B-9822-D0F6FF01B3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6768C8-F7A1-1107-EDD7-4B1C68AE2B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C84966-9EED-4F0D-ABBF-00C7758894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590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88E20-00F3-D4C5-65FD-DB34B0DDE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D07422-53E2-DC36-D3B2-4AEBC922EE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E78F24-7BE4-8A37-77CB-CA631704E7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543D9-E8E6-406C-5C82-B43BB130EA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C84966-9EED-4F0D-ABBF-00C7758894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3152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3FB7D-4189-B678-07B0-2062C6F89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209E7A-AC45-F650-A49F-BFCA060897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08814B-445A-BB95-0327-D2630A17C3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57B5D-C8BD-C07F-CF81-CE191CE761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C84966-9EED-4F0D-ABBF-00C7758894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8258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86429-20E2-1B66-87BA-527E36DA3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79518D-3F85-B7C9-F05B-C1668FB26B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646176-9C5E-2581-C82C-26F12BD46E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ABC65E-C6C8-577D-7677-F26B6B6777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C84966-9EED-4F0D-ABBF-00C7758894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1997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E1810-34C5-45A9-D540-B17A8A6A2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B0C73E-F89F-B1B1-35B3-73CFD0CC6C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E22933-F6EB-1622-F265-1E5EC3F5AF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27C5F6-519B-4C60-4C1F-74FCBF2A53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C84966-9EED-4F0D-ABBF-00C7758894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52766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C2D1B-E9F2-4110-60BF-0C4B06143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C754A8-E677-BBED-A778-419D864F83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922788-7C6E-B546-884E-7F4239276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A840E-BCAA-8D22-15EA-B99C9B3002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C84966-9EED-4F0D-ABBF-00C7758894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1978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ECA31-9D47-D2D6-15E5-2DF7F310E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CB7017-5763-BF79-C989-BC2028C2FE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671B7-9EB1-A117-08E1-EF12A99DB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0D26-1BEE-44AB-95DA-26D2B2677209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AE4E6-89B1-4CFD-1DBE-9AD560AE3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593260-E195-FDD8-25EF-ACD3D7CB4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68ABD-DD94-413A-A63C-552FD28BD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981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F98A1-3DA6-44CE-6842-90F95A318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45516-694E-149B-0A4E-FACE3B50F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A8D3B-6715-F470-4863-AB513BEB8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0D26-1BEE-44AB-95DA-26D2B2677209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7C42A-0FB9-C5BF-E87A-7FE43C678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FA113-7D01-65E3-14B0-0A2953713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68ABD-DD94-413A-A63C-552FD28BD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285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A647E-4B5C-8A8A-85DB-84A212661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646BBB-B430-2CF3-0F70-564C08D2BC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91BF1-85DA-6E76-FC93-59B40FD45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0D26-1BEE-44AB-95DA-26D2B2677209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48A71-A9DA-1209-C41C-0C658F274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0CE14-C9FD-6DCD-46B3-048CBAAB2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68ABD-DD94-413A-A63C-552FD28BD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66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53063-7EFA-1FBF-16BE-2A0B45224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210B4-401E-C226-569F-7371695B69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B372A1-8C6D-03BC-D426-484B637B57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357A4C-7396-CF07-D001-B2AB6DCE6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0D26-1BEE-44AB-95DA-26D2B2677209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FCFCA5-39E2-9713-E40A-B0E06CBA9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1E8A2E-B93C-9C2D-D15C-309B426C3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68ABD-DD94-413A-A63C-552FD28BD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550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433FC-7569-BE06-CB7A-475A02666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7383E-AEE2-D27E-5144-25BD742DC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BDBF48-3D35-7113-0A6B-11B911CC76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8CE7BF-4DCD-BB05-A19F-943BF0B3CD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E2A400-54D2-7909-E154-09E181B1B4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2BF49A-60A9-49DE-B311-30A5AA86A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0D26-1BEE-44AB-95DA-26D2B2677209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F63E67-A4C9-572B-655C-2BD75426E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C08CDB-0815-5ACE-9EE4-E42A6B58F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68ABD-DD94-413A-A63C-552FD28BD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025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0E2CE-95C5-0639-8568-ED4036D29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C6FBBE-0B1C-5845-3FAA-06682554A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0D26-1BEE-44AB-95DA-26D2B2677209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0E4E48-B2F9-18B7-EF8C-F8688A17F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B58B58-6BC6-7F07-DD18-DEDB00F63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68ABD-DD94-413A-A63C-552FD28BD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556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19AACC-7C5F-62EC-0428-35DCA33AD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0D26-1BEE-44AB-95DA-26D2B2677209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9C9108-F723-01F5-0A7B-07D3BF456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ABE69E-3376-7BA0-2BF6-36B27ABF8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68ABD-DD94-413A-A63C-552FD28BD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324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B17E6-F707-0207-A3F8-CC7E0B8CE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56709-98BF-11C3-0FBA-61F5A3645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7E9D16-80D8-359A-D32D-7B86CDC6B4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F63D4-ADEE-870F-69CC-F06074B35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0D26-1BEE-44AB-95DA-26D2B2677209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62735B-256F-520C-C7D6-3CAE60722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63DB19-7D47-3487-3C9A-DCEDFD76F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68ABD-DD94-413A-A63C-552FD28BD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358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8C317-8C63-D3A5-4E79-3887AC719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3591C9-0587-E268-ABE7-B9E696D9D1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66C540-F35D-D050-801A-AA085F7078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ECE92F-C723-7773-ED2D-5A38CAD4D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0D26-1BEE-44AB-95DA-26D2B2677209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F1B6A-D6C3-CD65-7697-A31D8A818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832302-73E9-375C-6FD4-6CB557965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68ABD-DD94-413A-A63C-552FD28BD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110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3B576-C462-90DB-24B7-1C2663324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4B5757-648E-9FA9-F932-BC4E6833D2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E16A5-B135-2A76-6037-5D9B9A180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0D26-1BEE-44AB-95DA-26D2B2677209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41607-6AF3-3878-6CC6-81550BF1F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F30A5-C2B0-2B73-9F30-AF457A959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68ABD-DD94-413A-A63C-552FD28BD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195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8696EE-B984-DF3C-20FE-7CEFB0C976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82DABE-1640-EF7B-72A2-9C77F65C7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57F11-6CE7-B939-6B8A-A9E488FF5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0D26-1BEE-44AB-95DA-26D2B2677209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5578A-59CF-1537-A713-974311A2C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337D3-5C18-B26A-52FA-A665B7915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68ABD-DD94-413A-A63C-552FD28BD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127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 Image - Left-aligned, GT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59C8654-2CC9-F541-A924-257D0187B5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089" y="0"/>
            <a:ext cx="12210089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9EB74AD-1B7B-4DBD-AD4A-8DA48458B4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3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0" y="381001"/>
            <a:ext cx="6305549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097823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/>
              <a:t>Place subtitle here in</a:t>
            </a:r>
            <a:br>
              <a:rPr lang="en-US" dirty="0"/>
            </a:br>
            <a:r>
              <a:rPr lang="en-US" dirty="0"/>
              <a:t>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fld id="{084C2CB2-4FB2-4965-A2E7-4A3640116F06}" type="datetime2">
              <a:rPr lang="en-GB" smtClean="0"/>
              <a:pPr/>
              <a:t>Sunday, 19 April 2026</a:t>
            </a:fld>
            <a:endParaRPr lang="en-GB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06A9A1-BB92-4DC6-893F-3C43599C724E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Picture or texture fill &gt; Set to one of the provided selections in the image library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pic>
        <p:nvPicPr>
          <p:cNvPr id="12" name="Picture 11" descr="A picture containing card, drawing, crosswalk, table&#10;&#10;Description automatically generated">
            <a:extLst>
              <a:ext uri="{FF2B5EF4-FFF2-40B4-BE49-F238E27FC236}">
                <a16:creationId xmlns:a16="http://schemas.microsoft.com/office/drawing/2014/main" id="{15DA8F74-8D2F-E745-B600-2FEBC256CB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0817" y="406666"/>
            <a:ext cx="670786" cy="7102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BADC35A-3B77-D944-886E-46A11DE7661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817" y="6189522"/>
            <a:ext cx="2940583" cy="261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8951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720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7BF9E3-E362-4FC0-9D7C-812B52E2F57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DCDE1A5-7B8C-446C-B047-DEF343C830D4}" type="datetime2">
              <a:rPr lang="en-US" smtClean="0"/>
              <a:t>Sunday, April 19, 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A5867-8828-41D4-ADAA-D7687A1B5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algn="r" defTabSz="228600">
                <a:spcAft>
                  <a:spcPts val="1200"/>
                </a:spcAft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721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D2DE411-9D7C-15AE-0B59-F26B2BF8C52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2024781"/>
            <a:ext cx="2878394" cy="4137189"/>
          </a:xfrm>
        </p:spPr>
        <p:txBody>
          <a:bodyPr>
            <a:normAutofit/>
          </a:bodyPr>
          <a:lstStyle>
            <a:lvl1pPr marL="3429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eriod"/>
              <a:defRPr sz="1800">
                <a:latin typeface="+mn-lt"/>
              </a:defRPr>
            </a:lvl1pPr>
            <a:lvl2pPr marL="8001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eriod"/>
              <a:defRPr sz="1800">
                <a:latin typeface="+mn-lt"/>
              </a:defRPr>
            </a:lvl2pPr>
            <a:lvl3pPr marL="12573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arenR"/>
              <a:defRPr sz="1800">
                <a:latin typeface="+mn-lt"/>
              </a:defRPr>
            </a:lvl3pPr>
            <a:lvl4pPr marL="17145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arenR"/>
              <a:defRPr sz="1800">
                <a:latin typeface="+mn-lt"/>
              </a:defRPr>
            </a:lvl4pPr>
            <a:lvl5pPr marL="2057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60FEDE7C-502F-ECFE-4136-E99206849C2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74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340B12-4BF7-06B6-8A71-9DD8B951A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BBEF37-BC54-EBE7-62FD-4F65C92A6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F0456-553F-9904-DAD9-91FFF37E13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B40D26-1BEE-44AB-95DA-26D2B2677209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1FD1C-60BD-6F5D-9D06-5E806C5EC9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B82AE-57E8-2A90-4F0B-6114989928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C68ABD-DD94-413A-A63C-552FD28BD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90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5" Type="http://schemas.openxmlformats.org/officeDocument/2006/relationships/slide" Target="slide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3.xml"/><Relationship Id="rId6" Type="http://schemas.openxmlformats.org/officeDocument/2006/relationships/slide" Target="slide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7" Type="http://schemas.openxmlformats.org/officeDocument/2006/relationships/slide" Target="slid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svg"/><Relationship Id="rId5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7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svg"/><Relationship Id="rId5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7" Type="http://schemas.openxmlformats.org/officeDocument/2006/relationships/slide" Target="slid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svg"/><Relationship Id="rId5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7" Type="http://schemas.openxmlformats.org/officeDocument/2006/relationships/slide" Target="slide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svg"/><Relationship Id="rId5" Type="http://schemas.openxmlformats.org/officeDocument/2006/relationships/image" Target="../media/image11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slide" Target="slide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slide" Target="slide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slide" Target="slide2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3602CE0-C26C-6543-8C40-A5534E6B7A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216" y="381001"/>
            <a:ext cx="5460516" cy="2476499"/>
          </a:xfrm>
        </p:spPr>
        <p:txBody>
          <a:bodyPr/>
          <a:lstStyle/>
          <a:p>
            <a:r>
              <a:rPr lang="en-US" dirty="0">
                <a:latin typeface="Graphik Super" panose="020B0B03030202060203" pitchFamily="34" charset="0"/>
              </a:rPr>
              <a:t>PRU VB Claims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81C655-74C8-8C43-9DC7-0517E9DB1CB6}"/>
              </a:ext>
            </a:extLst>
          </p:cNvPr>
          <p:cNvSpPr txBox="1"/>
          <p:nvPr/>
        </p:nvSpPr>
        <p:spPr>
          <a:xfrm>
            <a:off x="11153104" y="412124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64D0CBDD-3681-4E2D-BDDF-90AD334F76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1" y="2845269"/>
            <a:ext cx="4301168" cy="530687"/>
          </a:xfrm>
        </p:spPr>
        <p:txBody>
          <a:bodyPr/>
          <a:lstStyle/>
          <a:p>
            <a:r>
              <a:rPr lang="en-US" i="1" dirty="0"/>
              <a:t>E2E User Manual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0571C4-4454-4903-B887-4F29ADE94417}"/>
              </a:ext>
            </a:extLst>
          </p:cNvPr>
          <p:cNvSpPr txBox="1"/>
          <p:nvPr/>
        </p:nvSpPr>
        <p:spPr>
          <a:xfrm>
            <a:off x="380999" y="3611092"/>
            <a:ext cx="1317171" cy="8074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US" sz="7200" noProof="0" dirty="0">
                <a:solidFill>
                  <a:srgbClr val="00FFFF"/>
                </a:solidFill>
              </a:rPr>
              <a:t>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7D953D-22F8-49B0-A6D5-061E018A72AE}"/>
              </a:ext>
            </a:extLst>
          </p:cNvPr>
          <p:cNvSpPr txBox="1"/>
          <p:nvPr/>
        </p:nvSpPr>
        <p:spPr>
          <a:xfrm>
            <a:off x="1785257" y="3735977"/>
            <a:ext cx="2133600" cy="53068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dirty="0">
                <a:solidFill>
                  <a:srgbClr val="00FFFF"/>
                </a:solidFill>
              </a:rPr>
              <a:t>imagined</a:t>
            </a:r>
          </a:p>
          <a:p>
            <a:r>
              <a:rPr lang="en-US" dirty="0">
                <a:solidFill>
                  <a:srgbClr val="00FFFF"/>
                </a:solidFill>
              </a:rPr>
              <a:t>architected</a:t>
            </a:r>
          </a:p>
          <a:p>
            <a:r>
              <a:rPr lang="en-US" dirty="0">
                <a:solidFill>
                  <a:srgbClr val="00FFFF"/>
                </a:solidFill>
              </a:rPr>
              <a:t>engineered</a:t>
            </a:r>
          </a:p>
        </p:txBody>
      </p:sp>
    </p:spTree>
    <p:extLst>
      <p:ext uri="{BB962C8B-B14F-4D97-AF65-F5344CB8AC3E}">
        <p14:creationId xmlns:p14="http://schemas.microsoft.com/office/powerpoint/2010/main" val="2151643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251675E-D96E-4DB8-B239-5A2B408D6D5B}"/>
              </a:ext>
            </a:extLst>
          </p:cNvPr>
          <p:cNvSpPr/>
          <p:nvPr/>
        </p:nvSpPr>
        <p:spPr>
          <a:xfrm>
            <a:off x="221816" y="2437478"/>
            <a:ext cx="2185593" cy="10307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Claimant submitted the claim in the client’s P360</a:t>
            </a:r>
            <a:r>
              <a:rPr lang="en-US" sz="1400" dirty="0">
                <a:solidFill>
                  <a:srgbClr val="000000"/>
                </a:solidFill>
                <a:latin typeface="Graphik"/>
              </a:rPr>
              <a:t> claim system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5FD12AA-A081-4364-B8F2-AECBD6839FB1}"/>
              </a:ext>
            </a:extLst>
          </p:cNvPr>
          <p:cNvGrpSpPr/>
          <p:nvPr/>
        </p:nvGrpSpPr>
        <p:grpSpPr>
          <a:xfrm>
            <a:off x="220447" y="1351145"/>
            <a:ext cx="1179462" cy="1200990"/>
            <a:chOff x="399454" y="3175772"/>
            <a:chExt cx="1179462" cy="1200990"/>
          </a:xfrm>
        </p:grpSpPr>
        <p:pic>
          <p:nvPicPr>
            <p:cNvPr id="14" name="Picture 13">
              <a:hlinkClick r:id="" action="ppaction://noaction"/>
              <a:extLst>
                <a:ext uri="{FF2B5EF4-FFF2-40B4-BE49-F238E27FC236}">
                  <a16:creationId xmlns:a16="http://schemas.microsoft.com/office/drawing/2014/main" id="{4625FEF3-94AB-426F-80E6-BAA1B81F63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9136" b="16675"/>
            <a:stretch/>
          </p:blipFill>
          <p:spPr>
            <a:xfrm>
              <a:off x="498087" y="3296255"/>
              <a:ext cx="1005436" cy="995071"/>
            </a:xfrm>
            <a:prstGeom prst="rect">
              <a:avLst/>
            </a:prstGeom>
          </p:spPr>
        </p:pic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9235275-AD45-4148-BBA8-E044E5DDDE75}"/>
                </a:ext>
              </a:extLst>
            </p:cNvPr>
            <p:cNvSpPr/>
            <p:nvPr/>
          </p:nvSpPr>
          <p:spPr>
            <a:xfrm>
              <a:off x="399454" y="3175772"/>
              <a:ext cx="1179462" cy="1200990"/>
            </a:xfrm>
            <a:prstGeom prst="ellipse">
              <a:avLst/>
            </a:prstGeom>
            <a:noFill/>
            <a:ln w="2540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220186CF-BF8F-4410-80CB-90E4AADFDCD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578360" y="1773588"/>
            <a:ext cx="483816" cy="483814"/>
            <a:chOff x="3438" y="437"/>
            <a:chExt cx="428" cy="428"/>
          </a:xfrm>
          <a:solidFill>
            <a:schemeClr val="accent2"/>
          </a:solidFill>
        </p:grpSpPr>
        <p:sp>
          <p:nvSpPr>
            <p:cNvPr id="67" name="Freeform 34">
              <a:extLst>
                <a:ext uri="{FF2B5EF4-FFF2-40B4-BE49-F238E27FC236}">
                  <a16:creationId xmlns:a16="http://schemas.microsoft.com/office/drawing/2014/main" id="{CFE8AFDD-C1B4-412F-8430-D9A3F8346C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8" y="439"/>
              <a:ext cx="427" cy="426"/>
            </a:xfrm>
            <a:custGeom>
              <a:avLst/>
              <a:gdLst>
                <a:gd name="T0" fmla="*/ 126 w 288"/>
                <a:gd name="T1" fmla="*/ 288 h 288"/>
                <a:gd name="T2" fmla="*/ 120 w 288"/>
                <a:gd name="T3" fmla="*/ 247 h 288"/>
                <a:gd name="T4" fmla="*/ 67 w 288"/>
                <a:gd name="T5" fmla="*/ 262 h 288"/>
                <a:gd name="T6" fmla="*/ 25 w 288"/>
                <a:gd name="T7" fmla="*/ 229 h 288"/>
                <a:gd name="T8" fmla="*/ 25 w 288"/>
                <a:gd name="T9" fmla="*/ 220 h 288"/>
                <a:gd name="T10" fmla="*/ 40 w 288"/>
                <a:gd name="T11" fmla="*/ 168 h 288"/>
                <a:gd name="T12" fmla="*/ 0 w 288"/>
                <a:gd name="T13" fmla="*/ 162 h 288"/>
                <a:gd name="T14" fmla="*/ 6 w 288"/>
                <a:gd name="T15" fmla="*/ 120 h 288"/>
                <a:gd name="T16" fmla="*/ 49 w 288"/>
                <a:gd name="T17" fmla="*/ 92 h 288"/>
                <a:gd name="T18" fmla="*/ 23 w 288"/>
                <a:gd name="T19" fmla="*/ 63 h 288"/>
                <a:gd name="T20" fmla="*/ 59 w 288"/>
                <a:gd name="T21" fmla="*/ 25 h 288"/>
                <a:gd name="T22" fmla="*/ 92 w 288"/>
                <a:gd name="T23" fmla="*/ 49 h 288"/>
                <a:gd name="T24" fmla="*/ 120 w 288"/>
                <a:gd name="T25" fmla="*/ 6 h 288"/>
                <a:gd name="T26" fmla="*/ 162 w 288"/>
                <a:gd name="T27" fmla="*/ 0 h 288"/>
                <a:gd name="T28" fmla="*/ 168 w 288"/>
                <a:gd name="T29" fmla="*/ 40 h 288"/>
                <a:gd name="T30" fmla="*/ 202 w 288"/>
                <a:gd name="T31" fmla="*/ 60 h 288"/>
                <a:gd name="T32" fmla="*/ 160 w 288"/>
                <a:gd name="T33" fmla="*/ 50 h 288"/>
                <a:gd name="T34" fmla="*/ 156 w 288"/>
                <a:gd name="T35" fmla="*/ 12 h 288"/>
                <a:gd name="T36" fmla="*/ 132 w 288"/>
                <a:gd name="T37" fmla="*/ 45 h 288"/>
                <a:gd name="T38" fmla="*/ 94 w 288"/>
                <a:gd name="T39" fmla="*/ 62 h 288"/>
                <a:gd name="T40" fmla="*/ 63 w 288"/>
                <a:gd name="T41" fmla="*/ 38 h 288"/>
                <a:gd name="T42" fmla="*/ 61 w 288"/>
                <a:gd name="T43" fmla="*/ 86 h 288"/>
                <a:gd name="T44" fmla="*/ 51 w 288"/>
                <a:gd name="T45" fmla="*/ 127 h 288"/>
                <a:gd name="T46" fmla="*/ 12 w 288"/>
                <a:gd name="T47" fmla="*/ 132 h 288"/>
                <a:gd name="T48" fmla="*/ 45 w 288"/>
                <a:gd name="T49" fmla="*/ 156 h 288"/>
                <a:gd name="T50" fmla="*/ 62 w 288"/>
                <a:gd name="T51" fmla="*/ 194 h 288"/>
                <a:gd name="T52" fmla="*/ 38 w 288"/>
                <a:gd name="T53" fmla="*/ 224 h 288"/>
                <a:gd name="T54" fmla="*/ 87 w 288"/>
                <a:gd name="T55" fmla="*/ 226 h 288"/>
                <a:gd name="T56" fmla="*/ 127 w 288"/>
                <a:gd name="T57" fmla="*/ 237 h 288"/>
                <a:gd name="T58" fmla="*/ 132 w 288"/>
                <a:gd name="T59" fmla="*/ 276 h 288"/>
                <a:gd name="T60" fmla="*/ 156 w 288"/>
                <a:gd name="T61" fmla="*/ 243 h 288"/>
                <a:gd name="T62" fmla="*/ 194 w 288"/>
                <a:gd name="T63" fmla="*/ 226 h 288"/>
                <a:gd name="T64" fmla="*/ 224 w 288"/>
                <a:gd name="T65" fmla="*/ 250 h 288"/>
                <a:gd name="T66" fmla="*/ 227 w 288"/>
                <a:gd name="T67" fmla="*/ 201 h 288"/>
                <a:gd name="T68" fmla="*/ 237 w 288"/>
                <a:gd name="T69" fmla="*/ 160 h 288"/>
                <a:gd name="T70" fmla="*/ 276 w 288"/>
                <a:gd name="T71" fmla="*/ 156 h 288"/>
                <a:gd name="T72" fmla="*/ 243 w 288"/>
                <a:gd name="T73" fmla="*/ 132 h 288"/>
                <a:gd name="T74" fmla="*/ 231 w 288"/>
                <a:gd name="T75" fmla="*/ 107 h 288"/>
                <a:gd name="T76" fmla="*/ 243 w 288"/>
                <a:gd name="T77" fmla="*/ 103 h 288"/>
                <a:gd name="T78" fmla="*/ 282 w 288"/>
                <a:gd name="T79" fmla="*/ 120 h 288"/>
                <a:gd name="T80" fmla="*/ 288 w 288"/>
                <a:gd name="T81" fmla="*/ 162 h 288"/>
                <a:gd name="T82" fmla="*/ 248 w 288"/>
                <a:gd name="T83" fmla="*/ 168 h 288"/>
                <a:gd name="T84" fmla="*/ 263 w 288"/>
                <a:gd name="T85" fmla="*/ 220 h 288"/>
                <a:gd name="T86" fmla="*/ 229 w 288"/>
                <a:gd name="T87" fmla="*/ 262 h 288"/>
                <a:gd name="T88" fmla="*/ 196 w 288"/>
                <a:gd name="T89" fmla="*/ 238 h 288"/>
                <a:gd name="T90" fmla="*/ 168 w 288"/>
                <a:gd name="T91" fmla="*/ 282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88" h="288">
                  <a:moveTo>
                    <a:pt x="162" y="288"/>
                  </a:moveTo>
                  <a:cubicBezTo>
                    <a:pt x="126" y="288"/>
                    <a:pt x="126" y="288"/>
                    <a:pt x="126" y="288"/>
                  </a:cubicBezTo>
                  <a:cubicBezTo>
                    <a:pt x="123" y="288"/>
                    <a:pt x="120" y="285"/>
                    <a:pt x="120" y="282"/>
                  </a:cubicBezTo>
                  <a:cubicBezTo>
                    <a:pt x="120" y="247"/>
                    <a:pt x="120" y="247"/>
                    <a:pt x="120" y="247"/>
                  </a:cubicBezTo>
                  <a:cubicBezTo>
                    <a:pt x="110" y="245"/>
                    <a:pt x="100" y="242"/>
                    <a:pt x="92" y="238"/>
                  </a:cubicBezTo>
                  <a:cubicBezTo>
                    <a:pt x="67" y="262"/>
                    <a:pt x="67" y="262"/>
                    <a:pt x="67" y="262"/>
                  </a:cubicBezTo>
                  <a:cubicBezTo>
                    <a:pt x="65" y="265"/>
                    <a:pt x="61" y="265"/>
                    <a:pt x="59" y="262"/>
                  </a:cubicBezTo>
                  <a:cubicBezTo>
                    <a:pt x="25" y="229"/>
                    <a:pt x="25" y="229"/>
                    <a:pt x="25" y="229"/>
                  </a:cubicBezTo>
                  <a:cubicBezTo>
                    <a:pt x="24" y="227"/>
                    <a:pt x="23" y="226"/>
                    <a:pt x="23" y="224"/>
                  </a:cubicBezTo>
                  <a:cubicBezTo>
                    <a:pt x="23" y="223"/>
                    <a:pt x="24" y="221"/>
                    <a:pt x="25" y="220"/>
                  </a:cubicBezTo>
                  <a:cubicBezTo>
                    <a:pt x="49" y="196"/>
                    <a:pt x="49" y="196"/>
                    <a:pt x="49" y="196"/>
                  </a:cubicBezTo>
                  <a:cubicBezTo>
                    <a:pt x="46" y="188"/>
                    <a:pt x="43" y="177"/>
                    <a:pt x="40" y="168"/>
                  </a:cubicBezTo>
                  <a:cubicBezTo>
                    <a:pt x="6" y="168"/>
                    <a:pt x="6" y="168"/>
                    <a:pt x="6" y="168"/>
                  </a:cubicBezTo>
                  <a:cubicBezTo>
                    <a:pt x="3" y="168"/>
                    <a:pt x="0" y="165"/>
                    <a:pt x="0" y="162"/>
                  </a:cubicBezTo>
                  <a:cubicBezTo>
                    <a:pt x="0" y="126"/>
                    <a:pt x="0" y="126"/>
                    <a:pt x="0" y="126"/>
                  </a:cubicBezTo>
                  <a:cubicBezTo>
                    <a:pt x="0" y="122"/>
                    <a:pt x="3" y="120"/>
                    <a:pt x="6" y="120"/>
                  </a:cubicBezTo>
                  <a:cubicBezTo>
                    <a:pt x="40" y="120"/>
                    <a:pt x="40" y="120"/>
                    <a:pt x="40" y="120"/>
                  </a:cubicBezTo>
                  <a:cubicBezTo>
                    <a:pt x="43" y="110"/>
                    <a:pt x="46" y="100"/>
                    <a:pt x="49" y="92"/>
                  </a:cubicBezTo>
                  <a:cubicBezTo>
                    <a:pt x="25" y="67"/>
                    <a:pt x="25" y="67"/>
                    <a:pt x="25" y="67"/>
                  </a:cubicBezTo>
                  <a:cubicBezTo>
                    <a:pt x="24" y="66"/>
                    <a:pt x="23" y="65"/>
                    <a:pt x="23" y="63"/>
                  </a:cubicBezTo>
                  <a:cubicBezTo>
                    <a:pt x="23" y="61"/>
                    <a:pt x="24" y="60"/>
                    <a:pt x="25" y="59"/>
                  </a:cubicBezTo>
                  <a:cubicBezTo>
                    <a:pt x="59" y="25"/>
                    <a:pt x="59" y="25"/>
                    <a:pt x="59" y="25"/>
                  </a:cubicBezTo>
                  <a:cubicBezTo>
                    <a:pt x="61" y="23"/>
                    <a:pt x="65" y="23"/>
                    <a:pt x="67" y="25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100" y="45"/>
                    <a:pt x="110" y="42"/>
                    <a:pt x="120" y="40"/>
                  </a:cubicBezTo>
                  <a:cubicBezTo>
                    <a:pt x="120" y="6"/>
                    <a:pt x="120" y="6"/>
                    <a:pt x="120" y="6"/>
                  </a:cubicBezTo>
                  <a:cubicBezTo>
                    <a:pt x="120" y="2"/>
                    <a:pt x="123" y="0"/>
                    <a:pt x="126" y="0"/>
                  </a:cubicBezTo>
                  <a:cubicBezTo>
                    <a:pt x="162" y="0"/>
                    <a:pt x="162" y="0"/>
                    <a:pt x="162" y="0"/>
                  </a:cubicBezTo>
                  <a:cubicBezTo>
                    <a:pt x="165" y="0"/>
                    <a:pt x="168" y="2"/>
                    <a:pt x="168" y="6"/>
                  </a:cubicBezTo>
                  <a:cubicBezTo>
                    <a:pt x="168" y="40"/>
                    <a:pt x="168" y="40"/>
                    <a:pt x="168" y="40"/>
                  </a:cubicBezTo>
                  <a:cubicBezTo>
                    <a:pt x="179" y="43"/>
                    <a:pt x="192" y="47"/>
                    <a:pt x="200" y="52"/>
                  </a:cubicBezTo>
                  <a:cubicBezTo>
                    <a:pt x="203" y="53"/>
                    <a:pt x="204" y="57"/>
                    <a:pt x="202" y="60"/>
                  </a:cubicBezTo>
                  <a:cubicBezTo>
                    <a:pt x="200" y="63"/>
                    <a:pt x="197" y="63"/>
                    <a:pt x="194" y="62"/>
                  </a:cubicBezTo>
                  <a:cubicBezTo>
                    <a:pt x="186" y="57"/>
                    <a:pt x="171" y="53"/>
                    <a:pt x="160" y="50"/>
                  </a:cubicBezTo>
                  <a:cubicBezTo>
                    <a:pt x="158" y="50"/>
                    <a:pt x="156" y="47"/>
                    <a:pt x="156" y="45"/>
                  </a:cubicBezTo>
                  <a:cubicBezTo>
                    <a:pt x="156" y="12"/>
                    <a:pt x="156" y="12"/>
                    <a:pt x="156" y="12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7"/>
                    <a:pt x="130" y="50"/>
                    <a:pt x="127" y="50"/>
                  </a:cubicBezTo>
                  <a:cubicBezTo>
                    <a:pt x="117" y="53"/>
                    <a:pt x="102" y="57"/>
                    <a:pt x="94" y="62"/>
                  </a:cubicBezTo>
                  <a:cubicBezTo>
                    <a:pt x="92" y="63"/>
                    <a:pt x="89" y="63"/>
                    <a:pt x="87" y="61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61" y="86"/>
                    <a:pt x="61" y="86"/>
                    <a:pt x="61" y="86"/>
                  </a:cubicBezTo>
                  <a:cubicBezTo>
                    <a:pt x="63" y="88"/>
                    <a:pt x="63" y="91"/>
                    <a:pt x="62" y="94"/>
                  </a:cubicBezTo>
                  <a:cubicBezTo>
                    <a:pt x="57" y="103"/>
                    <a:pt x="52" y="120"/>
                    <a:pt x="51" y="127"/>
                  </a:cubicBezTo>
                  <a:cubicBezTo>
                    <a:pt x="50" y="130"/>
                    <a:pt x="48" y="132"/>
                    <a:pt x="45" y="132"/>
                  </a:cubicBezTo>
                  <a:cubicBezTo>
                    <a:pt x="12" y="132"/>
                    <a:pt x="12" y="132"/>
                    <a:pt x="12" y="132"/>
                  </a:cubicBezTo>
                  <a:cubicBezTo>
                    <a:pt x="12" y="156"/>
                    <a:pt x="12" y="156"/>
                    <a:pt x="12" y="156"/>
                  </a:cubicBezTo>
                  <a:cubicBezTo>
                    <a:pt x="45" y="156"/>
                    <a:pt x="45" y="156"/>
                    <a:pt x="45" y="156"/>
                  </a:cubicBezTo>
                  <a:cubicBezTo>
                    <a:pt x="48" y="156"/>
                    <a:pt x="50" y="158"/>
                    <a:pt x="51" y="160"/>
                  </a:cubicBezTo>
                  <a:cubicBezTo>
                    <a:pt x="52" y="167"/>
                    <a:pt x="57" y="185"/>
                    <a:pt x="62" y="194"/>
                  </a:cubicBezTo>
                  <a:cubicBezTo>
                    <a:pt x="63" y="196"/>
                    <a:pt x="63" y="199"/>
                    <a:pt x="61" y="201"/>
                  </a:cubicBezTo>
                  <a:cubicBezTo>
                    <a:pt x="38" y="224"/>
                    <a:pt x="38" y="224"/>
                    <a:pt x="38" y="224"/>
                  </a:cubicBezTo>
                  <a:cubicBezTo>
                    <a:pt x="63" y="250"/>
                    <a:pt x="63" y="250"/>
                    <a:pt x="63" y="250"/>
                  </a:cubicBezTo>
                  <a:cubicBezTo>
                    <a:pt x="87" y="226"/>
                    <a:pt x="87" y="226"/>
                    <a:pt x="87" y="226"/>
                  </a:cubicBezTo>
                  <a:cubicBezTo>
                    <a:pt x="88" y="224"/>
                    <a:pt x="92" y="224"/>
                    <a:pt x="94" y="226"/>
                  </a:cubicBezTo>
                  <a:cubicBezTo>
                    <a:pt x="103" y="231"/>
                    <a:pt x="121" y="235"/>
                    <a:pt x="127" y="237"/>
                  </a:cubicBezTo>
                  <a:cubicBezTo>
                    <a:pt x="130" y="238"/>
                    <a:pt x="132" y="240"/>
                    <a:pt x="132" y="243"/>
                  </a:cubicBezTo>
                  <a:cubicBezTo>
                    <a:pt x="132" y="276"/>
                    <a:pt x="132" y="276"/>
                    <a:pt x="132" y="276"/>
                  </a:cubicBezTo>
                  <a:cubicBezTo>
                    <a:pt x="156" y="276"/>
                    <a:pt x="156" y="276"/>
                    <a:pt x="156" y="276"/>
                  </a:cubicBezTo>
                  <a:cubicBezTo>
                    <a:pt x="156" y="243"/>
                    <a:pt x="156" y="243"/>
                    <a:pt x="156" y="243"/>
                  </a:cubicBezTo>
                  <a:cubicBezTo>
                    <a:pt x="156" y="240"/>
                    <a:pt x="158" y="238"/>
                    <a:pt x="160" y="237"/>
                  </a:cubicBezTo>
                  <a:cubicBezTo>
                    <a:pt x="167" y="235"/>
                    <a:pt x="185" y="231"/>
                    <a:pt x="194" y="226"/>
                  </a:cubicBezTo>
                  <a:cubicBezTo>
                    <a:pt x="196" y="224"/>
                    <a:pt x="199" y="224"/>
                    <a:pt x="201" y="226"/>
                  </a:cubicBezTo>
                  <a:cubicBezTo>
                    <a:pt x="224" y="250"/>
                    <a:pt x="224" y="250"/>
                    <a:pt x="224" y="250"/>
                  </a:cubicBezTo>
                  <a:cubicBezTo>
                    <a:pt x="250" y="224"/>
                    <a:pt x="250" y="224"/>
                    <a:pt x="250" y="224"/>
                  </a:cubicBezTo>
                  <a:cubicBezTo>
                    <a:pt x="227" y="201"/>
                    <a:pt x="227" y="201"/>
                    <a:pt x="227" y="201"/>
                  </a:cubicBezTo>
                  <a:cubicBezTo>
                    <a:pt x="225" y="199"/>
                    <a:pt x="224" y="196"/>
                    <a:pt x="226" y="194"/>
                  </a:cubicBezTo>
                  <a:cubicBezTo>
                    <a:pt x="231" y="185"/>
                    <a:pt x="235" y="167"/>
                    <a:pt x="237" y="160"/>
                  </a:cubicBezTo>
                  <a:cubicBezTo>
                    <a:pt x="238" y="158"/>
                    <a:pt x="240" y="156"/>
                    <a:pt x="243" y="156"/>
                  </a:cubicBezTo>
                  <a:cubicBezTo>
                    <a:pt x="276" y="156"/>
                    <a:pt x="276" y="156"/>
                    <a:pt x="276" y="156"/>
                  </a:cubicBezTo>
                  <a:cubicBezTo>
                    <a:pt x="276" y="132"/>
                    <a:pt x="276" y="132"/>
                    <a:pt x="276" y="132"/>
                  </a:cubicBezTo>
                  <a:cubicBezTo>
                    <a:pt x="243" y="132"/>
                    <a:pt x="243" y="132"/>
                    <a:pt x="243" y="132"/>
                  </a:cubicBezTo>
                  <a:cubicBezTo>
                    <a:pt x="240" y="132"/>
                    <a:pt x="238" y="130"/>
                    <a:pt x="237" y="127"/>
                  </a:cubicBezTo>
                  <a:cubicBezTo>
                    <a:pt x="236" y="121"/>
                    <a:pt x="234" y="114"/>
                    <a:pt x="231" y="107"/>
                  </a:cubicBezTo>
                  <a:cubicBezTo>
                    <a:pt x="230" y="103"/>
                    <a:pt x="232" y="100"/>
                    <a:pt x="235" y="99"/>
                  </a:cubicBezTo>
                  <a:cubicBezTo>
                    <a:pt x="238" y="98"/>
                    <a:pt x="242" y="100"/>
                    <a:pt x="243" y="103"/>
                  </a:cubicBezTo>
                  <a:cubicBezTo>
                    <a:pt x="245" y="108"/>
                    <a:pt x="246" y="114"/>
                    <a:pt x="248" y="120"/>
                  </a:cubicBezTo>
                  <a:cubicBezTo>
                    <a:pt x="282" y="120"/>
                    <a:pt x="282" y="120"/>
                    <a:pt x="282" y="120"/>
                  </a:cubicBezTo>
                  <a:cubicBezTo>
                    <a:pt x="285" y="120"/>
                    <a:pt x="288" y="122"/>
                    <a:pt x="288" y="126"/>
                  </a:cubicBezTo>
                  <a:cubicBezTo>
                    <a:pt x="288" y="162"/>
                    <a:pt x="288" y="162"/>
                    <a:pt x="288" y="162"/>
                  </a:cubicBezTo>
                  <a:cubicBezTo>
                    <a:pt x="288" y="165"/>
                    <a:pt x="285" y="168"/>
                    <a:pt x="282" y="168"/>
                  </a:cubicBezTo>
                  <a:cubicBezTo>
                    <a:pt x="248" y="168"/>
                    <a:pt x="248" y="168"/>
                    <a:pt x="248" y="168"/>
                  </a:cubicBezTo>
                  <a:cubicBezTo>
                    <a:pt x="245" y="177"/>
                    <a:pt x="242" y="188"/>
                    <a:pt x="238" y="196"/>
                  </a:cubicBezTo>
                  <a:cubicBezTo>
                    <a:pt x="263" y="220"/>
                    <a:pt x="263" y="220"/>
                    <a:pt x="263" y="220"/>
                  </a:cubicBezTo>
                  <a:cubicBezTo>
                    <a:pt x="265" y="222"/>
                    <a:pt x="265" y="226"/>
                    <a:pt x="263" y="229"/>
                  </a:cubicBezTo>
                  <a:cubicBezTo>
                    <a:pt x="229" y="262"/>
                    <a:pt x="229" y="262"/>
                    <a:pt x="229" y="262"/>
                  </a:cubicBezTo>
                  <a:cubicBezTo>
                    <a:pt x="226" y="265"/>
                    <a:pt x="223" y="265"/>
                    <a:pt x="220" y="262"/>
                  </a:cubicBezTo>
                  <a:cubicBezTo>
                    <a:pt x="196" y="238"/>
                    <a:pt x="196" y="238"/>
                    <a:pt x="196" y="238"/>
                  </a:cubicBezTo>
                  <a:cubicBezTo>
                    <a:pt x="188" y="242"/>
                    <a:pt x="177" y="245"/>
                    <a:pt x="168" y="247"/>
                  </a:cubicBezTo>
                  <a:cubicBezTo>
                    <a:pt x="168" y="282"/>
                    <a:pt x="168" y="282"/>
                    <a:pt x="168" y="282"/>
                  </a:cubicBezTo>
                  <a:cubicBezTo>
                    <a:pt x="168" y="285"/>
                    <a:pt x="165" y="288"/>
                    <a:pt x="162" y="2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68" name="Freeform 35">
              <a:extLst>
                <a:ext uri="{FF2B5EF4-FFF2-40B4-BE49-F238E27FC236}">
                  <a16:creationId xmlns:a16="http://schemas.microsoft.com/office/drawing/2014/main" id="{A7E965EB-69E2-4B73-9A76-05F8077F3B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7" y="437"/>
              <a:ext cx="299" cy="265"/>
            </a:xfrm>
            <a:custGeom>
              <a:avLst/>
              <a:gdLst>
                <a:gd name="T0" fmla="*/ 61 w 202"/>
                <a:gd name="T1" fmla="*/ 179 h 179"/>
                <a:gd name="T2" fmla="*/ 56 w 202"/>
                <a:gd name="T3" fmla="*/ 177 h 179"/>
                <a:gd name="T4" fmla="*/ 3 w 202"/>
                <a:gd name="T5" fmla="*/ 124 h 179"/>
                <a:gd name="T6" fmla="*/ 3 w 202"/>
                <a:gd name="T7" fmla="*/ 115 h 179"/>
                <a:gd name="T8" fmla="*/ 11 w 202"/>
                <a:gd name="T9" fmla="*/ 115 h 179"/>
                <a:gd name="T10" fmla="*/ 60 w 202"/>
                <a:gd name="T11" fmla="*/ 164 h 179"/>
                <a:gd name="T12" fmla="*/ 190 w 202"/>
                <a:gd name="T13" fmla="*/ 3 h 179"/>
                <a:gd name="T14" fmla="*/ 199 w 202"/>
                <a:gd name="T15" fmla="*/ 2 h 179"/>
                <a:gd name="T16" fmla="*/ 200 w 202"/>
                <a:gd name="T17" fmla="*/ 10 h 179"/>
                <a:gd name="T18" fmla="*/ 65 w 202"/>
                <a:gd name="T19" fmla="*/ 177 h 179"/>
                <a:gd name="T20" fmla="*/ 61 w 202"/>
                <a:gd name="T21" fmla="*/ 179 h 179"/>
                <a:gd name="T22" fmla="*/ 61 w 202"/>
                <a:gd name="T23" fmla="*/ 179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2" h="179">
                  <a:moveTo>
                    <a:pt x="61" y="179"/>
                  </a:moveTo>
                  <a:cubicBezTo>
                    <a:pt x="59" y="179"/>
                    <a:pt x="57" y="179"/>
                    <a:pt x="56" y="177"/>
                  </a:cubicBezTo>
                  <a:cubicBezTo>
                    <a:pt x="3" y="124"/>
                    <a:pt x="3" y="124"/>
                    <a:pt x="3" y="124"/>
                  </a:cubicBezTo>
                  <a:cubicBezTo>
                    <a:pt x="0" y="121"/>
                    <a:pt x="0" y="118"/>
                    <a:pt x="3" y="115"/>
                  </a:cubicBezTo>
                  <a:cubicBezTo>
                    <a:pt x="5" y="113"/>
                    <a:pt x="9" y="113"/>
                    <a:pt x="11" y="115"/>
                  </a:cubicBezTo>
                  <a:cubicBezTo>
                    <a:pt x="60" y="164"/>
                    <a:pt x="60" y="164"/>
                    <a:pt x="60" y="164"/>
                  </a:cubicBezTo>
                  <a:cubicBezTo>
                    <a:pt x="190" y="3"/>
                    <a:pt x="190" y="3"/>
                    <a:pt x="190" y="3"/>
                  </a:cubicBezTo>
                  <a:cubicBezTo>
                    <a:pt x="192" y="0"/>
                    <a:pt x="196" y="0"/>
                    <a:pt x="199" y="2"/>
                  </a:cubicBezTo>
                  <a:cubicBezTo>
                    <a:pt x="201" y="4"/>
                    <a:pt x="202" y="8"/>
                    <a:pt x="200" y="10"/>
                  </a:cubicBezTo>
                  <a:cubicBezTo>
                    <a:pt x="65" y="177"/>
                    <a:pt x="65" y="177"/>
                    <a:pt x="65" y="177"/>
                  </a:cubicBezTo>
                  <a:cubicBezTo>
                    <a:pt x="64" y="178"/>
                    <a:pt x="63" y="179"/>
                    <a:pt x="61" y="179"/>
                  </a:cubicBezTo>
                  <a:cubicBezTo>
                    <a:pt x="61" y="179"/>
                    <a:pt x="61" y="179"/>
                    <a:pt x="61" y="17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</p:grp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F96CF3E-FF67-FA46-9B7E-3E150115431B}"/>
              </a:ext>
            </a:extLst>
          </p:cNvPr>
          <p:cNvCxnSpPr>
            <a:cxnSpLocks/>
          </p:cNvCxnSpPr>
          <p:nvPr/>
        </p:nvCxnSpPr>
        <p:spPr>
          <a:xfrm>
            <a:off x="1302115" y="3334850"/>
            <a:ext cx="1214573" cy="1571415"/>
          </a:xfrm>
          <a:prstGeom prst="line">
            <a:avLst/>
          </a:prstGeom>
          <a:ln w="28575">
            <a:solidFill>
              <a:srgbClr val="7500C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E06C14B-0B3D-16FB-9778-CC71F8A160E5}"/>
              </a:ext>
            </a:extLst>
          </p:cNvPr>
          <p:cNvCxnSpPr>
            <a:cxnSpLocks/>
          </p:cNvCxnSpPr>
          <p:nvPr/>
        </p:nvCxnSpPr>
        <p:spPr>
          <a:xfrm flipV="1">
            <a:off x="2526433" y="3241964"/>
            <a:ext cx="1459842" cy="1677527"/>
          </a:xfrm>
          <a:prstGeom prst="line">
            <a:avLst/>
          </a:prstGeom>
          <a:ln w="28575">
            <a:solidFill>
              <a:srgbClr val="7500C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BB66A8E3-E980-C928-B3AC-DDABD620E4B6}"/>
              </a:ext>
            </a:extLst>
          </p:cNvPr>
          <p:cNvSpPr/>
          <p:nvPr/>
        </p:nvSpPr>
        <p:spPr>
          <a:xfrm>
            <a:off x="1109748" y="4857538"/>
            <a:ext cx="2802041" cy="12414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1400" dirty="0">
                <a:solidFill>
                  <a:srgbClr val="000000"/>
                </a:solidFill>
              </a:rPr>
              <a:t>RPA BOTs scans and automatically ingest VB Claims with submitted claim information &amp; documents</a:t>
            </a:r>
          </a:p>
        </p:txBody>
      </p:sp>
      <p:sp>
        <p:nvSpPr>
          <p:cNvPr id="5" name="Freeform 34">
            <a:extLst>
              <a:ext uri="{FF2B5EF4-FFF2-40B4-BE49-F238E27FC236}">
                <a16:creationId xmlns:a16="http://schemas.microsoft.com/office/drawing/2014/main" id="{EF2A5DED-4284-9910-FAF1-82FDEB89A5EC}"/>
              </a:ext>
            </a:extLst>
          </p:cNvPr>
          <p:cNvSpPr>
            <a:spLocks/>
          </p:cNvSpPr>
          <p:nvPr/>
        </p:nvSpPr>
        <p:spPr bwMode="auto">
          <a:xfrm>
            <a:off x="2261586" y="6071102"/>
            <a:ext cx="482686" cy="481553"/>
          </a:xfrm>
          <a:custGeom>
            <a:avLst/>
            <a:gdLst>
              <a:gd name="T0" fmla="*/ 126 w 288"/>
              <a:gd name="T1" fmla="*/ 288 h 288"/>
              <a:gd name="T2" fmla="*/ 120 w 288"/>
              <a:gd name="T3" fmla="*/ 247 h 288"/>
              <a:gd name="T4" fmla="*/ 67 w 288"/>
              <a:gd name="T5" fmla="*/ 262 h 288"/>
              <a:gd name="T6" fmla="*/ 25 w 288"/>
              <a:gd name="T7" fmla="*/ 229 h 288"/>
              <a:gd name="T8" fmla="*/ 25 w 288"/>
              <a:gd name="T9" fmla="*/ 220 h 288"/>
              <a:gd name="T10" fmla="*/ 40 w 288"/>
              <a:gd name="T11" fmla="*/ 168 h 288"/>
              <a:gd name="T12" fmla="*/ 0 w 288"/>
              <a:gd name="T13" fmla="*/ 162 h 288"/>
              <a:gd name="T14" fmla="*/ 6 w 288"/>
              <a:gd name="T15" fmla="*/ 120 h 288"/>
              <a:gd name="T16" fmla="*/ 49 w 288"/>
              <a:gd name="T17" fmla="*/ 92 h 288"/>
              <a:gd name="T18" fmla="*/ 23 w 288"/>
              <a:gd name="T19" fmla="*/ 63 h 288"/>
              <a:gd name="T20" fmla="*/ 59 w 288"/>
              <a:gd name="T21" fmla="*/ 25 h 288"/>
              <a:gd name="T22" fmla="*/ 92 w 288"/>
              <a:gd name="T23" fmla="*/ 49 h 288"/>
              <a:gd name="T24" fmla="*/ 120 w 288"/>
              <a:gd name="T25" fmla="*/ 6 h 288"/>
              <a:gd name="T26" fmla="*/ 162 w 288"/>
              <a:gd name="T27" fmla="*/ 0 h 288"/>
              <a:gd name="T28" fmla="*/ 168 w 288"/>
              <a:gd name="T29" fmla="*/ 40 h 288"/>
              <a:gd name="T30" fmla="*/ 202 w 288"/>
              <a:gd name="T31" fmla="*/ 60 h 288"/>
              <a:gd name="T32" fmla="*/ 160 w 288"/>
              <a:gd name="T33" fmla="*/ 50 h 288"/>
              <a:gd name="T34" fmla="*/ 156 w 288"/>
              <a:gd name="T35" fmla="*/ 12 h 288"/>
              <a:gd name="T36" fmla="*/ 132 w 288"/>
              <a:gd name="T37" fmla="*/ 45 h 288"/>
              <a:gd name="T38" fmla="*/ 94 w 288"/>
              <a:gd name="T39" fmla="*/ 62 h 288"/>
              <a:gd name="T40" fmla="*/ 63 w 288"/>
              <a:gd name="T41" fmla="*/ 38 h 288"/>
              <a:gd name="T42" fmla="*/ 61 w 288"/>
              <a:gd name="T43" fmla="*/ 86 h 288"/>
              <a:gd name="T44" fmla="*/ 51 w 288"/>
              <a:gd name="T45" fmla="*/ 127 h 288"/>
              <a:gd name="T46" fmla="*/ 12 w 288"/>
              <a:gd name="T47" fmla="*/ 132 h 288"/>
              <a:gd name="T48" fmla="*/ 45 w 288"/>
              <a:gd name="T49" fmla="*/ 156 h 288"/>
              <a:gd name="T50" fmla="*/ 62 w 288"/>
              <a:gd name="T51" fmla="*/ 194 h 288"/>
              <a:gd name="T52" fmla="*/ 38 w 288"/>
              <a:gd name="T53" fmla="*/ 224 h 288"/>
              <a:gd name="T54" fmla="*/ 87 w 288"/>
              <a:gd name="T55" fmla="*/ 226 h 288"/>
              <a:gd name="T56" fmla="*/ 127 w 288"/>
              <a:gd name="T57" fmla="*/ 237 h 288"/>
              <a:gd name="T58" fmla="*/ 132 w 288"/>
              <a:gd name="T59" fmla="*/ 276 h 288"/>
              <a:gd name="T60" fmla="*/ 156 w 288"/>
              <a:gd name="T61" fmla="*/ 243 h 288"/>
              <a:gd name="T62" fmla="*/ 194 w 288"/>
              <a:gd name="T63" fmla="*/ 226 h 288"/>
              <a:gd name="T64" fmla="*/ 224 w 288"/>
              <a:gd name="T65" fmla="*/ 250 h 288"/>
              <a:gd name="T66" fmla="*/ 227 w 288"/>
              <a:gd name="T67" fmla="*/ 201 h 288"/>
              <a:gd name="T68" fmla="*/ 237 w 288"/>
              <a:gd name="T69" fmla="*/ 160 h 288"/>
              <a:gd name="T70" fmla="*/ 276 w 288"/>
              <a:gd name="T71" fmla="*/ 156 h 288"/>
              <a:gd name="T72" fmla="*/ 243 w 288"/>
              <a:gd name="T73" fmla="*/ 132 h 288"/>
              <a:gd name="T74" fmla="*/ 231 w 288"/>
              <a:gd name="T75" fmla="*/ 107 h 288"/>
              <a:gd name="T76" fmla="*/ 243 w 288"/>
              <a:gd name="T77" fmla="*/ 103 h 288"/>
              <a:gd name="T78" fmla="*/ 282 w 288"/>
              <a:gd name="T79" fmla="*/ 120 h 288"/>
              <a:gd name="T80" fmla="*/ 288 w 288"/>
              <a:gd name="T81" fmla="*/ 162 h 288"/>
              <a:gd name="T82" fmla="*/ 248 w 288"/>
              <a:gd name="T83" fmla="*/ 168 h 288"/>
              <a:gd name="T84" fmla="*/ 263 w 288"/>
              <a:gd name="T85" fmla="*/ 220 h 288"/>
              <a:gd name="T86" fmla="*/ 229 w 288"/>
              <a:gd name="T87" fmla="*/ 262 h 288"/>
              <a:gd name="T88" fmla="*/ 196 w 288"/>
              <a:gd name="T89" fmla="*/ 238 h 288"/>
              <a:gd name="T90" fmla="*/ 168 w 288"/>
              <a:gd name="T91" fmla="*/ 282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88" h="288">
                <a:moveTo>
                  <a:pt x="162" y="288"/>
                </a:moveTo>
                <a:cubicBezTo>
                  <a:pt x="126" y="288"/>
                  <a:pt x="126" y="288"/>
                  <a:pt x="126" y="288"/>
                </a:cubicBezTo>
                <a:cubicBezTo>
                  <a:pt x="123" y="288"/>
                  <a:pt x="120" y="285"/>
                  <a:pt x="120" y="282"/>
                </a:cubicBezTo>
                <a:cubicBezTo>
                  <a:pt x="120" y="247"/>
                  <a:pt x="120" y="247"/>
                  <a:pt x="120" y="247"/>
                </a:cubicBezTo>
                <a:cubicBezTo>
                  <a:pt x="110" y="245"/>
                  <a:pt x="100" y="242"/>
                  <a:pt x="92" y="238"/>
                </a:cubicBezTo>
                <a:cubicBezTo>
                  <a:pt x="67" y="262"/>
                  <a:pt x="67" y="262"/>
                  <a:pt x="67" y="262"/>
                </a:cubicBezTo>
                <a:cubicBezTo>
                  <a:pt x="65" y="265"/>
                  <a:pt x="61" y="265"/>
                  <a:pt x="59" y="262"/>
                </a:cubicBezTo>
                <a:cubicBezTo>
                  <a:pt x="25" y="229"/>
                  <a:pt x="25" y="229"/>
                  <a:pt x="25" y="229"/>
                </a:cubicBezTo>
                <a:cubicBezTo>
                  <a:pt x="24" y="227"/>
                  <a:pt x="23" y="226"/>
                  <a:pt x="23" y="224"/>
                </a:cubicBezTo>
                <a:cubicBezTo>
                  <a:pt x="23" y="223"/>
                  <a:pt x="24" y="221"/>
                  <a:pt x="25" y="220"/>
                </a:cubicBezTo>
                <a:cubicBezTo>
                  <a:pt x="49" y="196"/>
                  <a:pt x="49" y="196"/>
                  <a:pt x="49" y="196"/>
                </a:cubicBezTo>
                <a:cubicBezTo>
                  <a:pt x="46" y="188"/>
                  <a:pt x="43" y="177"/>
                  <a:pt x="40" y="168"/>
                </a:cubicBezTo>
                <a:cubicBezTo>
                  <a:pt x="6" y="168"/>
                  <a:pt x="6" y="168"/>
                  <a:pt x="6" y="168"/>
                </a:cubicBezTo>
                <a:cubicBezTo>
                  <a:pt x="3" y="168"/>
                  <a:pt x="0" y="165"/>
                  <a:pt x="0" y="162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22"/>
                  <a:pt x="3" y="120"/>
                  <a:pt x="6" y="120"/>
                </a:cubicBezTo>
                <a:cubicBezTo>
                  <a:pt x="40" y="120"/>
                  <a:pt x="40" y="120"/>
                  <a:pt x="40" y="120"/>
                </a:cubicBezTo>
                <a:cubicBezTo>
                  <a:pt x="43" y="110"/>
                  <a:pt x="46" y="100"/>
                  <a:pt x="49" y="92"/>
                </a:cubicBezTo>
                <a:cubicBezTo>
                  <a:pt x="25" y="67"/>
                  <a:pt x="25" y="67"/>
                  <a:pt x="25" y="67"/>
                </a:cubicBezTo>
                <a:cubicBezTo>
                  <a:pt x="24" y="66"/>
                  <a:pt x="23" y="65"/>
                  <a:pt x="23" y="63"/>
                </a:cubicBezTo>
                <a:cubicBezTo>
                  <a:pt x="23" y="61"/>
                  <a:pt x="24" y="60"/>
                  <a:pt x="25" y="59"/>
                </a:cubicBezTo>
                <a:cubicBezTo>
                  <a:pt x="59" y="25"/>
                  <a:pt x="59" y="25"/>
                  <a:pt x="59" y="25"/>
                </a:cubicBezTo>
                <a:cubicBezTo>
                  <a:pt x="61" y="23"/>
                  <a:pt x="65" y="23"/>
                  <a:pt x="67" y="25"/>
                </a:cubicBezTo>
                <a:cubicBezTo>
                  <a:pt x="92" y="49"/>
                  <a:pt x="92" y="49"/>
                  <a:pt x="92" y="49"/>
                </a:cubicBezTo>
                <a:cubicBezTo>
                  <a:pt x="100" y="45"/>
                  <a:pt x="110" y="42"/>
                  <a:pt x="120" y="40"/>
                </a:cubicBezTo>
                <a:cubicBezTo>
                  <a:pt x="120" y="6"/>
                  <a:pt x="120" y="6"/>
                  <a:pt x="120" y="6"/>
                </a:cubicBezTo>
                <a:cubicBezTo>
                  <a:pt x="120" y="2"/>
                  <a:pt x="123" y="0"/>
                  <a:pt x="126" y="0"/>
                </a:cubicBezTo>
                <a:cubicBezTo>
                  <a:pt x="162" y="0"/>
                  <a:pt x="162" y="0"/>
                  <a:pt x="162" y="0"/>
                </a:cubicBezTo>
                <a:cubicBezTo>
                  <a:pt x="165" y="0"/>
                  <a:pt x="168" y="2"/>
                  <a:pt x="168" y="6"/>
                </a:cubicBezTo>
                <a:cubicBezTo>
                  <a:pt x="168" y="40"/>
                  <a:pt x="168" y="40"/>
                  <a:pt x="168" y="40"/>
                </a:cubicBezTo>
                <a:cubicBezTo>
                  <a:pt x="179" y="43"/>
                  <a:pt x="192" y="47"/>
                  <a:pt x="200" y="52"/>
                </a:cubicBezTo>
                <a:cubicBezTo>
                  <a:pt x="203" y="53"/>
                  <a:pt x="204" y="57"/>
                  <a:pt x="202" y="60"/>
                </a:cubicBezTo>
                <a:cubicBezTo>
                  <a:pt x="200" y="63"/>
                  <a:pt x="197" y="63"/>
                  <a:pt x="194" y="62"/>
                </a:cubicBezTo>
                <a:cubicBezTo>
                  <a:pt x="186" y="57"/>
                  <a:pt x="171" y="53"/>
                  <a:pt x="160" y="50"/>
                </a:cubicBezTo>
                <a:cubicBezTo>
                  <a:pt x="158" y="50"/>
                  <a:pt x="156" y="47"/>
                  <a:pt x="156" y="45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32" y="12"/>
                  <a:pt x="132" y="12"/>
                  <a:pt x="132" y="12"/>
                </a:cubicBezTo>
                <a:cubicBezTo>
                  <a:pt x="132" y="45"/>
                  <a:pt x="132" y="45"/>
                  <a:pt x="132" y="45"/>
                </a:cubicBezTo>
                <a:cubicBezTo>
                  <a:pt x="132" y="47"/>
                  <a:pt x="130" y="50"/>
                  <a:pt x="127" y="50"/>
                </a:cubicBezTo>
                <a:cubicBezTo>
                  <a:pt x="117" y="53"/>
                  <a:pt x="102" y="57"/>
                  <a:pt x="94" y="62"/>
                </a:cubicBezTo>
                <a:cubicBezTo>
                  <a:pt x="92" y="63"/>
                  <a:pt x="89" y="63"/>
                  <a:pt x="87" y="61"/>
                </a:cubicBezTo>
                <a:cubicBezTo>
                  <a:pt x="63" y="38"/>
                  <a:pt x="63" y="38"/>
                  <a:pt x="63" y="38"/>
                </a:cubicBezTo>
                <a:cubicBezTo>
                  <a:pt x="38" y="63"/>
                  <a:pt x="38" y="63"/>
                  <a:pt x="38" y="63"/>
                </a:cubicBezTo>
                <a:cubicBezTo>
                  <a:pt x="61" y="86"/>
                  <a:pt x="61" y="86"/>
                  <a:pt x="61" y="86"/>
                </a:cubicBezTo>
                <a:cubicBezTo>
                  <a:pt x="63" y="88"/>
                  <a:pt x="63" y="91"/>
                  <a:pt x="62" y="94"/>
                </a:cubicBezTo>
                <a:cubicBezTo>
                  <a:pt x="57" y="103"/>
                  <a:pt x="52" y="120"/>
                  <a:pt x="51" y="127"/>
                </a:cubicBezTo>
                <a:cubicBezTo>
                  <a:pt x="50" y="130"/>
                  <a:pt x="48" y="132"/>
                  <a:pt x="45" y="132"/>
                </a:cubicBezTo>
                <a:cubicBezTo>
                  <a:pt x="12" y="132"/>
                  <a:pt x="12" y="132"/>
                  <a:pt x="12" y="132"/>
                </a:cubicBezTo>
                <a:cubicBezTo>
                  <a:pt x="12" y="156"/>
                  <a:pt x="12" y="156"/>
                  <a:pt x="12" y="156"/>
                </a:cubicBezTo>
                <a:cubicBezTo>
                  <a:pt x="45" y="156"/>
                  <a:pt x="45" y="156"/>
                  <a:pt x="45" y="156"/>
                </a:cubicBezTo>
                <a:cubicBezTo>
                  <a:pt x="48" y="156"/>
                  <a:pt x="50" y="158"/>
                  <a:pt x="51" y="160"/>
                </a:cubicBezTo>
                <a:cubicBezTo>
                  <a:pt x="52" y="167"/>
                  <a:pt x="57" y="185"/>
                  <a:pt x="62" y="194"/>
                </a:cubicBezTo>
                <a:cubicBezTo>
                  <a:pt x="63" y="196"/>
                  <a:pt x="63" y="199"/>
                  <a:pt x="61" y="201"/>
                </a:cubicBezTo>
                <a:cubicBezTo>
                  <a:pt x="38" y="224"/>
                  <a:pt x="38" y="224"/>
                  <a:pt x="38" y="224"/>
                </a:cubicBezTo>
                <a:cubicBezTo>
                  <a:pt x="63" y="250"/>
                  <a:pt x="63" y="250"/>
                  <a:pt x="63" y="250"/>
                </a:cubicBezTo>
                <a:cubicBezTo>
                  <a:pt x="87" y="226"/>
                  <a:pt x="87" y="226"/>
                  <a:pt x="87" y="226"/>
                </a:cubicBezTo>
                <a:cubicBezTo>
                  <a:pt x="88" y="224"/>
                  <a:pt x="92" y="224"/>
                  <a:pt x="94" y="226"/>
                </a:cubicBezTo>
                <a:cubicBezTo>
                  <a:pt x="103" y="231"/>
                  <a:pt x="121" y="235"/>
                  <a:pt x="127" y="237"/>
                </a:cubicBezTo>
                <a:cubicBezTo>
                  <a:pt x="130" y="238"/>
                  <a:pt x="132" y="240"/>
                  <a:pt x="132" y="243"/>
                </a:cubicBezTo>
                <a:cubicBezTo>
                  <a:pt x="132" y="276"/>
                  <a:pt x="132" y="276"/>
                  <a:pt x="132" y="276"/>
                </a:cubicBezTo>
                <a:cubicBezTo>
                  <a:pt x="156" y="276"/>
                  <a:pt x="156" y="276"/>
                  <a:pt x="156" y="276"/>
                </a:cubicBezTo>
                <a:cubicBezTo>
                  <a:pt x="156" y="243"/>
                  <a:pt x="156" y="243"/>
                  <a:pt x="156" y="243"/>
                </a:cubicBezTo>
                <a:cubicBezTo>
                  <a:pt x="156" y="240"/>
                  <a:pt x="158" y="238"/>
                  <a:pt x="160" y="237"/>
                </a:cubicBezTo>
                <a:cubicBezTo>
                  <a:pt x="167" y="235"/>
                  <a:pt x="185" y="231"/>
                  <a:pt x="194" y="226"/>
                </a:cubicBezTo>
                <a:cubicBezTo>
                  <a:pt x="196" y="224"/>
                  <a:pt x="199" y="224"/>
                  <a:pt x="201" y="226"/>
                </a:cubicBezTo>
                <a:cubicBezTo>
                  <a:pt x="224" y="250"/>
                  <a:pt x="224" y="250"/>
                  <a:pt x="224" y="250"/>
                </a:cubicBezTo>
                <a:cubicBezTo>
                  <a:pt x="250" y="224"/>
                  <a:pt x="250" y="224"/>
                  <a:pt x="250" y="224"/>
                </a:cubicBezTo>
                <a:cubicBezTo>
                  <a:pt x="227" y="201"/>
                  <a:pt x="227" y="201"/>
                  <a:pt x="227" y="201"/>
                </a:cubicBezTo>
                <a:cubicBezTo>
                  <a:pt x="225" y="199"/>
                  <a:pt x="224" y="196"/>
                  <a:pt x="226" y="194"/>
                </a:cubicBezTo>
                <a:cubicBezTo>
                  <a:pt x="231" y="185"/>
                  <a:pt x="235" y="167"/>
                  <a:pt x="237" y="160"/>
                </a:cubicBezTo>
                <a:cubicBezTo>
                  <a:pt x="238" y="158"/>
                  <a:pt x="240" y="156"/>
                  <a:pt x="243" y="156"/>
                </a:cubicBezTo>
                <a:cubicBezTo>
                  <a:pt x="276" y="156"/>
                  <a:pt x="276" y="156"/>
                  <a:pt x="276" y="156"/>
                </a:cubicBezTo>
                <a:cubicBezTo>
                  <a:pt x="276" y="132"/>
                  <a:pt x="276" y="132"/>
                  <a:pt x="276" y="132"/>
                </a:cubicBezTo>
                <a:cubicBezTo>
                  <a:pt x="243" y="132"/>
                  <a:pt x="243" y="132"/>
                  <a:pt x="243" y="132"/>
                </a:cubicBezTo>
                <a:cubicBezTo>
                  <a:pt x="240" y="132"/>
                  <a:pt x="238" y="130"/>
                  <a:pt x="237" y="127"/>
                </a:cubicBezTo>
                <a:cubicBezTo>
                  <a:pt x="236" y="121"/>
                  <a:pt x="234" y="114"/>
                  <a:pt x="231" y="107"/>
                </a:cubicBezTo>
                <a:cubicBezTo>
                  <a:pt x="230" y="103"/>
                  <a:pt x="232" y="100"/>
                  <a:pt x="235" y="99"/>
                </a:cubicBezTo>
                <a:cubicBezTo>
                  <a:pt x="238" y="98"/>
                  <a:pt x="242" y="100"/>
                  <a:pt x="243" y="103"/>
                </a:cubicBezTo>
                <a:cubicBezTo>
                  <a:pt x="245" y="108"/>
                  <a:pt x="246" y="114"/>
                  <a:pt x="248" y="120"/>
                </a:cubicBezTo>
                <a:cubicBezTo>
                  <a:pt x="282" y="120"/>
                  <a:pt x="282" y="120"/>
                  <a:pt x="282" y="120"/>
                </a:cubicBezTo>
                <a:cubicBezTo>
                  <a:pt x="285" y="120"/>
                  <a:pt x="288" y="122"/>
                  <a:pt x="288" y="126"/>
                </a:cubicBezTo>
                <a:cubicBezTo>
                  <a:pt x="288" y="162"/>
                  <a:pt x="288" y="162"/>
                  <a:pt x="288" y="162"/>
                </a:cubicBezTo>
                <a:cubicBezTo>
                  <a:pt x="288" y="165"/>
                  <a:pt x="285" y="168"/>
                  <a:pt x="282" y="168"/>
                </a:cubicBezTo>
                <a:cubicBezTo>
                  <a:pt x="248" y="168"/>
                  <a:pt x="248" y="168"/>
                  <a:pt x="248" y="168"/>
                </a:cubicBezTo>
                <a:cubicBezTo>
                  <a:pt x="245" y="177"/>
                  <a:pt x="242" y="188"/>
                  <a:pt x="238" y="196"/>
                </a:cubicBezTo>
                <a:cubicBezTo>
                  <a:pt x="263" y="220"/>
                  <a:pt x="263" y="220"/>
                  <a:pt x="263" y="220"/>
                </a:cubicBezTo>
                <a:cubicBezTo>
                  <a:pt x="265" y="222"/>
                  <a:pt x="265" y="226"/>
                  <a:pt x="263" y="229"/>
                </a:cubicBezTo>
                <a:cubicBezTo>
                  <a:pt x="229" y="262"/>
                  <a:pt x="229" y="262"/>
                  <a:pt x="229" y="262"/>
                </a:cubicBezTo>
                <a:cubicBezTo>
                  <a:pt x="226" y="265"/>
                  <a:pt x="223" y="265"/>
                  <a:pt x="220" y="262"/>
                </a:cubicBezTo>
                <a:cubicBezTo>
                  <a:pt x="196" y="238"/>
                  <a:pt x="196" y="238"/>
                  <a:pt x="196" y="238"/>
                </a:cubicBezTo>
                <a:cubicBezTo>
                  <a:pt x="188" y="242"/>
                  <a:pt x="177" y="245"/>
                  <a:pt x="168" y="247"/>
                </a:cubicBezTo>
                <a:cubicBezTo>
                  <a:pt x="168" y="282"/>
                  <a:pt x="168" y="282"/>
                  <a:pt x="168" y="282"/>
                </a:cubicBezTo>
                <a:cubicBezTo>
                  <a:pt x="168" y="285"/>
                  <a:pt x="165" y="288"/>
                  <a:pt x="162" y="28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19" tIns="45709" rIns="91419" bIns="4570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7" name="Freeform 35">
            <a:extLst>
              <a:ext uri="{FF2B5EF4-FFF2-40B4-BE49-F238E27FC236}">
                <a16:creationId xmlns:a16="http://schemas.microsoft.com/office/drawing/2014/main" id="{30F561B7-C7B9-BC4D-26F8-49DF239FAF93}"/>
              </a:ext>
            </a:extLst>
          </p:cNvPr>
          <p:cNvSpPr>
            <a:spLocks/>
          </p:cNvSpPr>
          <p:nvPr/>
        </p:nvSpPr>
        <p:spPr bwMode="auto">
          <a:xfrm>
            <a:off x="2407409" y="6068841"/>
            <a:ext cx="337993" cy="299558"/>
          </a:xfrm>
          <a:custGeom>
            <a:avLst/>
            <a:gdLst>
              <a:gd name="T0" fmla="*/ 61 w 202"/>
              <a:gd name="T1" fmla="*/ 179 h 179"/>
              <a:gd name="T2" fmla="*/ 56 w 202"/>
              <a:gd name="T3" fmla="*/ 177 h 179"/>
              <a:gd name="T4" fmla="*/ 3 w 202"/>
              <a:gd name="T5" fmla="*/ 124 h 179"/>
              <a:gd name="T6" fmla="*/ 3 w 202"/>
              <a:gd name="T7" fmla="*/ 115 h 179"/>
              <a:gd name="T8" fmla="*/ 11 w 202"/>
              <a:gd name="T9" fmla="*/ 115 h 179"/>
              <a:gd name="T10" fmla="*/ 60 w 202"/>
              <a:gd name="T11" fmla="*/ 164 h 179"/>
              <a:gd name="T12" fmla="*/ 190 w 202"/>
              <a:gd name="T13" fmla="*/ 3 h 179"/>
              <a:gd name="T14" fmla="*/ 199 w 202"/>
              <a:gd name="T15" fmla="*/ 2 h 179"/>
              <a:gd name="T16" fmla="*/ 200 w 202"/>
              <a:gd name="T17" fmla="*/ 10 h 179"/>
              <a:gd name="T18" fmla="*/ 65 w 202"/>
              <a:gd name="T19" fmla="*/ 177 h 179"/>
              <a:gd name="T20" fmla="*/ 61 w 202"/>
              <a:gd name="T21" fmla="*/ 179 h 179"/>
              <a:gd name="T22" fmla="*/ 61 w 202"/>
              <a:gd name="T23" fmla="*/ 179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02" h="179">
                <a:moveTo>
                  <a:pt x="61" y="179"/>
                </a:moveTo>
                <a:cubicBezTo>
                  <a:pt x="59" y="179"/>
                  <a:pt x="57" y="179"/>
                  <a:pt x="56" y="177"/>
                </a:cubicBezTo>
                <a:cubicBezTo>
                  <a:pt x="3" y="124"/>
                  <a:pt x="3" y="124"/>
                  <a:pt x="3" y="124"/>
                </a:cubicBezTo>
                <a:cubicBezTo>
                  <a:pt x="0" y="121"/>
                  <a:pt x="0" y="118"/>
                  <a:pt x="3" y="115"/>
                </a:cubicBezTo>
                <a:cubicBezTo>
                  <a:pt x="5" y="113"/>
                  <a:pt x="9" y="113"/>
                  <a:pt x="11" y="115"/>
                </a:cubicBezTo>
                <a:cubicBezTo>
                  <a:pt x="60" y="164"/>
                  <a:pt x="60" y="164"/>
                  <a:pt x="60" y="164"/>
                </a:cubicBezTo>
                <a:cubicBezTo>
                  <a:pt x="190" y="3"/>
                  <a:pt x="190" y="3"/>
                  <a:pt x="190" y="3"/>
                </a:cubicBezTo>
                <a:cubicBezTo>
                  <a:pt x="192" y="0"/>
                  <a:pt x="196" y="0"/>
                  <a:pt x="199" y="2"/>
                </a:cubicBezTo>
                <a:cubicBezTo>
                  <a:pt x="201" y="4"/>
                  <a:pt x="202" y="8"/>
                  <a:pt x="200" y="10"/>
                </a:cubicBezTo>
                <a:cubicBezTo>
                  <a:pt x="65" y="177"/>
                  <a:pt x="65" y="177"/>
                  <a:pt x="65" y="177"/>
                </a:cubicBezTo>
                <a:cubicBezTo>
                  <a:pt x="64" y="178"/>
                  <a:pt x="63" y="179"/>
                  <a:pt x="61" y="179"/>
                </a:cubicBezTo>
                <a:cubicBezTo>
                  <a:pt x="61" y="179"/>
                  <a:pt x="61" y="179"/>
                  <a:pt x="61" y="17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19" tIns="45709" rIns="91419" bIns="4570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6CB1E13-45EB-8875-805F-899F284D5BD0}"/>
              </a:ext>
            </a:extLst>
          </p:cNvPr>
          <p:cNvSpPr/>
          <p:nvPr/>
        </p:nvSpPr>
        <p:spPr>
          <a:xfrm>
            <a:off x="2847992" y="2049202"/>
            <a:ext cx="2547310" cy="12414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1400" dirty="0"/>
              <a:t>QuickBase creates a case and allocate them using a controlled, rules-based pull allocation model</a:t>
            </a:r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87" name="Freeform 34">
            <a:extLst>
              <a:ext uri="{FF2B5EF4-FFF2-40B4-BE49-F238E27FC236}">
                <a16:creationId xmlns:a16="http://schemas.microsoft.com/office/drawing/2014/main" id="{A13A3574-C876-D470-4B9D-BB3F93DBC07A}"/>
              </a:ext>
            </a:extLst>
          </p:cNvPr>
          <p:cNvSpPr>
            <a:spLocks/>
          </p:cNvSpPr>
          <p:nvPr/>
        </p:nvSpPr>
        <p:spPr bwMode="auto">
          <a:xfrm>
            <a:off x="3822599" y="1615425"/>
            <a:ext cx="482686" cy="481553"/>
          </a:xfrm>
          <a:custGeom>
            <a:avLst/>
            <a:gdLst>
              <a:gd name="T0" fmla="*/ 126 w 288"/>
              <a:gd name="T1" fmla="*/ 288 h 288"/>
              <a:gd name="T2" fmla="*/ 120 w 288"/>
              <a:gd name="T3" fmla="*/ 247 h 288"/>
              <a:gd name="T4" fmla="*/ 67 w 288"/>
              <a:gd name="T5" fmla="*/ 262 h 288"/>
              <a:gd name="T6" fmla="*/ 25 w 288"/>
              <a:gd name="T7" fmla="*/ 229 h 288"/>
              <a:gd name="T8" fmla="*/ 25 w 288"/>
              <a:gd name="T9" fmla="*/ 220 h 288"/>
              <a:gd name="T10" fmla="*/ 40 w 288"/>
              <a:gd name="T11" fmla="*/ 168 h 288"/>
              <a:gd name="T12" fmla="*/ 0 w 288"/>
              <a:gd name="T13" fmla="*/ 162 h 288"/>
              <a:gd name="T14" fmla="*/ 6 w 288"/>
              <a:gd name="T15" fmla="*/ 120 h 288"/>
              <a:gd name="T16" fmla="*/ 49 w 288"/>
              <a:gd name="T17" fmla="*/ 92 h 288"/>
              <a:gd name="T18" fmla="*/ 23 w 288"/>
              <a:gd name="T19" fmla="*/ 63 h 288"/>
              <a:gd name="T20" fmla="*/ 59 w 288"/>
              <a:gd name="T21" fmla="*/ 25 h 288"/>
              <a:gd name="T22" fmla="*/ 92 w 288"/>
              <a:gd name="T23" fmla="*/ 49 h 288"/>
              <a:gd name="T24" fmla="*/ 120 w 288"/>
              <a:gd name="T25" fmla="*/ 6 h 288"/>
              <a:gd name="T26" fmla="*/ 162 w 288"/>
              <a:gd name="T27" fmla="*/ 0 h 288"/>
              <a:gd name="T28" fmla="*/ 168 w 288"/>
              <a:gd name="T29" fmla="*/ 40 h 288"/>
              <a:gd name="T30" fmla="*/ 202 w 288"/>
              <a:gd name="T31" fmla="*/ 60 h 288"/>
              <a:gd name="T32" fmla="*/ 160 w 288"/>
              <a:gd name="T33" fmla="*/ 50 h 288"/>
              <a:gd name="T34" fmla="*/ 156 w 288"/>
              <a:gd name="T35" fmla="*/ 12 h 288"/>
              <a:gd name="T36" fmla="*/ 132 w 288"/>
              <a:gd name="T37" fmla="*/ 45 h 288"/>
              <a:gd name="T38" fmla="*/ 94 w 288"/>
              <a:gd name="T39" fmla="*/ 62 h 288"/>
              <a:gd name="T40" fmla="*/ 63 w 288"/>
              <a:gd name="T41" fmla="*/ 38 h 288"/>
              <a:gd name="T42" fmla="*/ 61 w 288"/>
              <a:gd name="T43" fmla="*/ 86 h 288"/>
              <a:gd name="T44" fmla="*/ 51 w 288"/>
              <a:gd name="T45" fmla="*/ 127 h 288"/>
              <a:gd name="T46" fmla="*/ 12 w 288"/>
              <a:gd name="T47" fmla="*/ 132 h 288"/>
              <a:gd name="T48" fmla="*/ 45 w 288"/>
              <a:gd name="T49" fmla="*/ 156 h 288"/>
              <a:gd name="T50" fmla="*/ 62 w 288"/>
              <a:gd name="T51" fmla="*/ 194 h 288"/>
              <a:gd name="T52" fmla="*/ 38 w 288"/>
              <a:gd name="T53" fmla="*/ 224 h 288"/>
              <a:gd name="T54" fmla="*/ 87 w 288"/>
              <a:gd name="T55" fmla="*/ 226 h 288"/>
              <a:gd name="T56" fmla="*/ 127 w 288"/>
              <a:gd name="T57" fmla="*/ 237 h 288"/>
              <a:gd name="T58" fmla="*/ 132 w 288"/>
              <a:gd name="T59" fmla="*/ 276 h 288"/>
              <a:gd name="T60" fmla="*/ 156 w 288"/>
              <a:gd name="T61" fmla="*/ 243 h 288"/>
              <a:gd name="T62" fmla="*/ 194 w 288"/>
              <a:gd name="T63" fmla="*/ 226 h 288"/>
              <a:gd name="T64" fmla="*/ 224 w 288"/>
              <a:gd name="T65" fmla="*/ 250 h 288"/>
              <a:gd name="T66" fmla="*/ 227 w 288"/>
              <a:gd name="T67" fmla="*/ 201 h 288"/>
              <a:gd name="T68" fmla="*/ 237 w 288"/>
              <a:gd name="T69" fmla="*/ 160 h 288"/>
              <a:gd name="T70" fmla="*/ 276 w 288"/>
              <a:gd name="T71" fmla="*/ 156 h 288"/>
              <a:gd name="T72" fmla="*/ 243 w 288"/>
              <a:gd name="T73" fmla="*/ 132 h 288"/>
              <a:gd name="T74" fmla="*/ 231 w 288"/>
              <a:gd name="T75" fmla="*/ 107 h 288"/>
              <a:gd name="T76" fmla="*/ 243 w 288"/>
              <a:gd name="T77" fmla="*/ 103 h 288"/>
              <a:gd name="T78" fmla="*/ 282 w 288"/>
              <a:gd name="T79" fmla="*/ 120 h 288"/>
              <a:gd name="T80" fmla="*/ 288 w 288"/>
              <a:gd name="T81" fmla="*/ 162 h 288"/>
              <a:gd name="T82" fmla="*/ 248 w 288"/>
              <a:gd name="T83" fmla="*/ 168 h 288"/>
              <a:gd name="T84" fmla="*/ 263 w 288"/>
              <a:gd name="T85" fmla="*/ 220 h 288"/>
              <a:gd name="T86" fmla="*/ 229 w 288"/>
              <a:gd name="T87" fmla="*/ 262 h 288"/>
              <a:gd name="T88" fmla="*/ 196 w 288"/>
              <a:gd name="T89" fmla="*/ 238 h 288"/>
              <a:gd name="T90" fmla="*/ 168 w 288"/>
              <a:gd name="T91" fmla="*/ 282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88" h="288">
                <a:moveTo>
                  <a:pt x="162" y="288"/>
                </a:moveTo>
                <a:cubicBezTo>
                  <a:pt x="126" y="288"/>
                  <a:pt x="126" y="288"/>
                  <a:pt x="126" y="288"/>
                </a:cubicBezTo>
                <a:cubicBezTo>
                  <a:pt x="123" y="288"/>
                  <a:pt x="120" y="285"/>
                  <a:pt x="120" y="282"/>
                </a:cubicBezTo>
                <a:cubicBezTo>
                  <a:pt x="120" y="247"/>
                  <a:pt x="120" y="247"/>
                  <a:pt x="120" y="247"/>
                </a:cubicBezTo>
                <a:cubicBezTo>
                  <a:pt x="110" y="245"/>
                  <a:pt x="100" y="242"/>
                  <a:pt x="92" y="238"/>
                </a:cubicBezTo>
                <a:cubicBezTo>
                  <a:pt x="67" y="262"/>
                  <a:pt x="67" y="262"/>
                  <a:pt x="67" y="262"/>
                </a:cubicBezTo>
                <a:cubicBezTo>
                  <a:pt x="65" y="265"/>
                  <a:pt x="61" y="265"/>
                  <a:pt x="59" y="262"/>
                </a:cubicBezTo>
                <a:cubicBezTo>
                  <a:pt x="25" y="229"/>
                  <a:pt x="25" y="229"/>
                  <a:pt x="25" y="229"/>
                </a:cubicBezTo>
                <a:cubicBezTo>
                  <a:pt x="24" y="227"/>
                  <a:pt x="23" y="226"/>
                  <a:pt x="23" y="224"/>
                </a:cubicBezTo>
                <a:cubicBezTo>
                  <a:pt x="23" y="223"/>
                  <a:pt x="24" y="221"/>
                  <a:pt x="25" y="220"/>
                </a:cubicBezTo>
                <a:cubicBezTo>
                  <a:pt x="49" y="196"/>
                  <a:pt x="49" y="196"/>
                  <a:pt x="49" y="196"/>
                </a:cubicBezTo>
                <a:cubicBezTo>
                  <a:pt x="46" y="188"/>
                  <a:pt x="43" y="177"/>
                  <a:pt x="40" y="168"/>
                </a:cubicBezTo>
                <a:cubicBezTo>
                  <a:pt x="6" y="168"/>
                  <a:pt x="6" y="168"/>
                  <a:pt x="6" y="168"/>
                </a:cubicBezTo>
                <a:cubicBezTo>
                  <a:pt x="3" y="168"/>
                  <a:pt x="0" y="165"/>
                  <a:pt x="0" y="162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22"/>
                  <a:pt x="3" y="120"/>
                  <a:pt x="6" y="120"/>
                </a:cubicBezTo>
                <a:cubicBezTo>
                  <a:pt x="40" y="120"/>
                  <a:pt x="40" y="120"/>
                  <a:pt x="40" y="120"/>
                </a:cubicBezTo>
                <a:cubicBezTo>
                  <a:pt x="43" y="110"/>
                  <a:pt x="46" y="100"/>
                  <a:pt x="49" y="92"/>
                </a:cubicBezTo>
                <a:cubicBezTo>
                  <a:pt x="25" y="67"/>
                  <a:pt x="25" y="67"/>
                  <a:pt x="25" y="67"/>
                </a:cubicBezTo>
                <a:cubicBezTo>
                  <a:pt x="24" y="66"/>
                  <a:pt x="23" y="65"/>
                  <a:pt x="23" y="63"/>
                </a:cubicBezTo>
                <a:cubicBezTo>
                  <a:pt x="23" y="61"/>
                  <a:pt x="24" y="60"/>
                  <a:pt x="25" y="59"/>
                </a:cubicBezTo>
                <a:cubicBezTo>
                  <a:pt x="59" y="25"/>
                  <a:pt x="59" y="25"/>
                  <a:pt x="59" y="25"/>
                </a:cubicBezTo>
                <a:cubicBezTo>
                  <a:pt x="61" y="23"/>
                  <a:pt x="65" y="23"/>
                  <a:pt x="67" y="25"/>
                </a:cubicBezTo>
                <a:cubicBezTo>
                  <a:pt x="92" y="49"/>
                  <a:pt x="92" y="49"/>
                  <a:pt x="92" y="49"/>
                </a:cubicBezTo>
                <a:cubicBezTo>
                  <a:pt x="100" y="45"/>
                  <a:pt x="110" y="42"/>
                  <a:pt x="120" y="40"/>
                </a:cubicBezTo>
                <a:cubicBezTo>
                  <a:pt x="120" y="6"/>
                  <a:pt x="120" y="6"/>
                  <a:pt x="120" y="6"/>
                </a:cubicBezTo>
                <a:cubicBezTo>
                  <a:pt x="120" y="2"/>
                  <a:pt x="123" y="0"/>
                  <a:pt x="126" y="0"/>
                </a:cubicBezTo>
                <a:cubicBezTo>
                  <a:pt x="162" y="0"/>
                  <a:pt x="162" y="0"/>
                  <a:pt x="162" y="0"/>
                </a:cubicBezTo>
                <a:cubicBezTo>
                  <a:pt x="165" y="0"/>
                  <a:pt x="168" y="2"/>
                  <a:pt x="168" y="6"/>
                </a:cubicBezTo>
                <a:cubicBezTo>
                  <a:pt x="168" y="40"/>
                  <a:pt x="168" y="40"/>
                  <a:pt x="168" y="40"/>
                </a:cubicBezTo>
                <a:cubicBezTo>
                  <a:pt x="179" y="43"/>
                  <a:pt x="192" y="47"/>
                  <a:pt x="200" y="52"/>
                </a:cubicBezTo>
                <a:cubicBezTo>
                  <a:pt x="203" y="53"/>
                  <a:pt x="204" y="57"/>
                  <a:pt x="202" y="60"/>
                </a:cubicBezTo>
                <a:cubicBezTo>
                  <a:pt x="200" y="63"/>
                  <a:pt x="197" y="63"/>
                  <a:pt x="194" y="62"/>
                </a:cubicBezTo>
                <a:cubicBezTo>
                  <a:pt x="186" y="57"/>
                  <a:pt x="171" y="53"/>
                  <a:pt x="160" y="50"/>
                </a:cubicBezTo>
                <a:cubicBezTo>
                  <a:pt x="158" y="50"/>
                  <a:pt x="156" y="47"/>
                  <a:pt x="156" y="45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32" y="12"/>
                  <a:pt x="132" y="12"/>
                  <a:pt x="132" y="12"/>
                </a:cubicBezTo>
                <a:cubicBezTo>
                  <a:pt x="132" y="45"/>
                  <a:pt x="132" y="45"/>
                  <a:pt x="132" y="45"/>
                </a:cubicBezTo>
                <a:cubicBezTo>
                  <a:pt x="132" y="47"/>
                  <a:pt x="130" y="50"/>
                  <a:pt x="127" y="50"/>
                </a:cubicBezTo>
                <a:cubicBezTo>
                  <a:pt x="117" y="53"/>
                  <a:pt x="102" y="57"/>
                  <a:pt x="94" y="62"/>
                </a:cubicBezTo>
                <a:cubicBezTo>
                  <a:pt x="92" y="63"/>
                  <a:pt x="89" y="63"/>
                  <a:pt x="87" y="61"/>
                </a:cubicBezTo>
                <a:cubicBezTo>
                  <a:pt x="63" y="38"/>
                  <a:pt x="63" y="38"/>
                  <a:pt x="63" y="38"/>
                </a:cubicBezTo>
                <a:cubicBezTo>
                  <a:pt x="38" y="63"/>
                  <a:pt x="38" y="63"/>
                  <a:pt x="38" y="63"/>
                </a:cubicBezTo>
                <a:cubicBezTo>
                  <a:pt x="61" y="86"/>
                  <a:pt x="61" y="86"/>
                  <a:pt x="61" y="86"/>
                </a:cubicBezTo>
                <a:cubicBezTo>
                  <a:pt x="63" y="88"/>
                  <a:pt x="63" y="91"/>
                  <a:pt x="62" y="94"/>
                </a:cubicBezTo>
                <a:cubicBezTo>
                  <a:pt x="57" y="103"/>
                  <a:pt x="52" y="120"/>
                  <a:pt x="51" y="127"/>
                </a:cubicBezTo>
                <a:cubicBezTo>
                  <a:pt x="50" y="130"/>
                  <a:pt x="48" y="132"/>
                  <a:pt x="45" y="132"/>
                </a:cubicBezTo>
                <a:cubicBezTo>
                  <a:pt x="12" y="132"/>
                  <a:pt x="12" y="132"/>
                  <a:pt x="12" y="132"/>
                </a:cubicBezTo>
                <a:cubicBezTo>
                  <a:pt x="12" y="156"/>
                  <a:pt x="12" y="156"/>
                  <a:pt x="12" y="156"/>
                </a:cubicBezTo>
                <a:cubicBezTo>
                  <a:pt x="45" y="156"/>
                  <a:pt x="45" y="156"/>
                  <a:pt x="45" y="156"/>
                </a:cubicBezTo>
                <a:cubicBezTo>
                  <a:pt x="48" y="156"/>
                  <a:pt x="50" y="158"/>
                  <a:pt x="51" y="160"/>
                </a:cubicBezTo>
                <a:cubicBezTo>
                  <a:pt x="52" y="167"/>
                  <a:pt x="57" y="185"/>
                  <a:pt x="62" y="194"/>
                </a:cubicBezTo>
                <a:cubicBezTo>
                  <a:pt x="63" y="196"/>
                  <a:pt x="63" y="199"/>
                  <a:pt x="61" y="201"/>
                </a:cubicBezTo>
                <a:cubicBezTo>
                  <a:pt x="38" y="224"/>
                  <a:pt x="38" y="224"/>
                  <a:pt x="38" y="224"/>
                </a:cubicBezTo>
                <a:cubicBezTo>
                  <a:pt x="63" y="250"/>
                  <a:pt x="63" y="250"/>
                  <a:pt x="63" y="250"/>
                </a:cubicBezTo>
                <a:cubicBezTo>
                  <a:pt x="87" y="226"/>
                  <a:pt x="87" y="226"/>
                  <a:pt x="87" y="226"/>
                </a:cubicBezTo>
                <a:cubicBezTo>
                  <a:pt x="88" y="224"/>
                  <a:pt x="92" y="224"/>
                  <a:pt x="94" y="226"/>
                </a:cubicBezTo>
                <a:cubicBezTo>
                  <a:pt x="103" y="231"/>
                  <a:pt x="121" y="235"/>
                  <a:pt x="127" y="237"/>
                </a:cubicBezTo>
                <a:cubicBezTo>
                  <a:pt x="130" y="238"/>
                  <a:pt x="132" y="240"/>
                  <a:pt x="132" y="243"/>
                </a:cubicBezTo>
                <a:cubicBezTo>
                  <a:pt x="132" y="276"/>
                  <a:pt x="132" y="276"/>
                  <a:pt x="132" y="276"/>
                </a:cubicBezTo>
                <a:cubicBezTo>
                  <a:pt x="156" y="276"/>
                  <a:pt x="156" y="276"/>
                  <a:pt x="156" y="276"/>
                </a:cubicBezTo>
                <a:cubicBezTo>
                  <a:pt x="156" y="243"/>
                  <a:pt x="156" y="243"/>
                  <a:pt x="156" y="243"/>
                </a:cubicBezTo>
                <a:cubicBezTo>
                  <a:pt x="156" y="240"/>
                  <a:pt x="158" y="238"/>
                  <a:pt x="160" y="237"/>
                </a:cubicBezTo>
                <a:cubicBezTo>
                  <a:pt x="167" y="235"/>
                  <a:pt x="185" y="231"/>
                  <a:pt x="194" y="226"/>
                </a:cubicBezTo>
                <a:cubicBezTo>
                  <a:pt x="196" y="224"/>
                  <a:pt x="199" y="224"/>
                  <a:pt x="201" y="226"/>
                </a:cubicBezTo>
                <a:cubicBezTo>
                  <a:pt x="224" y="250"/>
                  <a:pt x="224" y="250"/>
                  <a:pt x="224" y="250"/>
                </a:cubicBezTo>
                <a:cubicBezTo>
                  <a:pt x="250" y="224"/>
                  <a:pt x="250" y="224"/>
                  <a:pt x="250" y="224"/>
                </a:cubicBezTo>
                <a:cubicBezTo>
                  <a:pt x="227" y="201"/>
                  <a:pt x="227" y="201"/>
                  <a:pt x="227" y="201"/>
                </a:cubicBezTo>
                <a:cubicBezTo>
                  <a:pt x="225" y="199"/>
                  <a:pt x="224" y="196"/>
                  <a:pt x="226" y="194"/>
                </a:cubicBezTo>
                <a:cubicBezTo>
                  <a:pt x="231" y="185"/>
                  <a:pt x="235" y="167"/>
                  <a:pt x="237" y="160"/>
                </a:cubicBezTo>
                <a:cubicBezTo>
                  <a:pt x="238" y="158"/>
                  <a:pt x="240" y="156"/>
                  <a:pt x="243" y="156"/>
                </a:cubicBezTo>
                <a:cubicBezTo>
                  <a:pt x="276" y="156"/>
                  <a:pt x="276" y="156"/>
                  <a:pt x="276" y="156"/>
                </a:cubicBezTo>
                <a:cubicBezTo>
                  <a:pt x="276" y="132"/>
                  <a:pt x="276" y="132"/>
                  <a:pt x="276" y="132"/>
                </a:cubicBezTo>
                <a:cubicBezTo>
                  <a:pt x="243" y="132"/>
                  <a:pt x="243" y="132"/>
                  <a:pt x="243" y="132"/>
                </a:cubicBezTo>
                <a:cubicBezTo>
                  <a:pt x="240" y="132"/>
                  <a:pt x="238" y="130"/>
                  <a:pt x="237" y="127"/>
                </a:cubicBezTo>
                <a:cubicBezTo>
                  <a:pt x="236" y="121"/>
                  <a:pt x="234" y="114"/>
                  <a:pt x="231" y="107"/>
                </a:cubicBezTo>
                <a:cubicBezTo>
                  <a:pt x="230" y="103"/>
                  <a:pt x="232" y="100"/>
                  <a:pt x="235" y="99"/>
                </a:cubicBezTo>
                <a:cubicBezTo>
                  <a:pt x="238" y="98"/>
                  <a:pt x="242" y="100"/>
                  <a:pt x="243" y="103"/>
                </a:cubicBezTo>
                <a:cubicBezTo>
                  <a:pt x="245" y="108"/>
                  <a:pt x="246" y="114"/>
                  <a:pt x="248" y="120"/>
                </a:cubicBezTo>
                <a:cubicBezTo>
                  <a:pt x="282" y="120"/>
                  <a:pt x="282" y="120"/>
                  <a:pt x="282" y="120"/>
                </a:cubicBezTo>
                <a:cubicBezTo>
                  <a:pt x="285" y="120"/>
                  <a:pt x="288" y="122"/>
                  <a:pt x="288" y="126"/>
                </a:cubicBezTo>
                <a:cubicBezTo>
                  <a:pt x="288" y="162"/>
                  <a:pt x="288" y="162"/>
                  <a:pt x="288" y="162"/>
                </a:cubicBezTo>
                <a:cubicBezTo>
                  <a:pt x="288" y="165"/>
                  <a:pt x="285" y="168"/>
                  <a:pt x="282" y="168"/>
                </a:cubicBezTo>
                <a:cubicBezTo>
                  <a:pt x="248" y="168"/>
                  <a:pt x="248" y="168"/>
                  <a:pt x="248" y="168"/>
                </a:cubicBezTo>
                <a:cubicBezTo>
                  <a:pt x="245" y="177"/>
                  <a:pt x="242" y="188"/>
                  <a:pt x="238" y="196"/>
                </a:cubicBezTo>
                <a:cubicBezTo>
                  <a:pt x="263" y="220"/>
                  <a:pt x="263" y="220"/>
                  <a:pt x="263" y="220"/>
                </a:cubicBezTo>
                <a:cubicBezTo>
                  <a:pt x="265" y="222"/>
                  <a:pt x="265" y="226"/>
                  <a:pt x="263" y="229"/>
                </a:cubicBezTo>
                <a:cubicBezTo>
                  <a:pt x="229" y="262"/>
                  <a:pt x="229" y="262"/>
                  <a:pt x="229" y="262"/>
                </a:cubicBezTo>
                <a:cubicBezTo>
                  <a:pt x="226" y="265"/>
                  <a:pt x="223" y="265"/>
                  <a:pt x="220" y="262"/>
                </a:cubicBezTo>
                <a:cubicBezTo>
                  <a:pt x="196" y="238"/>
                  <a:pt x="196" y="238"/>
                  <a:pt x="196" y="238"/>
                </a:cubicBezTo>
                <a:cubicBezTo>
                  <a:pt x="188" y="242"/>
                  <a:pt x="177" y="245"/>
                  <a:pt x="168" y="247"/>
                </a:cubicBezTo>
                <a:cubicBezTo>
                  <a:pt x="168" y="282"/>
                  <a:pt x="168" y="282"/>
                  <a:pt x="168" y="282"/>
                </a:cubicBezTo>
                <a:cubicBezTo>
                  <a:pt x="168" y="285"/>
                  <a:pt x="165" y="288"/>
                  <a:pt x="162" y="28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19" tIns="45709" rIns="91419" bIns="4570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93" name="Freeform 35">
            <a:extLst>
              <a:ext uri="{FF2B5EF4-FFF2-40B4-BE49-F238E27FC236}">
                <a16:creationId xmlns:a16="http://schemas.microsoft.com/office/drawing/2014/main" id="{8D79FE86-166E-0DA5-B254-4E3370487E6D}"/>
              </a:ext>
            </a:extLst>
          </p:cNvPr>
          <p:cNvSpPr>
            <a:spLocks/>
          </p:cNvSpPr>
          <p:nvPr/>
        </p:nvSpPr>
        <p:spPr bwMode="auto">
          <a:xfrm>
            <a:off x="3968422" y="1613164"/>
            <a:ext cx="337993" cy="299558"/>
          </a:xfrm>
          <a:custGeom>
            <a:avLst/>
            <a:gdLst>
              <a:gd name="T0" fmla="*/ 61 w 202"/>
              <a:gd name="T1" fmla="*/ 179 h 179"/>
              <a:gd name="T2" fmla="*/ 56 w 202"/>
              <a:gd name="T3" fmla="*/ 177 h 179"/>
              <a:gd name="T4" fmla="*/ 3 w 202"/>
              <a:gd name="T5" fmla="*/ 124 h 179"/>
              <a:gd name="T6" fmla="*/ 3 w 202"/>
              <a:gd name="T7" fmla="*/ 115 h 179"/>
              <a:gd name="T8" fmla="*/ 11 w 202"/>
              <a:gd name="T9" fmla="*/ 115 h 179"/>
              <a:gd name="T10" fmla="*/ 60 w 202"/>
              <a:gd name="T11" fmla="*/ 164 h 179"/>
              <a:gd name="T12" fmla="*/ 190 w 202"/>
              <a:gd name="T13" fmla="*/ 3 h 179"/>
              <a:gd name="T14" fmla="*/ 199 w 202"/>
              <a:gd name="T15" fmla="*/ 2 h 179"/>
              <a:gd name="T16" fmla="*/ 200 w 202"/>
              <a:gd name="T17" fmla="*/ 10 h 179"/>
              <a:gd name="T18" fmla="*/ 65 w 202"/>
              <a:gd name="T19" fmla="*/ 177 h 179"/>
              <a:gd name="T20" fmla="*/ 61 w 202"/>
              <a:gd name="T21" fmla="*/ 179 h 179"/>
              <a:gd name="T22" fmla="*/ 61 w 202"/>
              <a:gd name="T23" fmla="*/ 179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02" h="179">
                <a:moveTo>
                  <a:pt x="61" y="179"/>
                </a:moveTo>
                <a:cubicBezTo>
                  <a:pt x="59" y="179"/>
                  <a:pt x="57" y="179"/>
                  <a:pt x="56" y="177"/>
                </a:cubicBezTo>
                <a:cubicBezTo>
                  <a:pt x="3" y="124"/>
                  <a:pt x="3" y="124"/>
                  <a:pt x="3" y="124"/>
                </a:cubicBezTo>
                <a:cubicBezTo>
                  <a:pt x="0" y="121"/>
                  <a:pt x="0" y="118"/>
                  <a:pt x="3" y="115"/>
                </a:cubicBezTo>
                <a:cubicBezTo>
                  <a:pt x="5" y="113"/>
                  <a:pt x="9" y="113"/>
                  <a:pt x="11" y="115"/>
                </a:cubicBezTo>
                <a:cubicBezTo>
                  <a:pt x="60" y="164"/>
                  <a:pt x="60" y="164"/>
                  <a:pt x="60" y="164"/>
                </a:cubicBezTo>
                <a:cubicBezTo>
                  <a:pt x="190" y="3"/>
                  <a:pt x="190" y="3"/>
                  <a:pt x="190" y="3"/>
                </a:cubicBezTo>
                <a:cubicBezTo>
                  <a:pt x="192" y="0"/>
                  <a:pt x="196" y="0"/>
                  <a:pt x="199" y="2"/>
                </a:cubicBezTo>
                <a:cubicBezTo>
                  <a:pt x="201" y="4"/>
                  <a:pt x="202" y="8"/>
                  <a:pt x="200" y="10"/>
                </a:cubicBezTo>
                <a:cubicBezTo>
                  <a:pt x="65" y="177"/>
                  <a:pt x="65" y="177"/>
                  <a:pt x="65" y="177"/>
                </a:cubicBezTo>
                <a:cubicBezTo>
                  <a:pt x="64" y="178"/>
                  <a:pt x="63" y="179"/>
                  <a:pt x="61" y="179"/>
                </a:cubicBezTo>
                <a:cubicBezTo>
                  <a:pt x="61" y="179"/>
                  <a:pt x="61" y="179"/>
                  <a:pt x="61" y="17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19" tIns="45709" rIns="91419" bIns="4570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9F26259-8093-30EC-2499-1DE1B50E9402}"/>
              </a:ext>
            </a:extLst>
          </p:cNvPr>
          <p:cNvCxnSpPr>
            <a:cxnSpLocks/>
          </p:cNvCxnSpPr>
          <p:nvPr/>
        </p:nvCxnSpPr>
        <p:spPr>
          <a:xfrm>
            <a:off x="3986275" y="3241964"/>
            <a:ext cx="1214573" cy="1571415"/>
          </a:xfrm>
          <a:prstGeom prst="line">
            <a:avLst/>
          </a:prstGeom>
          <a:ln w="28575">
            <a:solidFill>
              <a:srgbClr val="7500C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3980DA40-1FDF-6232-EFC7-F3425FB440C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539901" y="5890846"/>
            <a:ext cx="483816" cy="483814"/>
            <a:chOff x="3438" y="437"/>
            <a:chExt cx="428" cy="428"/>
          </a:xfrm>
          <a:solidFill>
            <a:schemeClr val="accent2"/>
          </a:solidFill>
        </p:grpSpPr>
        <p:sp>
          <p:nvSpPr>
            <p:cNvPr id="127" name="Freeform 34">
              <a:extLst>
                <a:ext uri="{FF2B5EF4-FFF2-40B4-BE49-F238E27FC236}">
                  <a16:creationId xmlns:a16="http://schemas.microsoft.com/office/drawing/2014/main" id="{CC8E7ACE-97A3-3777-13C6-5CA89F31CA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8" y="439"/>
              <a:ext cx="427" cy="426"/>
            </a:xfrm>
            <a:custGeom>
              <a:avLst/>
              <a:gdLst>
                <a:gd name="T0" fmla="*/ 126 w 288"/>
                <a:gd name="T1" fmla="*/ 288 h 288"/>
                <a:gd name="T2" fmla="*/ 120 w 288"/>
                <a:gd name="T3" fmla="*/ 247 h 288"/>
                <a:gd name="T4" fmla="*/ 67 w 288"/>
                <a:gd name="T5" fmla="*/ 262 h 288"/>
                <a:gd name="T6" fmla="*/ 25 w 288"/>
                <a:gd name="T7" fmla="*/ 229 h 288"/>
                <a:gd name="T8" fmla="*/ 25 w 288"/>
                <a:gd name="T9" fmla="*/ 220 h 288"/>
                <a:gd name="T10" fmla="*/ 40 w 288"/>
                <a:gd name="T11" fmla="*/ 168 h 288"/>
                <a:gd name="T12" fmla="*/ 0 w 288"/>
                <a:gd name="T13" fmla="*/ 162 h 288"/>
                <a:gd name="T14" fmla="*/ 6 w 288"/>
                <a:gd name="T15" fmla="*/ 120 h 288"/>
                <a:gd name="T16" fmla="*/ 49 w 288"/>
                <a:gd name="T17" fmla="*/ 92 h 288"/>
                <a:gd name="T18" fmla="*/ 23 w 288"/>
                <a:gd name="T19" fmla="*/ 63 h 288"/>
                <a:gd name="T20" fmla="*/ 59 w 288"/>
                <a:gd name="T21" fmla="*/ 25 h 288"/>
                <a:gd name="T22" fmla="*/ 92 w 288"/>
                <a:gd name="T23" fmla="*/ 49 h 288"/>
                <a:gd name="T24" fmla="*/ 120 w 288"/>
                <a:gd name="T25" fmla="*/ 6 h 288"/>
                <a:gd name="T26" fmla="*/ 162 w 288"/>
                <a:gd name="T27" fmla="*/ 0 h 288"/>
                <a:gd name="T28" fmla="*/ 168 w 288"/>
                <a:gd name="T29" fmla="*/ 40 h 288"/>
                <a:gd name="T30" fmla="*/ 202 w 288"/>
                <a:gd name="T31" fmla="*/ 60 h 288"/>
                <a:gd name="T32" fmla="*/ 160 w 288"/>
                <a:gd name="T33" fmla="*/ 50 h 288"/>
                <a:gd name="T34" fmla="*/ 156 w 288"/>
                <a:gd name="T35" fmla="*/ 12 h 288"/>
                <a:gd name="T36" fmla="*/ 132 w 288"/>
                <a:gd name="T37" fmla="*/ 45 h 288"/>
                <a:gd name="T38" fmla="*/ 94 w 288"/>
                <a:gd name="T39" fmla="*/ 62 h 288"/>
                <a:gd name="T40" fmla="*/ 63 w 288"/>
                <a:gd name="T41" fmla="*/ 38 h 288"/>
                <a:gd name="T42" fmla="*/ 61 w 288"/>
                <a:gd name="T43" fmla="*/ 86 h 288"/>
                <a:gd name="T44" fmla="*/ 51 w 288"/>
                <a:gd name="T45" fmla="*/ 127 h 288"/>
                <a:gd name="T46" fmla="*/ 12 w 288"/>
                <a:gd name="T47" fmla="*/ 132 h 288"/>
                <a:gd name="T48" fmla="*/ 45 w 288"/>
                <a:gd name="T49" fmla="*/ 156 h 288"/>
                <a:gd name="T50" fmla="*/ 62 w 288"/>
                <a:gd name="T51" fmla="*/ 194 h 288"/>
                <a:gd name="T52" fmla="*/ 38 w 288"/>
                <a:gd name="T53" fmla="*/ 224 h 288"/>
                <a:gd name="T54" fmla="*/ 87 w 288"/>
                <a:gd name="T55" fmla="*/ 226 h 288"/>
                <a:gd name="T56" fmla="*/ 127 w 288"/>
                <a:gd name="T57" fmla="*/ 237 h 288"/>
                <a:gd name="T58" fmla="*/ 132 w 288"/>
                <a:gd name="T59" fmla="*/ 276 h 288"/>
                <a:gd name="T60" fmla="*/ 156 w 288"/>
                <a:gd name="T61" fmla="*/ 243 h 288"/>
                <a:gd name="T62" fmla="*/ 194 w 288"/>
                <a:gd name="T63" fmla="*/ 226 h 288"/>
                <a:gd name="T64" fmla="*/ 224 w 288"/>
                <a:gd name="T65" fmla="*/ 250 h 288"/>
                <a:gd name="T66" fmla="*/ 227 w 288"/>
                <a:gd name="T67" fmla="*/ 201 h 288"/>
                <a:gd name="T68" fmla="*/ 237 w 288"/>
                <a:gd name="T69" fmla="*/ 160 h 288"/>
                <a:gd name="T70" fmla="*/ 276 w 288"/>
                <a:gd name="T71" fmla="*/ 156 h 288"/>
                <a:gd name="T72" fmla="*/ 243 w 288"/>
                <a:gd name="T73" fmla="*/ 132 h 288"/>
                <a:gd name="T74" fmla="*/ 231 w 288"/>
                <a:gd name="T75" fmla="*/ 107 h 288"/>
                <a:gd name="T76" fmla="*/ 243 w 288"/>
                <a:gd name="T77" fmla="*/ 103 h 288"/>
                <a:gd name="T78" fmla="*/ 282 w 288"/>
                <a:gd name="T79" fmla="*/ 120 h 288"/>
                <a:gd name="T80" fmla="*/ 288 w 288"/>
                <a:gd name="T81" fmla="*/ 162 h 288"/>
                <a:gd name="T82" fmla="*/ 248 w 288"/>
                <a:gd name="T83" fmla="*/ 168 h 288"/>
                <a:gd name="T84" fmla="*/ 263 w 288"/>
                <a:gd name="T85" fmla="*/ 220 h 288"/>
                <a:gd name="T86" fmla="*/ 229 w 288"/>
                <a:gd name="T87" fmla="*/ 262 h 288"/>
                <a:gd name="T88" fmla="*/ 196 w 288"/>
                <a:gd name="T89" fmla="*/ 238 h 288"/>
                <a:gd name="T90" fmla="*/ 168 w 288"/>
                <a:gd name="T91" fmla="*/ 282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88" h="288">
                  <a:moveTo>
                    <a:pt x="162" y="288"/>
                  </a:moveTo>
                  <a:cubicBezTo>
                    <a:pt x="126" y="288"/>
                    <a:pt x="126" y="288"/>
                    <a:pt x="126" y="288"/>
                  </a:cubicBezTo>
                  <a:cubicBezTo>
                    <a:pt x="123" y="288"/>
                    <a:pt x="120" y="285"/>
                    <a:pt x="120" y="282"/>
                  </a:cubicBezTo>
                  <a:cubicBezTo>
                    <a:pt x="120" y="247"/>
                    <a:pt x="120" y="247"/>
                    <a:pt x="120" y="247"/>
                  </a:cubicBezTo>
                  <a:cubicBezTo>
                    <a:pt x="110" y="245"/>
                    <a:pt x="100" y="242"/>
                    <a:pt x="92" y="238"/>
                  </a:cubicBezTo>
                  <a:cubicBezTo>
                    <a:pt x="67" y="262"/>
                    <a:pt x="67" y="262"/>
                    <a:pt x="67" y="262"/>
                  </a:cubicBezTo>
                  <a:cubicBezTo>
                    <a:pt x="65" y="265"/>
                    <a:pt x="61" y="265"/>
                    <a:pt x="59" y="262"/>
                  </a:cubicBezTo>
                  <a:cubicBezTo>
                    <a:pt x="25" y="229"/>
                    <a:pt x="25" y="229"/>
                    <a:pt x="25" y="229"/>
                  </a:cubicBezTo>
                  <a:cubicBezTo>
                    <a:pt x="24" y="227"/>
                    <a:pt x="23" y="226"/>
                    <a:pt x="23" y="224"/>
                  </a:cubicBezTo>
                  <a:cubicBezTo>
                    <a:pt x="23" y="223"/>
                    <a:pt x="24" y="221"/>
                    <a:pt x="25" y="220"/>
                  </a:cubicBezTo>
                  <a:cubicBezTo>
                    <a:pt x="49" y="196"/>
                    <a:pt x="49" y="196"/>
                    <a:pt x="49" y="196"/>
                  </a:cubicBezTo>
                  <a:cubicBezTo>
                    <a:pt x="46" y="188"/>
                    <a:pt x="43" y="177"/>
                    <a:pt x="40" y="168"/>
                  </a:cubicBezTo>
                  <a:cubicBezTo>
                    <a:pt x="6" y="168"/>
                    <a:pt x="6" y="168"/>
                    <a:pt x="6" y="168"/>
                  </a:cubicBezTo>
                  <a:cubicBezTo>
                    <a:pt x="3" y="168"/>
                    <a:pt x="0" y="165"/>
                    <a:pt x="0" y="162"/>
                  </a:cubicBezTo>
                  <a:cubicBezTo>
                    <a:pt x="0" y="126"/>
                    <a:pt x="0" y="126"/>
                    <a:pt x="0" y="126"/>
                  </a:cubicBezTo>
                  <a:cubicBezTo>
                    <a:pt x="0" y="122"/>
                    <a:pt x="3" y="120"/>
                    <a:pt x="6" y="120"/>
                  </a:cubicBezTo>
                  <a:cubicBezTo>
                    <a:pt x="40" y="120"/>
                    <a:pt x="40" y="120"/>
                    <a:pt x="40" y="120"/>
                  </a:cubicBezTo>
                  <a:cubicBezTo>
                    <a:pt x="43" y="110"/>
                    <a:pt x="46" y="100"/>
                    <a:pt x="49" y="92"/>
                  </a:cubicBezTo>
                  <a:cubicBezTo>
                    <a:pt x="25" y="67"/>
                    <a:pt x="25" y="67"/>
                    <a:pt x="25" y="67"/>
                  </a:cubicBezTo>
                  <a:cubicBezTo>
                    <a:pt x="24" y="66"/>
                    <a:pt x="23" y="65"/>
                    <a:pt x="23" y="63"/>
                  </a:cubicBezTo>
                  <a:cubicBezTo>
                    <a:pt x="23" y="61"/>
                    <a:pt x="24" y="60"/>
                    <a:pt x="25" y="59"/>
                  </a:cubicBezTo>
                  <a:cubicBezTo>
                    <a:pt x="59" y="25"/>
                    <a:pt x="59" y="25"/>
                    <a:pt x="59" y="25"/>
                  </a:cubicBezTo>
                  <a:cubicBezTo>
                    <a:pt x="61" y="23"/>
                    <a:pt x="65" y="23"/>
                    <a:pt x="67" y="25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100" y="45"/>
                    <a:pt x="110" y="42"/>
                    <a:pt x="120" y="40"/>
                  </a:cubicBezTo>
                  <a:cubicBezTo>
                    <a:pt x="120" y="6"/>
                    <a:pt x="120" y="6"/>
                    <a:pt x="120" y="6"/>
                  </a:cubicBezTo>
                  <a:cubicBezTo>
                    <a:pt x="120" y="2"/>
                    <a:pt x="123" y="0"/>
                    <a:pt x="126" y="0"/>
                  </a:cubicBezTo>
                  <a:cubicBezTo>
                    <a:pt x="162" y="0"/>
                    <a:pt x="162" y="0"/>
                    <a:pt x="162" y="0"/>
                  </a:cubicBezTo>
                  <a:cubicBezTo>
                    <a:pt x="165" y="0"/>
                    <a:pt x="168" y="2"/>
                    <a:pt x="168" y="6"/>
                  </a:cubicBezTo>
                  <a:cubicBezTo>
                    <a:pt x="168" y="40"/>
                    <a:pt x="168" y="40"/>
                    <a:pt x="168" y="40"/>
                  </a:cubicBezTo>
                  <a:cubicBezTo>
                    <a:pt x="179" y="43"/>
                    <a:pt x="192" y="47"/>
                    <a:pt x="200" y="52"/>
                  </a:cubicBezTo>
                  <a:cubicBezTo>
                    <a:pt x="203" y="53"/>
                    <a:pt x="204" y="57"/>
                    <a:pt x="202" y="60"/>
                  </a:cubicBezTo>
                  <a:cubicBezTo>
                    <a:pt x="200" y="63"/>
                    <a:pt x="197" y="63"/>
                    <a:pt x="194" y="62"/>
                  </a:cubicBezTo>
                  <a:cubicBezTo>
                    <a:pt x="186" y="57"/>
                    <a:pt x="171" y="53"/>
                    <a:pt x="160" y="50"/>
                  </a:cubicBezTo>
                  <a:cubicBezTo>
                    <a:pt x="158" y="50"/>
                    <a:pt x="156" y="47"/>
                    <a:pt x="156" y="45"/>
                  </a:cubicBezTo>
                  <a:cubicBezTo>
                    <a:pt x="156" y="12"/>
                    <a:pt x="156" y="12"/>
                    <a:pt x="156" y="12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7"/>
                    <a:pt x="130" y="50"/>
                    <a:pt x="127" y="50"/>
                  </a:cubicBezTo>
                  <a:cubicBezTo>
                    <a:pt x="117" y="53"/>
                    <a:pt x="102" y="57"/>
                    <a:pt x="94" y="62"/>
                  </a:cubicBezTo>
                  <a:cubicBezTo>
                    <a:pt x="92" y="63"/>
                    <a:pt x="89" y="63"/>
                    <a:pt x="87" y="61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61" y="86"/>
                    <a:pt x="61" y="86"/>
                    <a:pt x="61" y="86"/>
                  </a:cubicBezTo>
                  <a:cubicBezTo>
                    <a:pt x="63" y="88"/>
                    <a:pt x="63" y="91"/>
                    <a:pt x="62" y="94"/>
                  </a:cubicBezTo>
                  <a:cubicBezTo>
                    <a:pt x="57" y="103"/>
                    <a:pt x="52" y="120"/>
                    <a:pt x="51" y="127"/>
                  </a:cubicBezTo>
                  <a:cubicBezTo>
                    <a:pt x="50" y="130"/>
                    <a:pt x="48" y="132"/>
                    <a:pt x="45" y="132"/>
                  </a:cubicBezTo>
                  <a:cubicBezTo>
                    <a:pt x="12" y="132"/>
                    <a:pt x="12" y="132"/>
                    <a:pt x="12" y="132"/>
                  </a:cubicBezTo>
                  <a:cubicBezTo>
                    <a:pt x="12" y="156"/>
                    <a:pt x="12" y="156"/>
                    <a:pt x="12" y="156"/>
                  </a:cubicBezTo>
                  <a:cubicBezTo>
                    <a:pt x="45" y="156"/>
                    <a:pt x="45" y="156"/>
                    <a:pt x="45" y="156"/>
                  </a:cubicBezTo>
                  <a:cubicBezTo>
                    <a:pt x="48" y="156"/>
                    <a:pt x="50" y="158"/>
                    <a:pt x="51" y="160"/>
                  </a:cubicBezTo>
                  <a:cubicBezTo>
                    <a:pt x="52" y="167"/>
                    <a:pt x="57" y="185"/>
                    <a:pt x="62" y="194"/>
                  </a:cubicBezTo>
                  <a:cubicBezTo>
                    <a:pt x="63" y="196"/>
                    <a:pt x="63" y="199"/>
                    <a:pt x="61" y="201"/>
                  </a:cubicBezTo>
                  <a:cubicBezTo>
                    <a:pt x="38" y="224"/>
                    <a:pt x="38" y="224"/>
                    <a:pt x="38" y="224"/>
                  </a:cubicBezTo>
                  <a:cubicBezTo>
                    <a:pt x="63" y="250"/>
                    <a:pt x="63" y="250"/>
                    <a:pt x="63" y="250"/>
                  </a:cubicBezTo>
                  <a:cubicBezTo>
                    <a:pt x="87" y="226"/>
                    <a:pt x="87" y="226"/>
                    <a:pt x="87" y="226"/>
                  </a:cubicBezTo>
                  <a:cubicBezTo>
                    <a:pt x="88" y="224"/>
                    <a:pt x="92" y="224"/>
                    <a:pt x="94" y="226"/>
                  </a:cubicBezTo>
                  <a:cubicBezTo>
                    <a:pt x="103" y="231"/>
                    <a:pt x="121" y="235"/>
                    <a:pt x="127" y="237"/>
                  </a:cubicBezTo>
                  <a:cubicBezTo>
                    <a:pt x="130" y="238"/>
                    <a:pt x="132" y="240"/>
                    <a:pt x="132" y="243"/>
                  </a:cubicBezTo>
                  <a:cubicBezTo>
                    <a:pt x="132" y="276"/>
                    <a:pt x="132" y="276"/>
                    <a:pt x="132" y="276"/>
                  </a:cubicBezTo>
                  <a:cubicBezTo>
                    <a:pt x="156" y="276"/>
                    <a:pt x="156" y="276"/>
                    <a:pt x="156" y="276"/>
                  </a:cubicBezTo>
                  <a:cubicBezTo>
                    <a:pt x="156" y="243"/>
                    <a:pt x="156" y="243"/>
                    <a:pt x="156" y="243"/>
                  </a:cubicBezTo>
                  <a:cubicBezTo>
                    <a:pt x="156" y="240"/>
                    <a:pt x="158" y="238"/>
                    <a:pt x="160" y="237"/>
                  </a:cubicBezTo>
                  <a:cubicBezTo>
                    <a:pt x="167" y="235"/>
                    <a:pt x="185" y="231"/>
                    <a:pt x="194" y="226"/>
                  </a:cubicBezTo>
                  <a:cubicBezTo>
                    <a:pt x="196" y="224"/>
                    <a:pt x="199" y="224"/>
                    <a:pt x="201" y="226"/>
                  </a:cubicBezTo>
                  <a:cubicBezTo>
                    <a:pt x="224" y="250"/>
                    <a:pt x="224" y="250"/>
                    <a:pt x="224" y="250"/>
                  </a:cubicBezTo>
                  <a:cubicBezTo>
                    <a:pt x="250" y="224"/>
                    <a:pt x="250" y="224"/>
                    <a:pt x="250" y="224"/>
                  </a:cubicBezTo>
                  <a:cubicBezTo>
                    <a:pt x="227" y="201"/>
                    <a:pt x="227" y="201"/>
                    <a:pt x="227" y="201"/>
                  </a:cubicBezTo>
                  <a:cubicBezTo>
                    <a:pt x="225" y="199"/>
                    <a:pt x="224" y="196"/>
                    <a:pt x="226" y="194"/>
                  </a:cubicBezTo>
                  <a:cubicBezTo>
                    <a:pt x="231" y="185"/>
                    <a:pt x="235" y="167"/>
                    <a:pt x="237" y="160"/>
                  </a:cubicBezTo>
                  <a:cubicBezTo>
                    <a:pt x="238" y="158"/>
                    <a:pt x="240" y="156"/>
                    <a:pt x="243" y="156"/>
                  </a:cubicBezTo>
                  <a:cubicBezTo>
                    <a:pt x="276" y="156"/>
                    <a:pt x="276" y="156"/>
                    <a:pt x="276" y="156"/>
                  </a:cubicBezTo>
                  <a:cubicBezTo>
                    <a:pt x="276" y="132"/>
                    <a:pt x="276" y="132"/>
                    <a:pt x="276" y="132"/>
                  </a:cubicBezTo>
                  <a:cubicBezTo>
                    <a:pt x="243" y="132"/>
                    <a:pt x="243" y="132"/>
                    <a:pt x="243" y="132"/>
                  </a:cubicBezTo>
                  <a:cubicBezTo>
                    <a:pt x="240" y="132"/>
                    <a:pt x="238" y="130"/>
                    <a:pt x="237" y="127"/>
                  </a:cubicBezTo>
                  <a:cubicBezTo>
                    <a:pt x="236" y="121"/>
                    <a:pt x="234" y="114"/>
                    <a:pt x="231" y="107"/>
                  </a:cubicBezTo>
                  <a:cubicBezTo>
                    <a:pt x="230" y="103"/>
                    <a:pt x="232" y="100"/>
                    <a:pt x="235" y="99"/>
                  </a:cubicBezTo>
                  <a:cubicBezTo>
                    <a:pt x="238" y="98"/>
                    <a:pt x="242" y="100"/>
                    <a:pt x="243" y="103"/>
                  </a:cubicBezTo>
                  <a:cubicBezTo>
                    <a:pt x="245" y="108"/>
                    <a:pt x="246" y="114"/>
                    <a:pt x="248" y="120"/>
                  </a:cubicBezTo>
                  <a:cubicBezTo>
                    <a:pt x="282" y="120"/>
                    <a:pt x="282" y="120"/>
                    <a:pt x="282" y="120"/>
                  </a:cubicBezTo>
                  <a:cubicBezTo>
                    <a:pt x="285" y="120"/>
                    <a:pt x="288" y="122"/>
                    <a:pt x="288" y="126"/>
                  </a:cubicBezTo>
                  <a:cubicBezTo>
                    <a:pt x="288" y="162"/>
                    <a:pt x="288" y="162"/>
                    <a:pt x="288" y="162"/>
                  </a:cubicBezTo>
                  <a:cubicBezTo>
                    <a:pt x="288" y="165"/>
                    <a:pt x="285" y="168"/>
                    <a:pt x="282" y="168"/>
                  </a:cubicBezTo>
                  <a:cubicBezTo>
                    <a:pt x="248" y="168"/>
                    <a:pt x="248" y="168"/>
                    <a:pt x="248" y="168"/>
                  </a:cubicBezTo>
                  <a:cubicBezTo>
                    <a:pt x="245" y="177"/>
                    <a:pt x="242" y="188"/>
                    <a:pt x="238" y="196"/>
                  </a:cubicBezTo>
                  <a:cubicBezTo>
                    <a:pt x="263" y="220"/>
                    <a:pt x="263" y="220"/>
                    <a:pt x="263" y="220"/>
                  </a:cubicBezTo>
                  <a:cubicBezTo>
                    <a:pt x="265" y="222"/>
                    <a:pt x="265" y="226"/>
                    <a:pt x="263" y="229"/>
                  </a:cubicBezTo>
                  <a:cubicBezTo>
                    <a:pt x="229" y="262"/>
                    <a:pt x="229" y="262"/>
                    <a:pt x="229" y="262"/>
                  </a:cubicBezTo>
                  <a:cubicBezTo>
                    <a:pt x="226" y="265"/>
                    <a:pt x="223" y="265"/>
                    <a:pt x="220" y="262"/>
                  </a:cubicBezTo>
                  <a:cubicBezTo>
                    <a:pt x="196" y="238"/>
                    <a:pt x="196" y="238"/>
                    <a:pt x="196" y="238"/>
                  </a:cubicBezTo>
                  <a:cubicBezTo>
                    <a:pt x="188" y="242"/>
                    <a:pt x="177" y="245"/>
                    <a:pt x="168" y="247"/>
                  </a:cubicBezTo>
                  <a:cubicBezTo>
                    <a:pt x="168" y="282"/>
                    <a:pt x="168" y="282"/>
                    <a:pt x="168" y="282"/>
                  </a:cubicBezTo>
                  <a:cubicBezTo>
                    <a:pt x="168" y="285"/>
                    <a:pt x="165" y="288"/>
                    <a:pt x="162" y="2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28" name="Freeform 35">
              <a:extLst>
                <a:ext uri="{FF2B5EF4-FFF2-40B4-BE49-F238E27FC236}">
                  <a16:creationId xmlns:a16="http://schemas.microsoft.com/office/drawing/2014/main" id="{34813E63-4F47-1EC0-E5C6-CA8CE37557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7" y="437"/>
              <a:ext cx="299" cy="265"/>
            </a:xfrm>
            <a:custGeom>
              <a:avLst/>
              <a:gdLst>
                <a:gd name="T0" fmla="*/ 61 w 202"/>
                <a:gd name="T1" fmla="*/ 179 h 179"/>
                <a:gd name="T2" fmla="*/ 56 w 202"/>
                <a:gd name="T3" fmla="*/ 177 h 179"/>
                <a:gd name="T4" fmla="*/ 3 w 202"/>
                <a:gd name="T5" fmla="*/ 124 h 179"/>
                <a:gd name="T6" fmla="*/ 3 w 202"/>
                <a:gd name="T7" fmla="*/ 115 h 179"/>
                <a:gd name="T8" fmla="*/ 11 w 202"/>
                <a:gd name="T9" fmla="*/ 115 h 179"/>
                <a:gd name="T10" fmla="*/ 60 w 202"/>
                <a:gd name="T11" fmla="*/ 164 h 179"/>
                <a:gd name="T12" fmla="*/ 190 w 202"/>
                <a:gd name="T13" fmla="*/ 3 h 179"/>
                <a:gd name="T14" fmla="*/ 199 w 202"/>
                <a:gd name="T15" fmla="*/ 2 h 179"/>
                <a:gd name="T16" fmla="*/ 200 w 202"/>
                <a:gd name="T17" fmla="*/ 10 h 179"/>
                <a:gd name="T18" fmla="*/ 65 w 202"/>
                <a:gd name="T19" fmla="*/ 177 h 179"/>
                <a:gd name="T20" fmla="*/ 61 w 202"/>
                <a:gd name="T21" fmla="*/ 179 h 179"/>
                <a:gd name="T22" fmla="*/ 61 w 202"/>
                <a:gd name="T23" fmla="*/ 179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2" h="179">
                  <a:moveTo>
                    <a:pt x="61" y="179"/>
                  </a:moveTo>
                  <a:cubicBezTo>
                    <a:pt x="59" y="179"/>
                    <a:pt x="57" y="179"/>
                    <a:pt x="56" y="177"/>
                  </a:cubicBezTo>
                  <a:cubicBezTo>
                    <a:pt x="3" y="124"/>
                    <a:pt x="3" y="124"/>
                    <a:pt x="3" y="124"/>
                  </a:cubicBezTo>
                  <a:cubicBezTo>
                    <a:pt x="0" y="121"/>
                    <a:pt x="0" y="118"/>
                    <a:pt x="3" y="115"/>
                  </a:cubicBezTo>
                  <a:cubicBezTo>
                    <a:pt x="5" y="113"/>
                    <a:pt x="9" y="113"/>
                    <a:pt x="11" y="115"/>
                  </a:cubicBezTo>
                  <a:cubicBezTo>
                    <a:pt x="60" y="164"/>
                    <a:pt x="60" y="164"/>
                    <a:pt x="60" y="164"/>
                  </a:cubicBezTo>
                  <a:cubicBezTo>
                    <a:pt x="190" y="3"/>
                    <a:pt x="190" y="3"/>
                    <a:pt x="190" y="3"/>
                  </a:cubicBezTo>
                  <a:cubicBezTo>
                    <a:pt x="192" y="0"/>
                    <a:pt x="196" y="0"/>
                    <a:pt x="199" y="2"/>
                  </a:cubicBezTo>
                  <a:cubicBezTo>
                    <a:pt x="201" y="4"/>
                    <a:pt x="202" y="8"/>
                    <a:pt x="200" y="10"/>
                  </a:cubicBezTo>
                  <a:cubicBezTo>
                    <a:pt x="65" y="177"/>
                    <a:pt x="65" y="177"/>
                    <a:pt x="65" y="177"/>
                  </a:cubicBezTo>
                  <a:cubicBezTo>
                    <a:pt x="64" y="178"/>
                    <a:pt x="63" y="179"/>
                    <a:pt x="61" y="179"/>
                  </a:cubicBezTo>
                  <a:cubicBezTo>
                    <a:pt x="61" y="179"/>
                    <a:pt x="61" y="179"/>
                    <a:pt x="61" y="17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</p:grpSp>
      <p:sp>
        <p:nvSpPr>
          <p:cNvPr id="102" name="Oval 101">
            <a:extLst>
              <a:ext uri="{FF2B5EF4-FFF2-40B4-BE49-F238E27FC236}">
                <a16:creationId xmlns:a16="http://schemas.microsoft.com/office/drawing/2014/main" id="{03F9167F-A075-D3A5-7007-AC5F4F12A3BF}"/>
              </a:ext>
            </a:extLst>
          </p:cNvPr>
          <p:cNvSpPr/>
          <p:nvPr/>
        </p:nvSpPr>
        <p:spPr>
          <a:xfrm flipV="1">
            <a:off x="5151775" y="5725564"/>
            <a:ext cx="814379" cy="814379"/>
          </a:xfrm>
          <a:prstGeom prst="ellipse">
            <a:avLst/>
          </a:prstGeom>
          <a:solidFill>
            <a:srgbClr val="F9F9F9"/>
          </a:solidFill>
          <a:ln w="22225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4701B81-DEEF-4E6B-C037-E9968049474B}"/>
              </a:ext>
            </a:extLst>
          </p:cNvPr>
          <p:cNvSpPr/>
          <p:nvPr/>
        </p:nvSpPr>
        <p:spPr>
          <a:xfrm>
            <a:off x="3983164" y="4944224"/>
            <a:ext cx="2623335" cy="6490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IDVS’s processes the submitted claim documents to check adequacy, classification &amp; extraction</a:t>
            </a:r>
          </a:p>
        </p:txBody>
      </p:sp>
      <p:grpSp>
        <p:nvGrpSpPr>
          <p:cNvPr id="104" name="Graphic 171">
            <a:extLst>
              <a:ext uri="{FF2B5EF4-FFF2-40B4-BE49-F238E27FC236}">
                <a16:creationId xmlns:a16="http://schemas.microsoft.com/office/drawing/2014/main" id="{D1706C65-5087-5A81-C704-C61303C06A92}"/>
              </a:ext>
            </a:extLst>
          </p:cNvPr>
          <p:cNvGrpSpPr/>
          <p:nvPr/>
        </p:nvGrpSpPr>
        <p:grpSpPr>
          <a:xfrm>
            <a:off x="5343213" y="5889163"/>
            <a:ext cx="431503" cy="487181"/>
            <a:chOff x="9754339" y="858529"/>
            <a:chExt cx="573677" cy="647700"/>
          </a:xfrm>
          <a:solidFill>
            <a:schemeClr val="tx1"/>
          </a:solidFill>
        </p:grpSpPr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13D0F6D5-73B3-1A2A-F570-307F64FD7895}"/>
                </a:ext>
              </a:extLst>
            </p:cNvPr>
            <p:cNvSpPr/>
            <p:nvPr/>
          </p:nvSpPr>
          <p:spPr>
            <a:xfrm>
              <a:off x="9758402" y="1031612"/>
              <a:ext cx="573677" cy="471896"/>
            </a:xfrm>
            <a:custGeom>
              <a:avLst/>
              <a:gdLst>
                <a:gd name="connsiteX0" fmla="*/ 383632 w 573677"/>
                <a:gd name="connsiteY0" fmla="*/ 472766 h 471895"/>
                <a:gd name="connsiteX1" fmla="*/ 122701 w 573677"/>
                <a:gd name="connsiteY1" fmla="*/ 472766 h 471895"/>
                <a:gd name="connsiteX2" fmla="*/ 108822 w 573677"/>
                <a:gd name="connsiteY2" fmla="*/ 458887 h 471895"/>
                <a:gd name="connsiteX3" fmla="*/ 108822 w 573677"/>
                <a:gd name="connsiteY3" fmla="*/ 316393 h 471895"/>
                <a:gd name="connsiteX4" fmla="*/ 7041 w 573677"/>
                <a:gd name="connsiteY4" fmla="*/ 143365 h 471895"/>
                <a:gd name="connsiteX5" fmla="*/ 19069 w 573677"/>
                <a:gd name="connsiteY5" fmla="*/ 128560 h 471895"/>
                <a:gd name="connsiteX6" fmla="*/ 33874 w 573677"/>
                <a:gd name="connsiteY6" fmla="*/ 140589 h 471895"/>
                <a:gd name="connsiteX7" fmla="*/ 130104 w 573677"/>
                <a:gd name="connsiteY7" fmla="*/ 296962 h 471895"/>
                <a:gd name="connsiteX8" fmla="*/ 136581 w 573677"/>
                <a:gd name="connsiteY8" fmla="*/ 308991 h 471895"/>
                <a:gd name="connsiteX9" fmla="*/ 136581 w 573677"/>
                <a:gd name="connsiteY9" fmla="*/ 445008 h 471895"/>
                <a:gd name="connsiteX10" fmla="*/ 369752 w 573677"/>
                <a:gd name="connsiteY10" fmla="*/ 445008 h 471895"/>
                <a:gd name="connsiteX11" fmla="*/ 369752 w 573677"/>
                <a:gd name="connsiteY11" fmla="*/ 368209 h 471895"/>
                <a:gd name="connsiteX12" fmla="*/ 373454 w 573677"/>
                <a:gd name="connsiteY12" fmla="*/ 358031 h 471895"/>
                <a:gd name="connsiteX13" fmla="*/ 383632 w 573677"/>
                <a:gd name="connsiteY13" fmla="*/ 354330 h 471895"/>
                <a:gd name="connsiteX14" fmla="*/ 470609 w 573677"/>
                <a:gd name="connsiteY14" fmla="*/ 336749 h 471895"/>
                <a:gd name="connsiteX15" fmla="*/ 488189 w 573677"/>
                <a:gd name="connsiteY15" fmla="*/ 224790 h 471895"/>
                <a:gd name="connsiteX16" fmla="*/ 491890 w 573677"/>
                <a:gd name="connsiteY16" fmla="*/ 214612 h 471895"/>
                <a:gd name="connsiteX17" fmla="*/ 502068 w 573677"/>
                <a:gd name="connsiteY17" fmla="*/ 210911 h 471895"/>
                <a:gd name="connsiteX18" fmla="*/ 540005 w 573677"/>
                <a:gd name="connsiteY18" fmla="*/ 210911 h 471895"/>
                <a:gd name="connsiteX19" fmla="*/ 544631 w 573677"/>
                <a:gd name="connsiteY19" fmla="*/ 209060 h 471895"/>
                <a:gd name="connsiteX20" fmla="*/ 544631 w 573677"/>
                <a:gd name="connsiteY20" fmla="*/ 204434 h 471895"/>
                <a:gd name="connsiteX21" fmla="*/ 544631 w 573677"/>
                <a:gd name="connsiteY21" fmla="*/ 198882 h 471895"/>
                <a:gd name="connsiteX22" fmla="*/ 511321 w 573677"/>
                <a:gd name="connsiteY22" fmla="*/ 116531 h 471895"/>
                <a:gd name="connsiteX23" fmla="*/ 489114 w 573677"/>
                <a:gd name="connsiteY23" fmla="*/ 65641 h 471895"/>
                <a:gd name="connsiteX24" fmla="*/ 484488 w 573677"/>
                <a:gd name="connsiteY24" fmla="*/ 24003 h 471895"/>
                <a:gd name="connsiteX25" fmla="*/ 494666 w 573677"/>
                <a:gd name="connsiteY25" fmla="*/ 7348 h 471895"/>
                <a:gd name="connsiteX26" fmla="*/ 511321 w 573677"/>
                <a:gd name="connsiteY26" fmla="*/ 17526 h 471895"/>
                <a:gd name="connsiteX27" fmla="*/ 516873 w 573677"/>
                <a:gd name="connsiteY27" fmla="*/ 65641 h 471895"/>
                <a:gd name="connsiteX28" fmla="*/ 535379 w 573677"/>
                <a:gd name="connsiteY28" fmla="*/ 102652 h 471895"/>
                <a:gd name="connsiteX29" fmla="*/ 572390 w 573677"/>
                <a:gd name="connsiteY29" fmla="*/ 200732 h 471895"/>
                <a:gd name="connsiteX30" fmla="*/ 572390 w 573677"/>
                <a:gd name="connsiteY30" fmla="*/ 204434 h 471895"/>
                <a:gd name="connsiteX31" fmla="*/ 566838 w 573677"/>
                <a:gd name="connsiteY31" fmla="*/ 223865 h 471895"/>
                <a:gd name="connsiteX32" fmla="*/ 540930 w 573677"/>
                <a:gd name="connsiteY32" fmla="*/ 237744 h 471895"/>
                <a:gd name="connsiteX33" fmla="*/ 515022 w 573677"/>
                <a:gd name="connsiteY33" fmla="*/ 237744 h 471895"/>
                <a:gd name="connsiteX34" fmla="*/ 490040 w 573677"/>
                <a:gd name="connsiteY34" fmla="*/ 355255 h 471895"/>
                <a:gd name="connsiteX35" fmla="*/ 397511 w 573677"/>
                <a:gd name="connsiteY35" fmla="*/ 381163 h 471895"/>
                <a:gd name="connsiteX36" fmla="*/ 397511 w 573677"/>
                <a:gd name="connsiteY36" fmla="*/ 457962 h 471895"/>
                <a:gd name="connsiteX37" fmla="*/ 383632 w 573677"/>
                <a:gd name="connsiteY37" fmla="*/ 472766 h 471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573677" h="471895">
                  <a:moveTo>
                    <a:pt x="383632" y="472766"/>
                  </a:moveTo>
                  <a:lnTo>
                    <a:pt x="122701" y="472766"/>
                  </a:lnTo>
                  <a:cubicBezTo>
                    <a:pt x="115299" y="472766"/>
                    <a:pt x="108822" y="466289"/>
                    <a:pt x="108822" y="458887"/>
                  </a:cubicBezTo>
                  <a:lnTo>
                    <a:pt x="108822" y="316393"/>
                  </a:lnTo>
                  <a:cubicBezTo>
                    <a:pt x="48678" y="277531"/>
                    <a:pt x="14443" y="220163"/>
                    <a:pt x="7041" y="143365"/>
                  </a:cubicBezTo>
                  <a:cubicBezTo>
                    <a:pt x="6115" y="135962"/>
                    <a:pt x="11667" y="128560"/>
                    <a:pt x="19069" y="128560"/>
                  </a:cubicBezTo>
                  <a:cubicBezTo>
                    <a:pt x="26472" y="127635"/>
                    <a:pt x="33874" y="133187"/>
                    <a:pt x="33874" y="140589"/>
                  </a:cubicBezTo>
                  <a:cubicBezTo>
                    <a:pt x="41276" y="210911"/>
                    <a:pt x="73661" y="263652"/>
                    <a:pt x="130104" y="296962"/>
                  </a:cubicBezTo>
                  <a:cubicBezTo>
                    <a:pt x="134730" y="299738"/>
                    <a:pt x="136581" y="304364"/>
                    <a:pt x="136581" y="308991"/>
                  </a:cubicBezTo>
                  <a:lnTo>
                    <a:pt x="136581" y="445008"/>
                  </a:lnTo>
                  <a:lnTo>
                    <a:pt x="369752" y="445008"/>
                  </a:lnTo>
                  <a:lnTo>
                    <a:pt x="369752" y="368209"/>
                  </a:lnTo>
                  <a:cubicBezTo>
                    <a:pt x="369752" y="364508"/>
                    <a:pt x="371603" y="360807"/>
                    <a:pt x="373454" y="358031"/>
                  </a:cubicBezTo>
                  <a:cubicBezTo>
                    <a:pt x="376229" y="355255"/>
                    <a:pt x="379005" y="353405"/>
                    <a:pt x="383632" y="354330"/>
                  </a:cubicBezTo>
                  <a:cubicBezTo>
                    <a:pt x="436373" y="354330"/>
                    <a:pt x="456729" y="350629"/>
                    <a:pt x="470609" y="336749"/>
                  </a:cubicBezTo>
                  <a:cubicBezTo>
                    <a:pt x="483563" y="323795"/>
                    <a:pt x="488189" y="263652"/>
                    <a:pt x="488189" y="224790"/>
                  </a:cubicBezTo>
                  <a:cubicBezTo>
                    <a:pt x="488189" y="221089"/>
                    <a:pt x="490040" y="217388"/>
                    <a:pt x="491890" y="214612"/>
                  </a:cubicBezTo>
                  <a:cubicBezTo>
                    <a:pt x="494666" y="211836"/>
                    <a:pt x="498367" y="210911"/>
                    <a:pt x="502068" y="210911"/>
                  </a:cubicBezTo>
                  <a:cubicBezTo>
                    <a:pt x="502068" y="210911"/>
                    <a:pt x="524275" y="211836"/>
                    <a:pt x="540005" y="210911"/>
                  </a:cubicBezTo>
                  <a:cubicBezTo>
                    <a:pt x="541856" y="210911"/>
                    <a:pt x="543706" y="209985"/>
                    <a:pt x="544631" y="209060"/>
                  </a:cubicBezTo>
                  <a:cubicBezTo>
                    <a:pt x="544631" y="209060"/>
                    <a:pt x="544631" y="206284"/>
                    <a:pt x="544631" y="204434"/>
                  </a:cubicBezTo>
                  <a:cubicBezTo>
                    <a:pt x="544631" y="202583"/>
                    <a:pt x="544631" y="200732"/>
                    <a:pt x="544631" y="198882"/>
                  </a:cubicBezTo>
                  <a:cubicBezTo>
                    <a:pt x="546482" y="177600"/>
                    <a:pt x="526126" y="142439"/>
                    <a:pt x="511321" y="116531"/>
                  </a:cubicBezTo>
                  <a:cubicBezTo>
                    <a:pt x="497442" y="91549"/>
                    <a:pt x="489114" y="76744"/>
                    <a:pt x="489114" y="65641"/>
                  </a:cubicBezTo>
                  <a:cubicBezTo>
                    <a:pt x="489114" y="50836"/>
                    <a:pt x="487264" y="36957"/>
                    <a:pt x="484488" y="24003"/>
                  </a:cubicBezTo>
                  <a:cubicBezTo>
                    <a:pt x="482637" y="16601"/>
                    <a:pt x="487264" y="9198"/>
                    <a:pt x="494666" y="7348"/>
                  </a:cubicBezTo>
                  <a:cubicBezTo>
                    <a:pt x="502068" y="5497"/>
                    <a:pt x="509471" y="10124"/>
                    <a:pt x="511321" y="17526"/>
                  </a:cubicBezTo>
                  <a:cubicBezTo>
                    <a:pt x="515022" y="33256"/>
                    <a:pt x="516873" y="48986"/>
                    <a:pt x="516873" y="65641"/>
                  </a:cubicBezTo>
                  <a:cubicBezTo>
                    <a:pt x="516873" y="71192"/>
                    <a:pt x="527976" y="89698"/>
                    <a:pt x="535379" y="102652"/>
                  </a:cubicBezTo>
                  <a:cubicBezTo>
                    <a:pt x="553884" y="135037"/>
                    <a:pt x="574241" y="171123"/>
                    <a:pt x="572390" y="200732"/>
                  </a:cubicBezTo>
                  <a:cubicBezTo>
                    <a:pt x="572390" y="201658"/>
                    <a:pt x="572390" y="203508"/>
                    <a:pt x="572390" y="204434"/>
                  </a:cubicBezTo>
                  <a:cubicBezTo>
                    <a:pt x="572390" y="209985"/>
                    <a:pt x="572390" y="217388"/>
                    <a:pt x="566838" y="223865"/>
                  </a:cubicBezTo>
                  <a:cubicBezTo>
                    <a:pt x="561287" y="232192"/>
                    <a:pt x="551108" y="237744"/>
                    <a:pt x="540930" y="237744"/>
                  </a:cubicBezTo>
                  <a:cubicBezTo>
                    <a:pt x="532603" y="237744"/>
                    <a:pt x="523350" y="237744"/>
                    <a:pt x="515022" y="237744"/>
                  </a:cubicBezTo>
                  <a:cubicBezTo>
                    <a:pt x="515022" y="269204"/>
                    <a:pt x="511321" y="333974"/>
                    <a:pt x="490040" y="355255"/>
                  </a:cubicBezTo>
                  <a:cubicBezTo>
                    <a:pt x="469683" y="375611"/>
                    <a:pt x="441925" y="380238"/>
                    <a:pt x="397511" y="381163"/>
                  </a:cubicBezTo>
                  <a:lnTo>
                    <a:pt x="397511" y="457962"/>
                  </a:lnTo>
                  <a:cubicBezTo>
                    <a:pt x="397511" y="466289"/>
                    <a:pt x="391034" y="472766"/>
                    <a:pt x="383632" y="4727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0DFA5F99-907E-6A40-054B-0EA7FE8F4C40}"/>
                </a:ext>
              </a:extLst>
            </p:cNvPr>
            <p:cNvSpPr/>
            <p:nvPr/>
          </p:nvSpPr>
          <p:spPr>
            <a:xfrm>
              <a:off x="10044416" y="933015"/>
              <a:ext cx="92529" cy="129540"/>
            </a:xfrm>
            <a:custGeom>
              <a:avLst/>
              <a:gdLst>
                <a:gd name="connsiteX0" fmla="*/ 20819 w 92528"/>
                <a:gd name="connsiteY0" fmla="*/ 128152 h 129540"/>
                <a:gd name="connsiteX1" fmla="*/ 6940 w 92528"/>
                <a:gd name="connsiteY1" fmla="*/ 114273 h 129540"/>
                <a:gd name="connsiteX2" fmla="*/ 6940 w 92528"/>
                <a:gd name="connsiteY2" fmla="*/ 95767 h 129540"/>
                <a:gd name="connsiteX3" fmla="*/ 13417 w 92528"/>
                <a:gd name="connsiteY3" fmla="*/ 84664 h 129540"/>
                <a:gd name="connsiteX4" fmla="*/ 64307 w 92528"/>
                <a:gd name="connsiteY4" fmla="*/ 50428 h 129540"/>
                <a:gd name="connsiteX5" fmla="*/ 64307 w 92528"/>
                <a:gd name="connsiteY5" fmla="*/ 20819 h 129540"/>
                <a:gd name="connsiteX6" fmla="*/ 78187 w 92528"/>
                <a:gd name="connsiteY6" fmla="*/ 6940 h 129540"/>
                <a:gd name="connsiteX7" fmla="*/ 92066 w 92528"/>
                <a:gd name="connsiteY7" fmla="*/ 20819 h 129540"/>
                <a:gd name="connsiteX8" fmla="*/ 92066 w 92528"/>
                <a:gd name="connsiteY8" fmla="*/ 57830 h 129540"/>
                <a:gd name="connsiteX9" fmla="*/ 85589 w 92528"/>
                <a:gd name="connsiteY9" fmla="*/ 68934 h 129540"/>
                <a:gd name="connsiteX10" fmla="*/ 34698 w 92528"/>
                <a:gd name="connsiteY10" fmla="*/ 103169 h 129540"/>
                <a:gd name="connsiteX11" fmla="*/ 34698 w 92528"/>
                <a:gd name="connsiteY11" fmla="*/ 115198 h 129540"/>
                <a:gd name="connsiteX12" fmla="*/ 20819 w 92528"/>
                <a:gd name="connsiteY12" fmla="*/ 128152 h 129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528" h="129540">
                  <a:moveTo>
                    <a:pt x="20819" y="128152"/>
                  </a:moveTo>
                  <a:cubicBezTo>
                    <a:pt x="13417" y="128152"/>
                    <a:pt x="6940" y="121675"/>
                    <a:pt x="6940" y="114273"/>
                  </a:cubicBezTo>
                  <a:lnTo>
                    <a:pt x="6940" y="95767"/>
                  </a:lnTo>
                  <a:cubicBezTo>
                    <a:pt x="6940" y="91141"/>
                    <a:pt x="8790" y="86514"/>
                    <a:pt x="13417" y="84664"/>
                  </a:cubicBezTo>
                  <a:lnTo>
                    <a:pt x="64307" y="50428"/>
                  </a:lnTo>
                  <a:lnTo>
                    <a:pt x="64307" y="20819"/>
                  </a:lnTo>
                  <a:cubicBezTo>
                    <a:pt x="64307" y="13417"/>
                    <a:pt x="70784" y="6940"/>
                    <a:pt x="78187" y="6940"/>
                  </a:cubicBezTo>
                  <a:cubicBezTo>
                    <a:pt x="85589" y="6940"/>
                    <a:pt x="92066" y="13417"/>
                    <a:pt x="92066" y="20819"/>
                  </a:cubicBezTo>
                  <a:lnTo>
                    <a:pt x="92066" y="57830"/>
                  </a:lnTo>
                  <a:cubicBezTo>
                    <a:pt x="92066" y="62457"/>
                    <a:pt x="90215" y="67083"/>
                    <a:pt x="85589" y="68934"/>
                  </a:cubicBezTo>
                  <a:lnTo>
                    <a:pt x="34698" y="103169"/>
                  </a:lnTo>
                  <a:lnTo>
                    <a:pt x="34698" y="115198"/>
                  </a:lnTo>
                  <a:cubicBezTo>
                    <a:pt x="34698" y="121675"/>
                    <a:pt x="28221" y="128152"/>
                    <a:pt x="20819" y="1281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6DD96D1F-805B-6153-8004-4B6469220E56}"/>
                </a:ext>
              </a:extLst>
            </p:cNvPr>
            <p:cNvSpPr/>
            <p:nvPr/>
          </p:nvSpPr>
          <p:spPr>
            <a:xfrm>
              <a:off x="9997226" y="908032"/>
              <a:ext cx="37011" cy="111034"/>
            </a:xfrm>
            <a:custGeom>
              <a:avLst/>
              <a:gdLst>
                <a:gd name="connsiteX0" fmla="*/ 20819 w 37011"/>
                <a:gd name="connsiteY0" fmla="*/ 105020 h 111034"/>
                <a:gd name="connsiteX1" fmla="*/ 6940 w 37011"/>
                <a:gd name="connsiteY1" fmla="*/ 91141 h 111034"/>
                <a:gd name="connsiteX2" fmla="*/ 6940 w 37011"/>
                <a:gd name="connsiteY2" fmla="*/ 20819 h 111034"/>
                <a:gd name="connsiteX3" fmla="*/ 20819 w 37011"/>
                <a:gd name="connsiteY3" fmla="*/ 6940 h 111034"/>
                <a:gd name="connsiteX4" fmla="*/ 34698 w 37011"/>
                <a:gd name="connsiteY4" fmla="*/ 20819 h 111034"/>
                <a:gd name="connsiteX5" fmla="*/ 34698 w 37011"/>
                <a:gd name="connsiteY5" fmla="*/ 91141 h 111034"/>
                <a:gd name="connsiteX6" fmla="*/ 20819 w 37011"/>
                <a:gd name="connsiteY6" fmla="*/ 105020 h 111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11" h="111034">
                  <a:moveTo>
                    <a:pt x="20819" y="105020"/>
                  </a:moveTo>
                  <a:cubicBezTo>
                    <a:pt x="13417" y="105020"/>
                    <a:pt x="6940" y="98543"/>
                    <a:pt x="6940" y="91141"/>
                  </a:cubicBezTo>
                  <a:lnTo>
                    <a:pt x="6940" y="20819"/>
                  </a:lnTo>
                  <a:cubicBezTo>
                    <a:pt x="6940" y="13417"/>
                    <a:pt x="13417" y="6940"/>
                    <a:pt x="20819" y="6940"/>
                  </a:cubicBezTo>
                  <a:cubicBezTo>
                    <a:pt x="28221" y="6940"/>
                    <a:pt x="34698" y="13417"/>
                    <a:pt x="34698" y="20819"/>
                  </a:cubicBezTo>
                  <a:lnTo>
                    <a:pt x="34698" y="91141"/>
                  </a:lnTo>
                  <a:cubicBezTo>
                    <a:pt x="34698" y="99468"/>
                    <a:pt x="28221" y="105020"/>
                    <a:pt x="20819" y="1050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6D42EE58-EBB1-1BEC-F8D5-3BAC4AFBEFA2}"/>
                </a:ext>
              </a:extLst>
            </p:cNvPr>
            <p:cNvSpPr/>
            <p:nvPr/>
          </p:nvSpPr>
          <p:spPr>
            <a:xfrm>
              <a:off x="10072175" y="873796"/>
              <a:ext cx="92529" cy="92529"/>
            </a:xfrm>
            <a:custGeom>
              <a:avLst/>
              <a:gdLst>
                <a:gd name="connsiteX0" fmla="*/ 49503 w 92528"/>
                <a:gd name="connsiteY0" fmla="*/ 92066 h 92528"/>
                <a:gd name="connsiteX1" fmla="*/ 6940 w 92528"/>
                <a:gd name="connsiteY1" fmla="*/ 49503 h 92528"/>
                <a:gd name="connsiteX2" fmla="*/ 49503 w 92528"/>
                <a:gd name="connsiteY2" fmla="*/ 6940 h 92528"/>
                <a:gd name="connsiteX3" fmla="*/ 92066 w 92528"/>
                <a:gd name="connsiteY3" fmla="*/ 49503 h 92528"/>
                <a:gd name="connsiteX4" fmla="*/ 49503 w 92528"/>
                <a:gd name="connsiteY4" fmla="*/ 92066 h 92528"/>
                <a:gd name="connsiteX5" fmla="*/ 49503 w 92528"/>
                <a:gd name="connsiteY5" fmla="*/ 35624 h 92528"/>
                <a:gd name="connsiteX6" fmla="*/ 34698 w 92528"/>
                <a:gd name="connsiteY6" fmla="*/ 50428 h 92528"/>
                <a:gd name="connsiteX7" fmla="*/ 49503 w 92528"/>
                <a:gd name="connsiteY7" fmla="*/ 65233 h 92528"/>
                <a:gd name="connsiteX8" fmla="*/ 64307 w 92528"/>
                <a:gd name="connsiteY8" fmla="*/ 50428 h 92528"/>
                <a:gd name="connsiteX9" fmla="*/ 49503 w 92528"/>
                <a:gd name="connsiteY9" fmla="*/ 35624 h 92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2528" h="92528">
                  <a:moveTo>
                    <a:pt x="49503" y="92066"/>
                  </a:moveTo>
                  <a:cubicBezTo>
                    <a:pt x="26371" y="92066"/>
                    <a:pt x="6940" y="72635"/>
                    <a:pt x="6940" y="49503"/>
                  </a:cubicBezTo>
                  <a:cubicBezTo>
                    <a:pt x="6940" y="26371"/>
                    <a:pt x="26371" y="6940"/>
                    <a:pt x="49503" y="6940"/>
                  </a:cubicBezTo>
                  <a:cubicBezTo>
                    <a:pt x="72635" y="6940"/>
                    <a:pt x="92066" y="26371"/>
                    <a:pt x="92066" y="49503"/>
                  </a:cubicBezTo>
                  <a:cubicBezTo>
                    <a:pt x="92066" y="72635"/>
                    <a:pt x="72635" y="92066"/>
                    <a:pt x="49503" y="92066"/>
                  </a:cubicBezTo>
                  <a:close/>
                  <a:moveTo>
                    <a:pt x="49503" y="35624"/>
                  </a:moveTo>
                  <a:cubicBezTo>
                    <a:pt x="41175" y="35624"/>
                    <a:pt x="34698" y="42100"/>
                    <a:pt x="34698" y="50428"/>
                  </a:cubicBezTo>
                  <a:cubicBezTo>
                    <a:pt x="34698" y="58756"/>
                    <a:pt x="41175" y="65233"/>
                    <a:pt x="49503" y="65233"/>
                  </a:cubicBezTo>
                  <a:cubicBezTo>
                    <a:pt x="57830" y="65233"/>
                    <a:pt x="64307" y="58756"/>
                    <a:pt x="64307" y="50428"/>
                  </a:cubicBezTo>
                  <a:cubicBezTo>
                    <a:pt x="64307" y="42100"/>
                    <a:pt x="57830" y="35624"/>
                    <a:pt x="49503" y="3562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98D3CF2-3ED9-F374-6C0B-0FC4C1788406}"/>
                </a:ext>
              </a:extLst>
            </p:cNvPr>
            <p:cNvSpPr/>
            <p:nvPr/>
          </p:nvSpPr>
          <p:spPr>
            <a:xfrm>
              <a:off x="9891744" y="931164"/>
              <a:ext cx="92529" cy="129540"/>
            </a:xfrm>
            <a:custGeom>
              <a:avLst/>
              <a:gdLst>
                <a:gd name="connsiteX0" fmla="*/ 78187 w 92528"/>
                <a:gd name="connsiteY0" fmla="*/ 130003 h 129540"/>
                <a:gd name="connsiteX1" fmla="*/ 64307 w 92528"/>
                <a:gd name="connsiteY1" fmla="*/ 116123 h 129540"/>
                <a:gd name="connsiteX2" fmla="*/ 64307 w 92528"/>
                <a:gd name="connsiteY2" fmla="*/ 103169 h 129540"/>
                <a:gd name="connsiteX3" fmla="*/ 13417 w 92528"/>
                <a:gd name="connsiteY3" fmla="*/ 69859 h 129540"/>
                <a:gd name="connsiteX4" fmla="*/ 6940 w 92528"/>
                <a:gd name="connsiteY4" fmla="*/ 57830 h 129540"/>
                <a:gd name="connsiteX5" fmla="*/ 6940 w 92528"/>
                <a:gd name="connsiteY5" fmla="*/ 20819 h 129540"/>
                <a:gd name="connsiteX6" fmla="*/ 20819 w 92528"/>
                <a:gd name="connsiteY6" fmla="*/ 6940 h 129540"/>
                <a:gd name="connsiteX7" fmla="*/ 34698 w 92528"/>
                <a:gd name="connsiteY7" fmla="*/ 20819 h 129540"/>
                <a:gd name="connsiteX8" fmla="*/ 34698 w 92528"/>
                <a:gd name="connsiteY8" fmla="*/ 50428 h 129540"/>
                <a:gd name="connsiteX9" fmla="*/ 85589 w 92528"/>
                <a:gd name="connsiteY9" fmla="*/ 83738 h 129540"/>
                <a:gd name="connsiteX10" fmla="*/ 92066 w 92528"/>
                <a:gd name="connsiteY10" fmla="*/ 95767 h 129540"/>
                <a:gd name="connsiteX11" fmla="*/ 92066 w 92528"/>
                <a:gd name="connsiteY11" fmla="*/ 116123 h 129540"/>
                <a:gd name="connsiteX12" fmla="*/ 78187 w 92528"/>
                <a:gd name="connsiteY12" fmla="*/ 130003 h 129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528" h="129540">
                  <a:moveTo>
                    <a:pt x="78187" y="130003"/>
                  </a:moveTo>
                  <a:cubicBezTo>
                    <a:pt x="70784" y="130003"/>
                    <a:pt x="64307" y="123526"/>
                    <a:pt x="64307" y="116123"/>
                  </a:cubicBezTo>
                  <a:lnTo>
                    <a:pt x="64307" y="103169"/>
                  </a:lnTo>
                  <a:lnTo>
                    <a:pt x="13417" y="69859"/>
                  </a:lnTo>
                  <a:cubicBezTo>
                    <a:pt x="9715" y="67083"/>
                    <a:pt x="6940" y="63382"/>
                    <a:pt x="6940" y="57830"/>
                  </a:cubicBezTo>
                  <a:lnTo>
                    <a:pt x="6940" y="20819"/>
                  </a:lnTo>
                  <a:cubicBezTo>
                    <a:pt x="6940" y="13417"/>
                    <a:pt x="13417" y="6940"/>
                    <a:pt x="20819" y="6940"/>
                  </a:cubicBezTo>
                  <a:cubicBezTo>
                    <a:pt x="28221" y="6940"/>
                    <a:pt x="34698" y="13417"/>
                    <a:pt x="34698" y="20819"/>
                  </a:cubicBezTo>
                  <a:lnTo>
                    <a:pt x="34698" y="50428"/>
                  </a:lnTo>
                  <a:lnTo>
                    <a:pt x="85589" y="83738"/>
                  </a:lnTo>
                  <a:cubicBezTo>
                    <a:pt x="89290" y="86514"/>
                    <a:pt x="92066" y="90215"/>
                    <a:pt x="92066" y="95767"/>
                  </a:cubicBezTo>
                  <a:lnTo>
                    <a:pt x="92066" y="116123"/>
                  </a:lnTo>
                  <a:cubicBezTo>
                    <a:pt x="92066" y="123526"/>
                    <a:pt x="86514" y="130003"/>
                    <a:pt x="78187" y="13000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D70F6A79-76C1-9FA0-E521-8B189B14FD33}"/>
                </a:ext>
              </a:extLst>
            </p:cNvPr>
            <p:cNvSpPr/>
            <p:nvPr/>
          </p:nvSpPr>
          <p:spPr>
            <a:xfrm>
              <a:off x="9863985" y="873796"/>
              <a:ext cx="92529" cy="92529"/>
            </a:xfrm>
            <a:custGeom>
              <a:avLst/>
              <a:gdLst>
                <a:gd name="connsiteX0" fmla="*/ 49503 w 92528"/>
                <a:gd name="connsiteY0" fmla="*/ 92066 h 92528"/>
                <a:gd name="connsiteX1" fmla="*/ 6940 w 92528"/>
                <a:gd name="connsiteY1" fmla="*/ 49503 h 92528"/>
                <a:gd name="connsiteX2" fmla="*/ 49503 w 92528"/>
                <a:gd name="connsiteY2" fmla="*/ 6940 h 92528"/>
                <a:gd name="connsiteX3" fmla="*/ 92066 w 92528"/>
                <a:gd name="connsiteY3" fmla="*/ 49503 h 92528"/>
                <a:gd name="connsiteX4" fmla="*/ 49503 w 92528"/>
                <a:gd name="connsiteY4" fmla="*/ 92066 h 92528"/>
                <a:gd name="connsiteX5" fmla="*/ 49503 w 92528"/>
                <a:gd name="connsiteY5" fmla="*/ 35624 h 92528"/>
                <a:gd name="connsiteX6" fmla="*/ 34698 w 92528"/>
                <a:gd name="connsiteY6" fmla="*/ 50428 h 92528"/>
                <a:gd name="connsiteX7" fmla="*/ 49503 w 92528"/>
                <a:gd name="connsiteY7" fmla="*/ 65233 h 92528"/>
                <a:gd name="connsiteX8" fmla="*/ 64307 w 92528"/>
                <a:gd name="connsiteY8" fmla="*/ 50428 h 92528"/>
                <a:gd name="connsiteX9" fmla="*/ 49503 w 92528"/>
                <a:gd name="connsiteY9" fmla="*/ 35624 h 92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2528" h="92528">
                  <a:moveTo>
                    <a:pt x="49503" y="92066"/>
                  </a:moveTo>
                  <a:cubicBezTo>
                    <a:pt x="26371" y="92066"/>
                    <a:pt x="6940" y="72635"/>
                    <a:pt x="6940" y="49503"/>
                  </a:cubicBezTo>
                  <a:cubicBezTo>
                    <a:pt x="6940" y="26371"/>
                    <a:pt x="26371" y="6940"/>
                    <a:pt x="49503" y="6940"/>
                  </a:cubicBezTo>
                  <a:cubicBezTo>
                    <a:pt x="72635" y="6940"/>
                    <a:pt x="92066" y="26371"/>
                    <a:pt x="92066" y="49503"/>
                  </a:cubicBezTo>
                  <a:cubicBezTo>
                    <a:pt x="92066" y="72635"/>
                    <a:pt x="72635" y="92066"/>
                    <a:pt x="49503" y="92066"/>
                  </a:cubicBezTo>
                  <a:close/>
                  <a:moveTo>
                    <a:pt x="49503" y="35624"/>
                  </a:moveTo>
                  <a:cubicBezTo>
                    <a:pt x="41175" y="35624"/>
                    <a:pt x="34698" y="42100"/>
                    <a:pt x="34698" y="50428"/>
                  </a:cubicBezTo>
                  <a:cubicBezTo>
                    <a:pt x="34698" y="58756"/>
                    <a:pt x="41175" y="65233"/>
                    <a:pt x="49503" y="65233"/>
                  </a:cubicBezTo>
                  <a:cubicBezTo>
                    <a:pt x="57830" y="65233"/>
                    <a:pt x="64307" y="58756"/>
                    <a:pt x="64307" y="50428"/>
                  </a:cubicBezTo>
                  <a:cubicBezTo>
                    <a:pt x="64307" y="42100"/>
                    <a:pt x="57830" y="35624"/>
                    <a:pt x="49503" y="3562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1B316E00-28FE-5C8B-2B10-1283E5B0A0CB}"/>
                </a:ext>
              </a:extLst>
            </p:cNvPr>
            <p:cNvSpPr/>
            <p:nvPr/>
          </p:nvSpPr>
          <p:spPr>
            <a:xfrm>
              <a:off x="9968543" y="851589"/>
              <a:ext cx="92529" cy="92529"/>
            </a:xfrm>
            <a:custGeom>
              <a:avLst/>
              <a:gdLst>
                <a:gd name="connsiteX0" fmla="*/ 49503 w 92528"/>
                <a:gd name="connsiteY0" fmla="*/ 91141 h 92528"/>
                <a:gd name="connsiteX1" fmla="*/ 6940 w 92528"/>
                <a:gd name="connsiteY1" fmla="*/ 48578 h 92528"/>
                <a:gd name="connsiteX2" fmla="*/ 49503 w 92528"/>
                <a:gd name="connsiteY2" fmla="*/ 6940 h 92528"/>
                <a:gd name="connsiteX3" fmla="*/ 91141 w 92528"/>
                <a:gd name="connsiteY3" fmla="*/ 49503 h 92528"/>
                <a:gd name="connsiteX4" fmla="*/ 49503 w 92528"/>
                <a:gd name="connsiteY4" fmla="*/ 91141 h 92528"/>
                <a:gd name="connsiteX5" fmla="*/ 49503 w 92528"/>
                <a:gd name="connsiteY5" fmla="*/ 34698 h 92528"/>
                <a:gd name="connsiteX6" fmla="*/ 34698 w 92528"/>
                <a:gd name="connsiteY6" fmla="*/ 49503 h 92528"/>
                <a:gd name="connsiteX7" fmla="*/ 49503 w 92528"/>
                <a:gd name="connsiteY7" fmla="*/ 64307 h 92528"/>
                <a:gd name="connsiteX8" fmla="*/ 63382 w 92528"/>
                <a:gd name="connsiteY8" fmla="*/ 49503 h 92528"/>
                <a:gd name="connsiteX9" fmla="*/ 49503 w 92528"/>
                <a:gd name="connsiteY9" fmla="*/ 34698 h 92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2528" h="92528">
                  <a:moveTo>
                    <a:pt x="49503" y="91141"/>
                  </a:moveTo>
                  <a:cubicBezTo>
                    <a:pt x="26371" y="91141"/>
                    <a:pt x="6940" y="71710"/>
                    <a:pt x="6940" y="48578"/>
                  </a:cubicBezTo>
                  <a:cubicBezTo>
                    <a:pt x="6940" y="25445"/>
                    <a:pt x="25445" y="6940"/>
                    <a:pt x="49503" y="6940"/>
                  </a:cubicBezTo>
                  <a:cubicBezTo>
                    <a:pt x="73560" y="6940"/>
                    <a:pt x="91141" y="26371"/>
                    <a:pt x="91141" y="49503"/>
                  </a:cubicBezTo>
                  <a:cubicBezTo>
                    <a:pt x="91141" y="72635"/>
                    <a:pt x="72635" y="91141"/>
                    <a:pt x="49503" y="91141"/>
                  </a:cubicBezTo>
                  <a:close/>
                  <a:moveTo>
                    <a:pt x="49503" y="34698"/>
                  </a:moveTo>
                  <a:cubicBezTo>
                    <a:pt x="41175" y="34698"/>
                    <a:pt x="34698" y="41175"/>
                    <a:pt x="34698" y="49503"/>
                  </a:cubicBezTo>
                  <a:cubicBezTo>
                    <a:pt x="34698" y="57830"/>
                    <a:pt x="41175" y="64307"/>
                    <a:pt x="49503" y="64307"/>
                  </a:cubicBezTo>
                  <a:cubicBezTo>
                    <a:pt x="57830" y="64307"/>
                    <a:pt x="63382" y="56905"/>
                    <a:pt x="63382" y="49503"/>
                  </a:cubicBezTo>
                  <a:cubicBezTo>
                    <a:pt x="63382" y="42101"/>
                    <a:pt x="56905" y="34698"/>
                    <a:pt x="49503" y="3469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80E3F4C6-DD12-1FA9-EF8F-177871AC2525}"/>
                </a:ext>
              </a:extLst>
            </p:cNvPr>
            <p:cNvSpPr/>
            <p:nvPr/>
          </p:nvSpPr>
          <p:spPr>
            <a:xfrm>
              <a:off x="9835913" y="988217"/>
              <a:ext cx="101781" cy="111034"/>
            </a:xfrm>
            <a:custGeom>
              <a:avLst/>
              <a:gdLst>
                <a:gd name="connsiteX0" fmla="*/ 86828 w 101781"/>
                <a:gd name="connsiteY0" fmla="*/ 110886 h 111034"/>
                <a:gd name="connsiteX1" fmla="*/ 72949 w 101781"/>
                <a:gd name="connsiteY1" fmla="*/ 97007 h 111034"/>
                <a:gd name="connsiteX2" fmla="*/ 72949 w 101781"/>
                <a:gd name="connsiteY2" fmla="*/ 74800 h 111034"/>
                <a:gd name="connsiteX3" fmla="*/ 12806 w 101781"/>
                <a:gd name="connsiteY3" fmla="*/ 32237 h 111034"/>
                <a:gd name="connsiteX4" fmla="*/ 9104 w 101781"/>
                <a:gd name="connsiteY4" fmla="*/ 12806 h 111034"/>
                <a:gd name="connsiteX5" fmla="*/ 28535 w 101781"/>
                <a:gd name="connsiteY5" fmla="*/ 9104 h 111034"/>
                <a:gd name="connsiteX6" fmla="*/ 95156 w 101781"/>
                <a:gd name="connsiteY6" fmla="*/ 55369 h 111034"/>
                <a:gd name="connsiteX7" fmla="*/ 100708 w 101781"/>
                <a:gd name="connsiteY7" fmla="*/ 66472 h 111034"/>
                <a:gd name="connsiteX8" fmla="*/ 100708 w 101781"/>
                <a:gd name="connsiteY8" fmla="*/ 96081 h 111034"/>
                <a:gd name="connsiteX9" fmla="*/ 86828 w 101781"/>
                <a:gd name="connsiteY9" fmla="*/ 110886 h 111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1781" h="111034">
                  <a:moveTo>
                    <a:pt x="86828" y="110886"/>
                  </a:moveTo>
                  <a:cubicBezTo>
                    <a:pt x="79426" y="110886"/>
                    <a:pt x="72949" y="104409"/>
                    <a:pt x="72949" y="97007"/>
                  </a:cubicBezTo>
                  <a:lnTo>
                    <a:pt x="72949" y="74800"/>
                  </a:lnTo>
                  <a:lnTo>
                    <a:pt x="12806" y="32237"/>
                  </a:lnTo>
                  <a:cubicBezTo>
                    <a:pt x="6329" y="27610"/>
                    <a:pt x="5403" y="19283"/>
                    <a:pt x="9104" y="12806"/>
                  </a:cubicBezTo>
                  <a:cubicBezTo>
                    <a:pt x="13731" y="6329"/>
                    <a:pt x="22058" y="5403"/>
                    <a:pt x="28535" y="9104"/>
                  </a:cubicBezTo>
                  <a:lnTo>
                    <a:pt x="95156" y="55369"/>
                  </a:lnTo>
                  <a:cubicBezTo>
                    <a:pt x="98857" y="58145"/>
                    <a:pt x="100708" y="61846"/>
                    <a:pt x="100708" y="66472"/>
                  </a:cubicBezTo>
                  <a:lnTo>
                    <a:pt x="100708" y="96081"/>
                  </a:lnTo>
                  <a:cubicBezTo>
                    <a:pt x="100708" y="104409"/>
                    <a:pt x="95156" y="110886"/>
                    <a:pt x="86828" y="1108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252CD415-B97A-AF99-DB35-B256D89737CF}"/>
                </a:ext>
              </a:extLst>
            </p:cNvPr>
            <p:cNvSpPr/>
            <p:nvPr/>
          </p:nvSpPr>
          <p:spPr>
            <a:xfrm>
              <a:off x="9778859" y="940417"/>
              <a:ext cx="92529" cy="92529"/>
            </a:xfrm>
            <a:custGeom>
              <a:avLst/>
              <a:gdLst>
                <a:gd name="connsiteX0" fmla="*/ 49503 w 92528"/>
                <a:gd name="connsiteY0" fmla="*/ 92066 h 92528"/>
                <a:gd name="connsiteX1" fmla="*/ 6940 w 92528"/>
                <a:gd name="connsiteY1" fmla="*/ 49503 h 92528"/>
                <a:gd name="connsiteX2" fmla="*/ 49503 w 92528"/>
                <a:gd name="connsiteY2" fmla="*/ 6940 h 92528"/>
                <a:gd name="connsiteX3" fmla="*/ 92066 w 92528"/>
                <a:gd name="connsiteY3" fmla="*/ 49503 h 92528"/>
                <a:gd name="connsiteX4" fmla="*/ 49503 w 92528"/>
                <a:gd name="connsiteY4" fmla="*/ 92066 h 92528"/>
                <a:gd name="connsiteX5" fmla="*/ 49503 w 92528"/>
                <a:gd name="connsiteY5" fmla="*/ 34698 h 92528"/>
                <a:gd name="connsiteX6" fmla="*/ 34698 w 92528"/>
                <a:gd name="connsiteY6" fmla="*/ 49503 h 92528"/>
                <a:gd name="connsiteX7" fmla="*/ 49503 w 92528"/>
                <a:gd name="connsiteY7" fmla="*/ 64307 h 92528"/>
                <a:gd name="connsiteX8" fmla="*/ 64307 w 92528"/>
                <a:gd name="connsiteY8" fmla="*/ 49503 h 92528"/>
                <a:gd name="connsiteX9" fmla="*/ 49503 w 92528"/>
                <a:gd name="connsiteY9" fmla="*/ 34698 h 92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2528" h="92528">
                  <a:moveTo>
                    <a:pt x="49503" y="92066"/>
                  </a:moveTo>
                  <a:cubicBezTo>
                    <a:pt x="26371" y="92066"/>
                    <a:pt x="6940" y="72635"/>
                    <a:pt x="6940" y="49503"/>
                  </a:cubicBezTo>
                  <a:cubicBezTo>
                    <a:pt x="6940" y="26371"/>
                    <a:pt x="26371" y="6940"/>
                    <a:pt x="49503" y="6940"/>
                  </a:cubicBezTo>
                  <a:cubicBezTo>
                    <a:pt x="72635" y="6940"/>
                    <a:pt x="92066" y="26371"/>
                    <a:pt x="92066" y="49503"/>
                  </a:cubicBezTo>
                  <a:cubicBezTo>
                    <a:pt x="92066" y="72635"/>
                    <a:pt x="72635" y="92066"/>
                    <a:pt x="49503" y="92066"/>
                  </a:cubicBezTo>
                  <a:close/>
                  <a:moveTo>
                    <a:pt x="49503" y="34698"/>
                  </a:moveTo>
                  <a:cubicBezTo>
                    <a:pt x="41175" y="34698"/>
                    <a:pt x="34698" y="41175"/>
                    <a:pt x="34698" y="49503"/>
                  </a:cubicBezTo>
                  <a:cubicBezTo>
                    <a:pt x="34698" y="57830"/>
                    <a:pt x="41175" y="64307"/>
                    <a:pt x="49503" y="64307"/>
                  </a:cubicBezTo>
                  <a:cubicBezTo>
                    <a:pt x="57830" y="64307"/>
                    <a:pt x="64307" y="57830"/>
                    <a:pt x="64307" y="49503"/>
                  </a:cubicBezTo>
                  <a:cubicBezTo>
                    <a:pt x="64307" y="41175"/>
                    <a:pt x="57830" y="34698"/>
                    <a:pt x="49503" y="3469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69E0EC-2B16-7D34-F8DB-2B17C07BC40A}"/>
                </a:ext>
              </a:extLst>
            </p:cNvPr>
            <p:cNvSpPr/>
            <p:nvPr/>
          </p:nvSpPr>
          <p:spPr>
            <a:xfrm>
              <a:off x="10086979" y="991513"/>
              <a:ext cx="101781" cy="138793"/>
            </a:xfrm>
            <a:custGeom>
              <a:avLst/>
              <a:gdLst>
                <a:gd name="connsiteX0" fmla="*/ 20819 w 101781"/>
                <a:gd name="connsiteY0" fmla="*/ 139975 h 138792"/>
                <a:gd name="connsiteX1" fmla="*/ 6940 w 101781"/>
                <a:gd name="connsiteY1" fmla="*/ 126096 h 138792"/>
                <a:gd name="connsiteX2" fmla="*/ 6940 w 101781"/>
                <a:gd name="connsiteY2" fmla="*/ 66877 h 138792"/>
                <a:gd name="connsiteX3" fmla="*/ 12491 w 101781"/>
                <a:gd name="connsiteY3" fmla="*/ 55774 h 138792"/>
                <a:gd name="connsiteX4" fmla="*/ 79112 w 101781"/>
                <a:gd name="connsiteY4" fmla="*/ 9510 h 138792"/>
                <a:gd name="connsiteX5" fmla="*/ 98543 w 101781"/>
                <a:gd name="connsiteY5" fmla="*/ 13211 h 138792"/>
                <a:gd name="connsiteX6" fmla="*/ 94842 w 101781"/>
                <a:gd name="connsiteY6" fmla="*/ 32642 h 138792"/>
                <a:gd name="connsiteX7" fmla="*/ 34698 w 101781"/>
                <a:gd name="connsiteY7" fmla="*/ 75205 h 138792"/>
                <a:gd name="connsiteX8" fmla="*/ 34698 w 101781"/>
                <a:gd name="connsiteY8" fmla="*/ 126096 h 138792"/>
                <a:gd name="connsiteX9" fmla="*/ 20819 w 101781"/>
                <a:gd name="connsiteY9" fmla="*/ 139975 h 138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1781" h="138792">
                  <a:moveTo>
                    <a:pt x="20819" y="139975"/>
                  </a:moveTo>
                  <a:cubicBezTo>
                    <a:pt x="13417" y="139975"/>
                    <a:pt x="6940" y="133498"/>
                    <a:pt x="6940" y="126096"/>
                  </a:cubicBezTo>
                  <a:lnTo>
                    <a:pt x="6940" y="66877"/>
                  </a:lnTo>
                  <a:cubicBezTo>
                    <a:pt x="6940" y="62251"/>
                    <a:pt x="8790" y="58550"/>
                    <a:pt x="12491" y="55774"/>
                  </a:cubicBezTo>
                  <a:lnTo>
                    <a:pt x="79112" y="9510"/>
                  </a:lnTo>
                  <a:cubicBezTo>
                    <a:pt x="85589" y="4883"/>
                    <a:pt x="93916" y="6734"/>
                    <a:pt x="98543" y="13211"/>
                  </a:cubicBezTo>
                  <a:cubicBezTo>
                    <a:pt x="103169" y="19688"/>
                    <a:pt x="101319" y="28015"/>
                    <a:pt x="94842" y="32642"/>
                  </a:cubicBezTo>
                  <a:lnTo>
                    <a:pt x="34698" y="75205"/>
                  </a:lnTo>
                  <a:lnTo>
                    <a:pt x="34698" y="126096"/>
                  </a:lnTo>
                  <a:cubicBezTo>
                    <a:pt x="34698" y="134423"/>
                    <a:pt x="29146" y="139975"/>
                    <a:pt x="20819" y="1399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B109BE5E-641A-CEC0-5F4F-31E190FFAE52}"/>
                </a:ext>
              </a:extLst>
            </p:cNvPr>
            <p:cNvSpPr/>
            <p:nvPr/>
          </p:nvSpPr>
          <p:spPr>
            <a:xfrm>
              <a:off x="10153600" y="943193"/>
              <a:ext cx="92529" cy="92529"/>
            </a:xfrm>
            <a:custGeom>
              <a:avLst/>
              <a:gdLst>
                <a:gd name="connsiteX0" fmla="*/ 49503 w 92528"/>
                <a:gd name="connsiteY0" fmla="*/ 92066 h 92528"/>
                <a:gd name="connsiteX1" fmla="*/ 6940 w 92528"/>
                <a:gd name="connsiteY1" fmla="*/ 49503 h 92528"/>
                <a:gd name="connsiteX2" fmla="*/ 49503 w 92528"/>
                <a:gd name="connsiteY2" fmla="*/ 6940 h 92528"/>
                <a:gd name="connsiteX3" fmla="*/ 91141 w 92528"/>
                <a:gd name="connsiteY3" fmla="*/ 50428 h 92528"/>
                <a:gd name="connsiteX4" fmla="*/ 49503 w 92528"/>
                <a:gd name="connsiteY4" fmla="*/ 92066 h 92528"/>
                <a:gd name="connsiteX5" fmla="*/ 49503 w 92528"/>
                <a:gd name="connsiteY5" fmla="*/ 35624 h 92528"/>
                <a:gd name="connsiteX6" fmla="*/ 34698 w 92528"/>
                <a:gd name="connsiteY6" fmla="*/ 50428 h 92528"/>
                <a:gd name="connsiteX7" fmla="*/ 49503 w 92528"/>
                <a:gd name="connsiteY7" fmla="*/ 65233 h 92528"/>
                <a:gd name="connsiteX8" fmla="*/ 64307 w 92528"/>
                <a:gd name="connsiteY8" fmla="*/ 50428 h 92528"/>
                <a:gd name="connsiteX9" fmla="*/ 49503 w 92528"/>
                <a:gd name="connsiteY9" fmla="*/ 35624 h 92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2528" h="92528">
                  <a:moveTo>
                    <a:pt x="49503" y="92066"/>
                  </a:moveTo>
                  <a:cubicBezTo>
                    <a:pt x="26371" y="92066"/>
                    <a:pt x="6940" y="72635"/>
                    <a:pt x="6940" y="49503"/>
                  </a:cubicBezTo>
                  <a:cubicBezTo>
                    <a:pt x="6940" y="26371"/>
                    <a:pt x="26371" y="6940"/>
                    <a:pt x="49503" y="6940"/>
                  </a:cubicBezTo>
                  <a:cubicBezTo>
                    <a:pt x="72635" y="6940"/>
                    <a:pt x="91141" y="26371"/>
                    <a:pt x="91141" y="50428"/>
                  </a:cubicBezTo>
                  <a:cubicBezTo>
                    <a:pt x="91141" y="74486"/>
                    <a:pt x="72635" y="92066"/>
                    <a:pt x="49503" y="92066"/>
                  </a:cubicBezTo>
                  <a:close/>
                  <a:moveTo>
                    <a:pt x="49503" y="35624"/>
                  </a:moveTo>
                  <a:cubicBezTo>
                    <a:pt x="41175" y="35624"/>
                    <a:pt x="34698" y="42101"/>
                    <a:pt x="34698" y="50428"/>
                  </a:cubicBezTo>
                  <a:cubicBezTo>
                    <a:pt x="34698" y="58756"/>
                    <a:pt x="41175" y="65233"/>
                    <a:pt x="49503" y="65233"/>
                  </a:cubicBezTo>
                  <a:cubicBezTo>
                    <a:pt x="57830" y="65233"/>
                    <a:pt x="64307" y="58756"/>
                    <a:pt x="64307" y="50428"/>
                  </a:cubicBezTo>
                  <a:cubicBezTo>
                    <a:pt x="64307" y="42101"/>
                    <a:pt x="56905" y="35624"/>
                    <a:pt x="49503" y="3562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4DB5061-F267-4977-B197-54F594C82846}"/>
                </a:ext>
              </a:extLst>
            </p:cNvPr>
            <p:cNvSpPr/>
            <p:nvPr/>
          </p:nvSpPr>
          <p:spPr>
            <a:xfrm>
              <a:off x="9997226" y="1071807"/>
              <a:ext cx="37011" cy="55517"/>
            </a:xfrm>
            <a:custGeom>
              <a:avLst/>
              <a:gdLst>
                <a:gd name="connsiteX0" fmla="*/ 20819 w 37011"/>
                <a:gd name="connsiteY0" fmla="*/ 53204 h 55517"/>
                <a:gd name="connsiteX1" fmla="*/ 6940 w 37011"/>
                <a:gd name="connsiteY1" fmla="*/ 39325 h 55517"/>
                <a:gd name="connsiteX2" fmla="*/ 6940 w 37011"/>
                <a:gd name="connsiteY2" fmla="*/ 20819 h 55517"/>
                <a:gd name="connsiteX3" fmla="*/ 20819 w 37011"/>
                <a:gd name="connsiteY3" fmla="*/ 6940 h 55517"/>
                <a:gd name="connsiteX4" fmla="*/ 34698 w 37011"/>
                <a:gd name="connsiteY4" fmla="*/ 20819 h 55517"/>
                <a:gd name="connsiteX5" fmla="*/ 34698 w 37011"/>
                <a:gd name="connsiteY5" fmla="*/ 39325 h 55517"/>
                <a:gd name="connsiteX6" fmla="*/ 20819 w 37011"/>
                <a:gd name="connsiteY6" fmla="*/ 53204 h 55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11" h="55517">
                  <a:moveTo>
                    <a:pt x="20819" y="53204"/>
                  </a:moveTo>
                  <a:cubicBezTo>
                    <a:pt x="13417" y="53204"/>
                    <a:pt x="6940" y="46727"/>
                    <a:pt x="6940" y="39325"/>
                  </a:cubicBezTo>
                  <a:lnTo>
                    <a:pt x="6940" y="20819"/>
                  </a:lnTo>
                  <a:cubicBezTo>
                    <a:pt x="6940" y="13417"/>
                    <a:pt x="13417" y="6940"/>
                    <a:pt x="20819" y="6940"/>
                  </a:cubicBezTo>
                  <a:cubicBezTo>
                    <a:pt x="28221" y="6940"/>
                    <a:pt x="34698" y="13417"/>
                    <a:pt x="34698" y="20819"/>
                  </a:cubicBezTo>
                  <a:lnTo>
                    <a:pt x="34698" y="39325"/>
                  </a:lnTo>
                  <a:cubicBezTo>
                    <a:pt x="34698" y="46727"/>
                    <a:pt x="28221" y="53204"/>
                    <a:pt x="20819" y="532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15FF7B34-AD1F-43E6-CE2A-237D66C786F1}"/>
                </a:ext>
              </a:extLst>
            </p:cNvPr>
            <p:cNvSpPr/>
            <p:nvPr/>
          </p:nvSpPr>
          <p:spPr>
            <a:xfrm>
              <a:off x="9997226" y="1016290"/>
              <a:ext cx="37011" cy="55517"/>
            </a:xfrm>
            <a:custGeom>
              <a:avLst/>
              <a:gdLst>
                <a:gd name="connsiteX0" fmla="*/ 20819 w 37011"/>
                <a:gd name="connsiteY0" fmla="*/ 53204 h 55517"/>
                <a:gd name="connsiteX1" fmla="*/ 6940 w 37011"/>
                <a:gd name="connsiteY1" fmla="*/ 39325 h 55517"/>
                <a:gd name="connsiteX2" fmla="*/ 6940 w 37011"/>
                <a:gd name="connsiteY2" fmla="*/ 20819 h 55517"/>
                <a:gd name="connsiteX3" fmla="*/ 20819 w 37011"/>
                <a:gd name="connsiteY3" fmla="*/ 6940 h 55517"/>
                <a:gd name="connsiteX4" fmla="*/ 34698 w 37011"/>
                <a:gd name="connsiteY4" fmla="*/ 20819 h 55517"/>
                <a:gd name="connsiteX5" fmla="*/ 34698 w 37011"/>
                <a:gd name="connsiteY5" fmla="*/ 39325 h 55517"/>
                <a:gd name="connsiteX6" fmla="*/ 20819 w 37011"/>
                <a:gd name="connsiteY6" fmla="*/ 53204 h 55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11" h="55517">
                  <a:moveTo>
                    <a:pt x="20819" y="53204"/>
                  </a:moveTo>
                  <a:cubicBezTo>
                    <a:pt x="13417" y="53204"/>
                    <a:pt x="6940" y="46727"/>
                    <a:pt x="6940" y="39325"/>
                  </a:cubicBezTo>
                  <a:lnTo>
                    <a:pt x="6940" y="20819"/>
                  </a:lnTo>
                  <a:cubicBezTo>
                    <a:pt x="6940" y="13417"/>
                    <a:pt x="13417" y="6940"/>
                    <a:pt x="20819" y="6940"/>
                  </a:cubicBezTo>
                  <a:cubicBezTo>
                    <a:pt x="28221" y="6940"/>
                    <a:pt x="34698" y="13417"/>
                    <a:pt x="34698" y="20819"/>
                  </a:cubicBezTo>
                  <a:lnTo>
                    <a:pt x="34698" y="39325"/>
                  </a:lnTo>
                  <a:cubicBezTo>
                    <a:pt x="34698" y="46727"/>
                    <a:pt x="28221" y="53204"/>
                    <a:pt x="20819" y="532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CE90186-035D-B546-3F67-2202C76F16D9}"/>
                </a:ext>
              </a:extLst>
            </p:cNvPr>
            <p:cNvSpPr/>
            <p:nvPr/>
          </p:nvSpPr>
          <p:spPr>
            <a:xfrm>
              <a:off x="10044416" y="1063480"/>
              <a:ext cx="37011" cy="55517"/>
            </a:xfrm>
            <a:custGeom>
              <a:avLst/>
              <a:gdLst>
                <a:gd name="connsiteX0" fmla="*/ 20819 w 37011"/>
                <a:gd name="connsiteY0" fmla="*/ 53204 h 55517"/>
                <a:gd name="connsiteX1" fmla="*/ 6940 w 37011"/>
                <a:gd name="connsiteY1" fmla="*/ 39325 h 55517"/>
                <a:gd name="connsiteX2" fmla="*/ 6940 w 37011"/>
                <a:gd name="connsiteY2" fmla="*/ 20819 h 55517"/>
                <a:gd name="connsiteX3" fmla="*/ 20819 w 37011"/>
                <a:gd name="connsiteY3" fmla="*/ 6940 h 55517"/>
                <a:gd name="connsiteX4" fmla="*/ 34698 w 37011"/>
                <a:gd name="connsiteY4" fmla="*/ 20819 h 55517"/>
                <a:gd name="connsiteX5" fmla="*/ 34698 w 37011"/>
                <a:gd name="connsiteY5" fmla="*/ 39325 h 55517"/>
                <a:gd name="connsiteX6" fmla="*/ 20819 w 37011"/>
                <a:gd name="connsiteY6" fmla="*/ 53204 h 55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11" h="55517">
                  <a:moveTo>
                    <a:pt x="20819" y="53204"/>
                  </a:moveTo>
                  <a:cubicBezTo>
                    <a:pt x="13417" y="53204"/>
                    <a:pt x="6940" y="46727"/>
                    <a:pt x="6940" y="39325"/>
                  </a:cubicBezTo>
                  <a:lnTo>
                    <a:pt x="6940" y="20819"/>
                  </a:lnTo>
                  <a:cubicBezTo>
                    <a:pt x="6940" y="13417"/>
                    <a:pt x="13417" y="6940"/>
                    <a:pt x="20819" y="6940"/>
                  </a:cubicBezTo>
                  <a:cubicBezTo>
                    <a:pt x="28221" y="6940"/>
                    <a:pt x="34698" y="13417"/>
                    <a:pt x="34698" y="20819"/>
                  </a:cubicBezTo>
                  <a:lnTo>
                    <a:pt x="34698" y="39325"/>
                  </a:lnTo>
                  <a:cubicBezTo>
                    <a:pt x="34698" y="46727"/>
                    <a:pt x="28221" y="53204"/>
                    <a:pt x="20819" y="532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3B31B29B-105D-6AA1-CDF9-D9A9A610DF4A}"/>
                </a:ext>
              </a:extLst>
            </p:cNvPr>
            <p:cNvSpPr/>
            <p:nvPr/>
          </p:nvSpPr>
          <p:spPr>
            <a:xfrm>
              <a:off x="10044416" y="1120848"/>
              <a:ext cx="37011" cy="55517"/>
            </a:xfrm>
            <a:custGeom>
              <a:avLst/>
              <a:gdLst>
                <a:gd name="connsiteX0" fmla="*/ 20819 w 37011"/>
                <a:gd name="connsiteY0" fmla="*/ 53204 h 55517"/>
                <a:gd name="connsiteX1" fmla="*/ 6940 w 37011"/>
                <a:gd name="connsiteY1" fmla="*/ 39325 h 55517"/>
                <a:gd name="connsiteX2" fmla="*/ 6940 w 37011"/>
                <a:gd name="connsiteY2" fmla="*/ 20819 h 55517"/>
                <a:gd name="connsiteX3" fmla="*/ 20819 w 37011"/>
                <a:gd name="connsiteY3" fmla="*/ 6940 h 55517"/>
                <a:gd name="connsiteX4" fmla="*/ 34698 w 37011"/>
                <a:gd name="connsiteY4" fmla="*/ 20819 h 55517"/>
                <a:gd name="connsiteX5" fmla="*/ 34698 w 37011"/>
                <a:gd name="connsiteY5" fmla="*/ 39325 h 55517"/>
                <a:gd name="connsiteX6" fmla="*/ 20819 w 37011"/>
                <a:gd name="connsiteY6" fmla="*/ 53204 h 55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11" h="55517">
                  <a:moveTo>
                    <a:pt x="20819" y="53204"/>
                  </a:moveTo>
                  <a:cubicBezTo>
                    <a:pt x="13417" y="53204"/>
                    <a:pt x="6940" y="46727"/>
                    <a:pt x="6940" y="39325"/>
                  </a:cubicBezTo>
                  <a:lnTo>
                    <a:pt x="6940" y="20819"/>
                  </a:lnTo>
                  <a:cubicBezTo>
                    <a:pt x="6940" y="13417"/>
                    <a:pt x="13417" y="6940"/>
                    <a:pt x="20819" y="6940"/>
                  </a:cubicBezTo>
                  <a:cubicBezTo>
                    <a:pt x="28221" y="6940"/>
                    <a:pt x="34698" y="13417"/>
                    <a:pt x="34698" y="20819"/>
                  </a:cubicBezTo>
                  <a:lnTo>
                    <a:pt x="34698" y="39325"/>
                  </a:lnTo>
                  <a:cubicBezTo>
                    <a:pt x="34698" y="46727"/>
                    <a:pt x="28221" y="53204"/>
                    <a:pt x="20819" y="532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1C7701F3-0B5E-D3D2-20F4-FD434D4FDD85}"/>
                </a:ext>
              </a:extLst>
            </p:cNvPr>
            <p:cNvSpPr/>
            <p:nvPr/>
          </p:nvSpPr>
          <p:spPr>
            <a:xfrm>
              <a:off x="10044416" y="1173589"/>
              <a:ext cx="37011" cy="55517"/>
            </a:xfrm>
            <a:custGeom>
              <a:avLst/>
              <a:gdLst>
                <a:gd name="connsiteX0" fmla="*/ 20819 w 37011"/>
                <a:gd name="connsiteY0" fmla="*/ 53204 h 55517"/>
                <a:gd name="connsiteX1" fmla="*/ 6940 w 37011"/>
                <a:gd name="connsiteY1" fmla="*/ 39325 h 55517"/>
                <a:gd name="connsiteX2" fmla="*/ 6940 w 37011"/>
                <a:gd name="connsiteY2" fmla="*/ 20819 h 55517"/>
                <a:gd name="connsiteX3" fmla="*/ 20819 w 37011"/>
                <a:gd name="connsiteY3" fmla="*/ 6940 h 55517"/>
                <a:gd name="connsiteX4" fmla="*/ 34698 w 37011"/>
                <a:gd name="connsiteY4" fmla="*/ 20819 h 55517"/>
                <a:gd name="connsiteX5" fmla="*/ 34698 w 37011"/>
                <a:gd name="connsiteY5" fmla="*/ 39325 h 55517"/>
                <a:gd name="connsiteX6" fmla="*/ 20819 w 37011"/>
                <a:gd name="connsiteY6" fmla="*/ 53204 h 55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11" h="55517">
                  <a:moveTo>
                    <a:pt x="20819" y="53204"/>
                  </a:moveTo>
                  <a:cubicBezTo>
                    <a:pt x="13417" y="53204"/>
                    <a:pt x="6940" y="46727"/>
                    <a:pt x="6940" y="39325"/>
                  </a:cubicBezTo>
                  <a:lnTo>
                    <a:pt x="6940" y="20819"/>
                  </a:lnTo>
                  <a:cubicBezTo>
                    <a:pt x="6940" y="13417"/>
                    <a:pt x="13417" y="6940"/>
                    <a:pt x="20819" y="6940"/>
                  </a:cubicBezTo>
                  <a:cubicBezTo>
                    <a:pt x="28221" y="6940"/>
                    <a:pt x="34698" y="13417"/>
                    <a:pt x="34698" y="20819"/>
                  </a:cubicBezTo>
                  <a:lnTo>
                    <a:pt x="34698" y="39325"/>
                  </a:lnTo>
                  <a:cubicBezTo>
                    <a:pt x="34698" y="47652"/>
                    <a:pt x="28221" y="53204"/>
                    <a:pt x="20819" y="532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C6FB56ED-9F97-3E04-E1FA-E8264B4E899B}"/>
                </a:ext>
              </a:extLst>
            </p:cNvPr>
            <p:cNvSpPr/>
            <p:nvPr/>
          </p:nvSpPr>
          <p:spPr>
            <a:xfrm>
              <a:off x="9803842" y="1071807"/>
              <a:ext cx="138793" cy="138793"/>
            </a:xfrm>
            <a:custGeom>
              <a:avLst/>
              <a:gdLst>
                <a:gd name="connsiteX0" fmla="*/ 123526 w 138792"/>
                <a:gd name="connsiteY0" fmla="*/ 136480 h 138792"/>
                <a:gd name="connsiteX1" fmla="*/ 109646 w 138792"/>
                <a:gd name="connsiteY1" fmla="*/ 122600 h 138792"/>
                <a:gd name="connsiteX2" fmla="*/ 109646 w 138792"/>
                <a:gd name="connsiteY2" fmla="*/ 84664 h 138792"/>
                <a:gd name="connsiteX3" fmla="*/ 50428 w 138792"/>
                <a:gd name="connsiteY3" fmla="*/ 34698 h 138792"/>
                <a:gd name="connsiteX4" fmla="*/ 20819 w 138792"/>
                <a:gd name="connsiteY4" fmla="*/ 34698 h 138792"/>
                <a:gd name="connsiteX5" fmla="*/ 6940 w 138792"/>
                <a:gd name="connsiteY5" fmla="*/ 20819 h 138792"/>
                <a:gd name="connsiteX6" fmla="*/ 20819 w 138792"/>
                <a:gd name="connsiteY6" fmla="*/ 6940 h 138792"/>
                <a:gd name="connsiteX7" fmla="*/ 55054 w 138792"/>
                <a:gd name="connsiteY7" fmla="*/ 6940 h 138792"/>
                <a:gd name="connsiteX8" fmla="*/ 64307 w 138792"/>
                <a:gd name="connsiteY8" fmla="*/ 10641 h 138792"/>
                <a:gd name="connsiteX9" fmla="*/ 132778 w 138792"/>
                <a:gd name="connsiteY9" fmla="*/ 68009 h 138792"/>
                <a:gd name="connsiteX10" fmla="*/ 137405 w 138792"/>
                <a:gd name="connsiteY10" fmla="*/ 78187 h 138792"/>
                <a:gd name="connsiteX11" fmla="*/ 137405 w 138792"/>
                <a:gd name="connsiteY11" fmla="*/ 122600 h 138792"/>
                <a:gd name="connsiteX12" fmla="*/ 123526 w 138792"/>
                <a:gd name="connsiteY12" fmla="*/ 136480 h 138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8792" h="138792">
                  <a:moveTo>
                    <a:pt x="123526" y="136480"/>
                  </a:moveTo>
                  <a:cubicBezTo>
                    <a:pt x="116123" y="136480"/>
                    <a:pt x="109646" y="130003"/>
                    <a:pt x="109646" y="122600"/>
                  </a:cubicBezTo>
                  <a:lnTo>
                    <a:pt x="109646" y="84664"/>
                  </a:lnTo>
                  <a:lnTo>
                    <a:pt x="50428" y="34698"/>
                  </a:lnTo>
                  <a:lnTo>
                    <a:pt x="20819" y="34698"/>
                  </a:lnTo>
                  <a:cubicBezTo>
                    <a:pt x="13417" y="34698"/>
                    <a:pt x="6940" y="28221"/>
                    <a:pt x="6940" y="20819"/>
                  </a:cubicBezTo>
                  <a:cubicBezTo>
                    <a:pt x="6940" y="13417"/>
                    <a:pt x="13417" y="6940"/>
                    <a:pt x="20819" y="6940"/>
                  </a:cubicBezTo>
                  <a:lnTo>
                    <a:pt x="55054" y="6940"/>
                  </a:lnTo>
                  <a:cubicBezTo>
                    <a:pt x="58756" y="6940"/>
                    <a:pt x="61531" y="7865"/>
                    <a:pt x="64307" y="10641"/>
                  </a:cubicBezTo>
                  <a:lnTo>
                    <a:pt x="132778" y="68009"/>
                  </a:lnTo>
                  <a:cubicBezTo>
                    <a:pt x="135554" y="70784"/>
                    <a:pt x="137405" y="74486"/>
                    <a:pt x="137405" y="78187"/>
                  </a:cubicBezTo>
                  <a:lnTo>
                    <a:pt x="137405" y="122600"/>
                  </a:lnTo>
                  <a:cubicBezTo>
                    <a:pt x="137405" y="130003"/>
                    <a:pt x="130928" y="136480"/>
                    <a:pt x="123526" y="13648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54024360-7F62-FC55-397D-9E7EBC8FF390}"/>
                </a:ext>
              </a:extLst>
            </p:cNvPr>
            <p:cNvSpPr/>
            <p:nvPr/>
          </p:nvSpPr>
          <p:spPr>
            <a:xfrm>
              <a:off x="9747399" y="1042198"/>
              <a:ext cx="92529" cy="92529"/>
            </a:xfrm>
            <a:custGeom>
              <a:avLst/>
              <a:gdLst>
                <a:gd name="connsiteX0" fmla="*/ 49503 w 92528"/>
                <a:gd name="connsiteY0" fmla="*/ 92066 h 92528"/>
                <a:gd name="connsiteX1" fmla="*/ 6940 w 92528"/>
                <a:gd name="connsiteY1" fmla="*/ 49503 h 92528"/>
                <a:gd name="connsiteX2" fmla="*/ 49503 w 92528"/>
                <a:gd name="connsiteY2" fmla="*/ 6940 h 92528"/>
                <a:gd name="connsiteX3" fmla="*/ 92066 w 92528"/>
                <a:gd name="connsiteY3" fmla="*/ 49503 h 92528"/>
                <a:gd name="connsiteX4" fmla="*/ 49503 w 92528"/>
                <a:gd name="connsiteY4" fmla="*/ 92066 h 92528"/>
                <a:gd name="connsiteX5" fmla="*/ 49503 w 92528"/>
                <a:gd name="connsiteY5" fmla="*/ 35624 h 92528"/>
                <a:gd name="connsiteX6" fmla="*/ 34698 w 92528"/>
                <a:gd name="connsiteY6" fmla="*/ 50428 h 92528"/>
                <a:gd name="connsiteX7" fmla="*/ 49503 w 92528"/>
                <a:gd name="connsiteY7" fmla="*/ 65233 h 92528"/>
                <a:gd name="connsiteX8" fmla="*/ 64307 w 92528"/>
                <a:gd name="connsiteY8" fmla="*/ 50428 h 92528"/>
                <a:gd name="connsiteX9" fmla="*/ 49503 w 92528"/>
                <a:gd name="connsiteY9" fmla="*/ 35624 h 92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2528" h="92528">
                  <a:moveTo>
                    <a:pt x="49503" y="92066"/>
                  </a:moveTo>
                  <a:cubicBezTo>
                    <a:pt x="26371" y="92066"/>
                    <a:pt x="6940" y="72635"/>
                    <a:pt x="6940" y="49503"/>
                  </a:cubicBezTo>
                  <a:cubicBezTo>
                    <a:pt x="6940" y="26371"/>
                    <a:pt x="26371" y="6940"/>
                    <a:pt x="49503" y="6940"/>
                  </a:cubicBezTo>
                  <a:cubicBezTo>
                    <a:pt x="72635" y="6940"/>
                    <a:pt x="92066" y="26371"/>
                    <a:pt x="92066" y="49503"/>
                  </a:cubicBezTo>
                  <a:cubicBezTo>
                    <a:pt x="92066" y="72635"/>
                    <a:pt x="72635" y="92066"/>
                    <a:pt x="49503" y="92066"/>
                  </a:cubicBezTo>
                  <a:close/>
                  <a:moveTo>
                    <a:pt x="49503" y="35624"/>
                  </a:moveTo>
                  <a:cubicBezTo>
                    <a:pt x="41175" y="35624"/>
                    <a:pt x="34698" y="42100"/>
                    <a:pt x="34698" y="50428"/>
                  </a:cubicBezTo>
                  <a:cubicBezTo>
                    <a:pt x="34698" y="58756"/>
                    <a:pt x="41175" y="65233"/>
                    <a:pt x="49503" y="65233"/>
                  </a:cubicBezTo>
                  <a:cubicBezTo>
                    <a:pt x="57830" y="65233"/>
                    <a:pt x="64307" y="58756"/>
                    <a:pt x="64307" y="50428"/>
                  </a:cubicBezTo>
                  <a:cubicBezTo>
                    <a:pt x="64307" y="42100"/>
                    <a:pt x="56905" y="35624"/>
                    <a:pt x="49503" y="3562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363036AC-EF0A-3F0E-2EED-0AD30DB61E45}"/>
                </a:ext>
              </a:extLst>
            </p:cNvPr>
            <p:cNvSpPr/>
            <p:nvPr/>
          </p:nvSpPr>
          <p:spPr>
            <a:xfrm>
              <a:off x="9949112" y="1063480"/>
              <a:ext cx="37011" cy="55517"/>
            </a:xfrm>
            <a:custGeom>
              <a:avLst/>
              <a:gdLst>
                <a:gd name="connsiteX0" fmla="*/ 20819 w 37011"/>
                <a:gd name="connsiteY0" fmla="*/ 53204 h 55517"/>
                <a:gd name="connsiteX1" fmla="*/ 6940 w 37011"/>
                <a:gd name="connsiteY1" fmla="*/ 39325 h 55517"/>
                <a:gd name="connsiteX2" fmla="*/ 6940 w 37011"/>
                <a:gd name="connsiteY2" fmla="*/ 20819 h 55517"/>
                <a:gd name="connsiteX3" fmla="*/ 20819 w 37011"/>
                <a:gd name="connsiteY3" fmla="*/ 6940 h 55517"/>
                <a:gd name="connsiteX4" fmla="*/ 34698 w 37011"/>
                <a:gd name="connsiteY4" fmla="*/ 20819 h 55517"/>
                <a:gd name="connsiteX5" fmla="*/ 34698 w 37011"/>
                <a:gd name="connsiteY5" fmla="*/ 39325 h 55517"/>
                <a:gd name="connsiteX6" fmla="*/ 20819 w 37011"/>
                <a:gd name="connsiteY6" fmla="*/ 53204 h 55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11" h="55517">
                  <a:moveTo>
                    <a:pt x="20819" y="53204"/>
                  </a:moveTo>
                  <a:cubicBezTo>
                    <a:pt x="13417" y="53204"/>
                    <a:pt x="6940" y="46727"/>
                    <a:pt x="6940" y="39325"/>
                  </a:cubicBezTo>
                  <a:lnTo>
                    <a:pt x="6940" y="20819"/>
                  </a:lnTo>
                  <a:cubicBezTo>
                    <a:pt x="6940" y="13417"/>
                    <a:pt x="13417" y="6940"/>
                    <a:pt x="20819" y="6940"/>
                  </a:cubicBezTo>
                  <a:cubicBezTo>
                    <a:pt x="28221" y="6940"/>
                    <a:pt x="34698" y="13417"/>
                    <a:pt x="34698" y="20819"/>
                  </a:cubicBezTo>
                  <a:lnTo>
                    <a:pt x="34698" y="39325"/>
                  </a:lnTo>
                  <a:cubicBezTo>
                    <a:pt x="34698" y="46727"/>
                    <a:pt x="29147" y="53204"/>
                    <a:pt x="20819" y="532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FC203676-5E87-F9D0-E41D-7F897DBBC470}"/>
                </a:ext>
              </a:extLst>
            </p:cNvPr>
            <p:cNvSpPr/>
            <p:nvPr/>
          </p:nvSpPr>
          <p:spPr>
            <a:xfrm>
              <a:off x="9997226" y="1127324"/>
              <a:ext cx="37011" cy="74023"/>
            </a:xfrm>
            <a:custGeom>
              <a:avLst/>
              <a:gdLst>
                <a:gd name="connsiteX0" fmla="*/ 20819 w 37011"/>
                <a:gd name="connsiteY0" fmla="*/ 72635 h 74022"/>
                <a:gd name="connsiteX1" fmla="*/ 6940 w 37011"/>
                <a:gd name="connsiteY1" fmla="*/ 58756 h 74022"/>
                <a:gd name="connsiteX2" fmla="*/ 6940 w 37011"/>
                <a:gd name="connsiteY2" fmla="*/ 20819 h 74022"/>
                <a:gd name="connsiteX3" fmla="*/ 20819 w 37011"/>
                <a:gd name="connsiteY3" fmla="*/ 6940 h 74022"/>
                <a:gd name="connsiteX4" fmla="*/ 34698 w 37011"/>
                <a:gd name="connsiteY4" fmla="*/ 20819 h 74022"/>
                <a:gd name="connsiteX5" fmla="*/ 34698 w 37011"/>
                <a:gd name="connsiteY5" fmla="*/ 58756 h 74022"/>
                <a:gd name="connsiteX6" fmla="*/ 20819 w 37011"/>
                <a:gd name="connsiteY6" fmla="*/ 72635 h 74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11" h="74022">
                  <a:moveTo>
                    <a:pt x="20819" y="72635"/>
                  </a:moveTo>
                  <a:cubicBezTo>
                    <a:pt x="13417" y="72635"/>
                    <a:pt x="6940" y="66158"/>
                    <a:pt x="6940" y="58756"/>
                  </a:cubicBezTo>
                  <a:lnTo>
                    <a:pt x="6940" y="20819"/>
                  </a:lnTo>
                  <a:cubicBezTo>
                    <a:pt x="6940" y="13417"/>
                    <a:pt x="13417" y="6940"/>
                    <a:pt x="20819" y="6940"/>
                  </a:cubicBezTo>
                  <a:cubicBezTo>
                    <a:pt x="28221" y="6940"/>
                    <a:pt x="34698" y="13417"/>
                    <a:pt x="34698" y="20819"/>
                  </a:cubicBezTo>
                  <a:lnTo>
                    <a:pt x="34698" y="58756"/>
                  </a:lnTo>
                  <a:cubicBezTo>
                    <a:pt x="34698" y="66158"/>
                    <a:pt x="28221" y="72635"/>
                    <a:pt x="20819" y="7263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C4732D7D-D091-6AEF-A011-56EE5B81B950}"/>
                </a:ext>
              </a:extLst>
            </p:cNvPr>
            <p:cNvSpPr/>
            <p:nvPr/>
          </p:nvSpPr>
          <p:spPr>
            <a:xfrm>
              <a:off x="9949112" y="1118997"/>
              <a:ext cx="37011" cy="55517"/>
            </a:xfrm>
            <a:custGeom>
              <a:avLst/>
              <a:gdLst>
                <a:gd name="connsiteX0" fmla="*/ 20819 w 37011"/>
                <a:gd name="connsiteY0" fmla="*/ 53204 h 55517"/>
                <a:gd name="connsiteX1" fmla="*/ 6940 w 37011"/>
                <a:gd name="connsiteY1" fmla="*/ 39325 h 55517"/>
                <a:gd name="connsiteX2" fmla="*/ 6940 w 37011"/>
                <a:gd name="connsiteY2" fmla="*/ 20819 h 55517"/>
                <a:gd name="connsiteX3" fmla="*/ 20819 w 37011"/>
                <a:gd name="connsiteY3" fmla="*/ 6940 h 55517"/>
                <a:gd name="connsiteX4" fmla="*/ 34698 w 37011"/>
                <a:gd name="connsiteY4" fmla="*/ 20819 h 55517"/>
                <a:gd name="connsiteX5" fmla="*/ 34698 w 37011"/>
                <a:gd name="connsiteY5" fmla="*/ 39325 h 55517"/>
                <a:gd name="connsiteX6" fmla="*/ 20819 w 37011"/>
                <a:gd name="connsiteY6" fmla="*/ 53204 h 55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11" h="55517">
                  <a:moveTo>
                    <a:pt x="20819" y="53204"/>
                  </a:moveTo>
                  <a:cubicBezTo>
                    <a:pt x="13417" y="53204"/>
                    <a:pt x="6940" y="46727"/>
                    <a:pt x="6940" y="39325"/>
                  </a:cubicBezTo>
                  <a:lnTo>
                    <a:pt x="6940" y="20819"/>
                  </a:lnTo>
                  <a:cubicBezTo>
                    <a:pt x="6940" y="13417"/>
                    <a:pt x="13417" y="6940"/>
                    <a:pt x="20819" y="6940"/>
                  </a:cubicBezTo>
                  <a:cubicBezTo>
                    <a:pt x="28221" y="6940"/>
                    <a:pt x="34698" y="13417"/>
                    <a:pt x="34698" y="20819"/>
                  </a:cubicBezTo>
                  <a:lnTo>
                    <a:pt x="34698" y="39325"/>
                  </a:lnTo>
                  <a:cubicBezTo>
                    <a:pt x="34698" y="46727"/>
                    <a:pt x="29147" y="53204"/>
                    <a:pt x="20819" y="532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7753A11-20E3-86C1-6635-06C8E47543B0}"/>
                </a:ext>
              </a:extLst>
            </p:cNvPr>
            <p:cNvSpPr/>
            <p:nvPr/>
          </p:nvSpPr>
          <p:spPr>
            <a:xfrm>
              <a:off x="9949112" y="1173589"/>
              <a:ext cx="37011" cy="55517"/>
            </a:xfrm>
            <a:custGeom>
              <a:avLst/>
              <a:gdLst>
                <a:gd name="connsiteX0" fmla="*/ 20819 w 37011"/>
                <a:gd name="connsiteY0" fmla="*/ 53204 h 55517"/>
                <a:gd name="connsiteX1" fmla="*/ 6940 w 37011"/>
                <a:gd name="connsiteY1" fmla="*/ 39325 h 55517"/>
                <a:gd name="connsiteX2" fmla="*/ 6940 w 37011"/>
                <a:gd name="connsiteY2" fmla="*/ 20819 h 55517"/>
                <a:gd name="connsiteX3" fmla="*/ 20819 w 37011"/>
                <a:gd name="connsiteY3" fmla="*/ 6940 h 55517"/>
                <a:gd name="connsiteX4" fmla="*/ 34698 w 37011"/>
                <a:gd name="connsiteY4" fmla="*/ 20819 h 55517"/>
                <a:gd name="connsiteX5" fmla="*/ 34698 w 37011"/>
                <a:gd name="connsiteY5" fmla="*/ 39325 h 55517"/>
                <a:gd name="connsiteX6" fmla="*/ 20819 w 37011"/>
                <a:gd name="connsiteY6" fmla="*/ 53204 h 55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11" h="55517">
                  <a:moveTo>
                    <a:pt x="20819" y="53204"/>
                  </a:moveTo>
                  <a:cubicBezTo>
                    <a:pt x="13417" y="53204"/>
                    <a:pt x="6940" y="46727"/>
                    <a:pt x="6940" y="39325"/>
                  </a:cubicBezTo>
                  <a:lnTo>
                    <a:pt x="6940" y="20819"/>
                  </a:lnTo>
                  <a:cubicBezTo>
                    <a:pt x="6940" y="13417"/>
                    <a:pt x="13417" y="6940"/>
                    <a:pt x="20819" y="6940"/>
                  </a:cubicBezTo>
                  <a:cubicBezTo>
                    <a:pt x="28221" y="6940"/>
                    <a:pt x="34698" y="13417"/>
                    <a:pt x="34698" y="20819"/>
                  </a:cubicBezTo>
                  <a:lnTo>
                    <a:pt x="34698" y="39325"/>
                  </a:lnTo>
                  <a:cubicBezTo>
                    <a:pt x="34698" y="47652"/>
                    <a:pt x="29147" y="53204"/>
                    <a:pt x="20819" y="532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</p:grp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06E9EABA-3914-69EF-FA1D-89947DD972F6}"/>
              </a:ext>
            </a:extLst>
          </p:cNvPr>
          <p:cNvCxnSpPr>
            <a:cxnSpLocks/>
            <a:endCxn id="130" idx="2"/>
          </p:cNvCxnSpPr>
          <p:nvPr/>
        </p:nvCxnSpPr>
        <p:spPr>
          <a:xfrm flipV="1">
            <a:off x="5200848" y="2787727"/>
            <a:ext cx="1725592" cy="2019308"/>
          </a:xfrm>
          <a:prstGeom prst="line">
            <a:avLst/>
          </a:prstGeom>
          <a:ln w="28575">
            <a:solidFill>
              <a:srgbClr val="7500C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Rectangle 129">
            <a:extLst>
              <a:ext uri="{FF2B5EF4-FFF2-40B4-BE49-F238E27FC236}">
                <a16:creationId xmlns:a16="http://schemas.microsoft.com/office/drawing/2014/main" id="{6B1F4B71-2D03-2E84-620C-FB893FC6EC1F}"/>
              </a:ext>
            </a:extLst>
          </p:cNvPr>
          <p:cNvSpPr/>
          <p:nvPr/>
        </p:nvSpPr>
        <p:spPr>
          <a:xfrm>
            <a:off x="5385317" y="1546238"/>
            <a:ext cx="3082245" cy="12414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1400" dirty="0">
                <a:solidFill>
                  <a:srgbClr val="000000"/>
                </a:solidFill>
              </a:rPr>
              <a:t>Gen AI analyses the submitted medical records to check NIGO, compare against policy certificate to recommend the claim outcome </a:t>
            </a:r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5897B0F5-330C-A6F2-7E0F-22D966DC8AE2}"/>
              </a:ext>
            </a:extLst>
          </p:cNvPr>
          <p:cNvSpPr/>
          <p:nvPr/>
        </p:nvSpPr>
        <p:spPr>
          <a:xfrm flipV="1">
            <a:off x="6763586" y="828340"/>
            <a:ext cx="814379" cy="814379"/>
          </a:xfrm>
          <a:prstGeom prst="ellipse">
            <a:avLst/>
          </a:prstGeom>
          <a:solidFill>
            <a:srgbClr val="F9F9F9"/>
          </a:solidFill>
          <a:ln w="22225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D5DFA0C4-5802-443B-5BD0-E947CF2B5BD3}"/>
              </a:ext>
            </a:extLst>
          </p:cNvPr>
          <p:cNvGrpSpPr/>
          <p:nvPr/>
        </p:nvGrpSpPr>
        <p:grpSpPr>
          <a:xfrm>
            <a:off x="6920933" y="997459"/>
            <a:ext cx="497024" cy="476140"/>
            <a:chOff x="5743545" y="868717"/>
            <a:chExt cx="639686" cy="612808"/>
          </a:xfrm>
          <a:solidFill>
            <a:schemeClr val="tx1"/>
          </a:solidFill>
        </p:grpSpPr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5477685A-6650-2198-CDC2-53435D1AAAB7}"/>
                </a:ext>
              </a:extLst>
            </p:cNvPr>
            <p:cNvSpPr/>
            <p:nvPr/>
          </p:nvSpPr>
          <p:spPr>
            <a:xfrm>
              <a:off x="5743545" y="872301"/>
              <a:ext cx="349408" cy="609224"/>
            </a:xfrm>
            <a:custGeom>
              <a:avLst/>
              <a:gdLst>
                <a:gd name="connsiteX0" fmla="*/ 290755 w 360555"/>
                <a:gd name="connsiteY0" fmla="*/ 623575 h 628660"/>
                <a:gd name="connsiteX1" fmla="*/ 151156 w 360555"/>
                <a:gd name="connsiteY1" fmla="*/ 542219 h 628660"/>
                <a:gd name="connsiteX2" fmla="*/ 67026 w 360555"/>
                <a:gd name="connsiteY2" fmla="*/ 508013 h 628660"/>
                <a:gd name="connsiteX3" fmla="*/ 38367 w 360555"/>
                <a:gd name="connsiteY3" fmla="*/ 397073 h 628660"/>
                <a:gd name="connsiteX4" fmla="*/ 6934 w 360555"/>
                <a:gd name="connsiteY4" fmla="*/ 310170 h 628660"/>
                <a:gd name="connsiteX5" fmla="*/ 57781 w 360555"/>
                <a:gd name="connsiteY5" fmla="*/ 202928 h 628660"/>
                <a:gd name="connsiteX6" fmla="*/ 57781 w 360555"/>
                <a:gd name="connsiteY6" fmla="*/ 199230 h 628660"/>
                <a:gd name="connsiteX7" fmla="*/ 140062 w 360555"/>
                <a:gd name="connsiteY7" fmla="*/ 89214 h 628660"/>
                <a:gd name="connsiteX8" fmla="*/ 279661 w 360555"/>
                <a:gd name="connsiteY8" fmla="*/ 6934 h 628660"/>
                <a:gd name="connsiteX9" fmla="*/ 344376 w 360555"/>
                <a:gd name="connsiteY9" fmla="*/ 6934 h 628660"/>
                <a:gd name="connsiteX10" fmla="*/ 358244 w 360555"/>
                <a:gd name="connsiteY10" fmla="*/ 20801 h 628660"/>
                <a:gd name="connsiteX11" fmla="*/ 358244 w 360555"/>
                <a:gd name="connsiteY11" fmla="*/ 604161 h 628660"/>
                <a:gd name="connsiteX12" fmla="*/ 347150 w 360555"/>
                <a:gd name="connsiteY12" fmla="*/ 618028 h 628660"/>
                <a:gd name="connsiteX13" fmla="*/ 290755 w 360555"/>
                <a:gd name="connsiteY13" fmla="*/ 623575 h 628660"/>
                <a:gd name="connsiteX14" fmla="*/ 160401 w 360555"/>
                <a:gd name="connsiteY14" fmla="*/ 513560 h 628660"/>
                <a:gd name="connsiteX15" fmla="*/ 173344 w 360555"/>
                <a:gd name="connsiteY15" fmla="*/ 521880 h 628660"/>
                <a:gd name="connsiteX16" fmla="*/ 331433 w 360555"/>
                <a:gd name="connsiteY16" fmla="*/ 592142 h 628660"/>
                <a:gd name="connsiteX17" fmla="*/ 331433 w 360555"/>
                <a:gd name="connsiteY17" fmla="*/ 34669 h 628660"/>
                <a:gd name="connsiteX18" fmla="*/ 280586 w 360555"/>
                <a:gd name="connsiteY18" fmla="*/ 34669 h 628660"/>
                <a:gd name="connsiteX19" fmla="*/ 164099 w 360555"/>
                <a:gd name="connsiteY19" fmla="*/ 105855 h 628660"/>
                <a:gd name="connsiteX20" fmla="*/ 153005 w 360555"/>
                <a:gd name="connsiteY20" fmla="*/ 116025 h 628660"/>
                <a:gd name="connsiteX21" fmla="*/ 86441 w 360555"/>
                <a:gd name="connsiteY21" fmla="*/ 199230 h 628660"/>
                <a:gd name="connsiteX22" fmla="*/ 87365 w 360555"/>
                <a:gd name="connsiteY22" fmla="*/ 209399 h 628660"/>
                <a:gd name="connsiteX23" fmla="*/ 79969 w 360555"/>
                <a:gd name="connsiteY23" fmla="*/ 223267 h 628660"/>
                <a:gd name="connsiteX24" fmla="*/ 34669 w 360555"/>
                <a:gd name="connsiteY24" fmla="*/ 310170 h 628660"/>
                <a:gd name="connsiteX25" fmla="*/ 62404 w 360555"/>
                <a:gd name="connsiteY25" fmla="*/ 382281 h 628660"/>
                <a:gd name="connsiteX26" fmla="*/ 66102 w 360555"/>
                <a:gd name="connsiteY26" fmla="*/ 395224 h 628660"/>
                <a:gd name="connsiteX27" fmla="*/ 87365 w 360555"/>
                <a:gd name="connsiteY27" fmla="*/ 489523 h 628660"/>
                <a:gd name="connsiteX28" fmla="*/ 158552 w 360555"/>
                <a:gd name="connsiteY28" fmla="*/ 513560 h 628660"/>
                <a:gd name="connsiteX29" fmla="*/ 160401 w 360555"/>
                <a:gd name="connsiteY29" fmla="*/ 513560 h 628660"/>
                <a:gd name="connsiteX30" fmla="*/ 150231 w 360555"/>
                <a:gd name="connsiteY30" fmla="*/ 101233 h 628660"/>
                <a:gd name="connsiteX31" fmla="*/ 150231 w 360555"/>
                <a:gd name="connsiteY31" fmla="*/ 101233 h 628660"/>
                <a:gd name="connsiteX32" fmla="*/ 150231 w 360555"/>
                <a:gd name="connsiteY32" fmla="*/ 101233 h 628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60555" h="628660">
                  <a:moveTo>
                    <a:pt x="290755" y="623575"/>
                  </a:moveTo>
                  <a:cubicBezTo>
                    <a:pt x="224191" y="623575"/>
                    <a:pt x="178891" y="596765"/>
                    <a:pt x="151156" y="542219"/>
                  </a:cubicBezTo>
                  <a:cubicBezTo>
                    <a:pt x="107704" y="543144"/>
                    <a:pt x="80894" y="524654"/>
                    <a:pt x="67026" y="508013"/>
                  </a:cubicBezTo>
                  <a:cubicBezTo>
                    <a:pt x="39291" y="476580"/>
                    <a:pt x="32820" y="430355"/>
                    <a:pt x="38367" y="397073"/>
                  </a:cubicBezTo>
                  <a:cubicBezTo>
                    <a:pt x="18952" y="374885"/>
                    <a:pt x="6934" y="341603"/>
                    <a:pt x="6934" y="310170"/>
                  </a:cubicBezTo>
                  <a:cubicBezTo>
                    <a:pt x="6934" y="263945"/>
                    <a:pt x="26348" y="222342"/>
                    <a:pt x="57781" y="202928"/>
                  </a:cubicBezTo>
                  <a:cubicBezTo>
                    <a:pt x="57781" y="202003"/>
                    <a:pt x="57781" y="200154"/>
                    <a:pt x="57781" y="199230"/>
                  </a:cubicBezTo>
                  <a:cubicBezTo>
                    <a:pt x="57781" y="143760"/>
                    <a:pt x="91063" y="100308"/>
                    <a:pt x="140062" y="89214"/>
                  </a:cubicBezTo>
                  <a:cubicBezTo>
                    <a:pt x="157627" y="47612"/>
                    <a:pt x="214946" y="6934"/>
                    <a:pt x="279661" y="6934"/>
                  </a:cubicBezTo>
                  <a:lnTo>
                    <a:pt x="344376" y="6934"/>
                  </a:lnTo>
                  <a:cubicBezTo>
                    <a:pt x="352697" y="6934"/>
                    <a:pt x="358244" y="12481"/>
                    <a:pt x="358244" y="20801"/>
                  </a:cubicBezTo>
                  <a:lnTo>
                    <a:pt x="358244" y="604161"/>
                  </a:lnTo>
                  <a:cubicBezTo>
                    <a:pt x="358244" y="610632"/>
                    <a:pt x="353621" y="616179"/>
                    <a:pt x="347150" y="618028"/>
                  </a:cubicBezTo>
                  <a:cubicBezTo>
                    <a:pt x="326811" y="621726"/>
                    <a:pt x="308321" y="623575"/>
                    <a:pt x="290755" y="623575"/>
                  </a:cubicBezTo>
                  <a:close/>
                  <a:moveTo>
                    <a:pt x="160401" y="513560"/>
                  </a:moveTo>
                  <a:cubicBezTo>
                    <a:pt x="165948" y="513560"/>
                    <a:pt x="170570" y="516333"/>
                    <a:pt x="173344" y="521880"/>
                  </a:cubicBezTo>
                  <a:cubicBezTo>
                    <a:pt x="200154" y="582897"/>
                    <a:pt x="249153" y="605085"/>
                    <a:pt x="331433" y="592142"/>
                  </a:cubicBezTo>
                  <a:lnTo>
                    <a:pt x="331433" y="34669"/>
                  </a:lnTo>
                  <a:lnTo>
                    <a:pt x="280586" y="34669"/>
                  </a:lnTo>
                  <a:cubicBezTo>
                    <a:pt x="219569" y="34669"/>
                    <a:pt x="173344" y="76271"/>
                    <a:pt x="164099" y="105855"/>
                  </a:cubicBezTo>
                  <a:cubicBezTo>
                    <a:pt x="162250" y="111402"/>
                    <a:pt x="157627" y="115100"/>
                    <a:pt x="153005" y="116025"/>
                  </a:cubicBezTo>
                  <a:cubicBezTo>
                    <a:pt x="114176" y="121572"/>
                    <a:pt x="86441" y="155778"/>
                    <a:pt x="86441" y="199230"/>
                  </a:cubicBezTo>
                  <a:cubicBezTo>
                    <a:pt x="86441" y="202928"/>
                    <a:pt x="86441" y="205701"/>
                    <a:pt x="87365" y="209399"/>
                  </a:cubicBezTo>
                  <a:cubicBezTo>
                    <a:pt x="88290" y="214946"/>
                    <a:pt x="84592" y="220493"/>
                    <a:pt x="79969" y="223267"/>
                  </a:cubicBezTo>
                  <a:cubicBezTo>
                    <a:pt x="52234" y="235285"/>
                    <a:pt x="34669" y="270416"/>
                    <a:pt x="34669" y="310170"/>
                  </a:cubicBezTo>
                  <a:cubicBezTo>
                    <a:pt x="34669" y="337905"/>
                    <a:pt x="45763" y="366564"/>
                    <a:pt x="62404" y="382281"/>
                  </a:cubicBezTo>
                  <a:cubicBezTo>
                    <a:pt x="66102" y="385979"/>
                    <a:pt x="67026" y="390601"/>
                    <a:pt x="66102" y="395224"/>
                  </a:cubicBezTo>
                  <a:cubicBezTo>
                    <a:pt x="59630" y="422959"/>
                    <a:pt x="65177" y="464561"/>
                    <a:pt x="87365" y="489523"/>
                  </a:cubicBezTo>
                  <a:cubicBezTo>
                    <a:pt x="104006" y="508013"/>
                    <a:pt x="128043" y="516333"/>
                    <a:pt x="158552" y="513560"/>
                  </a:cubicBezTo>
                  <a:cubicBezTo>
                    <a:pt x="159476" y="513560"/>
                    <a:pt x="159476" y="513560"/>
                    <a:pt x="160401" y="513560"/>
                  </a:cubicBezTo>
                  <a:close/>
                  <a:moveTo>
                    <a:pt x="150231" y="101233"/>
                  </a:moveTo>
                  <a:lnTo>
                    <a:pt x="150231" y="101233"/>
                  </a:lnTo>
                  <a:lnTo>
                    <a:pt x="150231" y="10123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2CC528AA-D967-1338-77B7-775C0CF0D7A9}"/>
                </a:ext>
              </a:extLst>
            </p:cNvPr>
            <p:cNvSpPr/>
            <p:nvPr/>
          </p:nvSpPr>
          <p:spPr>
            <a:xfrm>
              <a:off x="5868974" y="950246"/>
              <a:ext cx="134388" cy="134388"/>
            </a:xfrm>
            <a:custGeom>
              <a:avLst/>
              <a:gdLst>
                <a:gd name="connsiteX0" fmla="*/ 117874 w 138675"/>
                <a:gd name="connsiteY0" fmla="*/ 131741 h 138675"/>
                <a:gd name="connsiteX1" fmla="*/ 6934 w 138675"/>
                <a:gd name="connsiteY1" fmla="*/ 20801 h 138675"/>
                <a:gd name="connsiteX2" fmla="*/ 20801 w 138675"/>
                <a:gd name="connsiteY2" fmla="*/ 6934 h 138675"/>
                <a:gd name="connsiteX3" fmla="*/ 34669 w 138675"/>
                <a:gd name="connsiteY3" fmla="*/ 20801 h 138675"/>
                <a:gd name="connsiteX4" fmla="*/ 117874 w 138675"/>
                <a:gd name="connsiteY4" fmla="*/ 104006 h 138675"/>
                <a:gd name="connsiteX5" fmla="*/ 131741 w 138675"/>
                <a:gd name="connsiteY5" fmla="*/ 117874 h 138675"/>
                <a:gd name="connsiteX6" fmla="*/ 117874 w 138675"/>
                <a:gd name="connsiteY6" fmla="*/ 131741 h 13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8675" h="138675">
                  <a:moveTo>
                    <a:pt x="117874" y="131741"/>
                  </a:moveTo>
                  <a:cubicBezTo>
                    <a:pt x="63328" y="131741"/>
                    <a:pt x="6934" y="118798"/>
                    <a:pt x="6934" y="20801"/>
                  </a:cubicBezTo>
                  <a:cubicBezTo>
                    <a:pt x="6934" y="13405"/>
                    <a:pt x="13405" y="6934"/>
                    <a:pt x="20801" y="6934"/>
                  </a:cubicBezTo>
                  <a:cubicBezTo>
                    <a:pt x="28197" y="6934"/>
                    <a:pt x="34669" y="13405"/>
                    <a:pt x="34669" y="20801"/>
                  </a:cubicBezTo>
                  <a:cubicBezTo>
                    <a:pt x="34669" y="91063"/>
                    <a:pt x="62404" y="104006"/>
                    <a:pt x="117874" y="104006"/>
                  </a:cubicBezTo>
                  <a:cubicBezTo>
                    <a:pt x="125270" y="104006"/>
                    <a:pt x="131741" y="110478"/>
                    <a:pt x="131741" y="117874"/>
                  </a:cubicBezTo>
                  <a:cubicBezTo>
                    <a:pt x="131741" y="125270"/>
                    <a:pt x="125270" y="131741"/>
                    <a:pt x="117874" y="13174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341050EA-1320-530D-2AA5-C03A0A6041D5}"/>
                </a:ext>
              </a:extLst>
            </p:cNvPr>
            <p:cNvSpPr/>
            <p:nvPr/>
          </p:nvSpPr>
          <p:spPr>
            <a:xfrm>
              <a:off x="5869174" y="1099864"/>
              <a:ext cx="223980" cy="80633"/>
            </a:xfrm>
            <a:custGeom>
              <a:avLst/>
              <a:gdLst>
                <a:gd name="connsiteX0" fmla="*/ 55727 w 231125"/>
                <a:gd name="connsiteY0" fmla="*/ 83667 h 83205"/>
                <a:gd name="connsiteX1" fmla="*/ 13200 w 231125"/>
                <a:gd name="connsiteY1" fmla="*/ 71649 h 83205"/>
                <a:gd name="connsiteX2" fmla="*/ 9502 w 231125"/>
                <a:gd name="connsiteY2" fmla="*/ 52234 h 83205"/>
                <a:gd name="connsiteX3" fmla="*/ 28916 w 231125"/>
                <a:gd name="connsiteY3" fmla="*/ 48536 h 83205"/>
                <a:gd name="connsiteX4" fmla="*/ 104725 w 231125"/>
                <a:gd name="connsiteY4" fmla="*/ 36518 h 83205"/>
                <a:gd name="connsiteX5" fmla="*/ 163893 w 231125"/>
                <a:gd name="connsiteY5" fmla="*/ 6934 h 83205"/>
                <a:gd name="connsiteX6" fmla="*/ 163893 w 231125"/>
                <a:gd name="connsiteY6" fmla="*/ 6934 h 83205"/>
                <a:gd name="connsiteX7" fmla="*/ 224910 w 231125"/>
                <a:gd name="connsiteY7" fmla="*/ 37442 h 83205"/>
                <a:gd name="connsiteX8" fmla="*/ 224910 w 231125"/>
                <a:gd name="connsiteY8" fmla="*/ 56857 h 83205"/>
                <a:gd name="connsiteX9" fmla="*/ 205496 w 231125"/>
                <a:gd name="connsiteY9" fmla="*/ 56857 h 83205"/>
                <a:gd name="connsiteX10" fmla="*/ 163893 w 231125"/>
                <a:gd name="connsiteY10" fmla="*/ 34669 h 83205"/>
                <a:gd name="connsiteX11" fmla="*/ 163893 w 231125"/>
                <a:gd name="connsiteY11" fmla="*/ 34669 h 83205"/>
                <a:gd name="connsiteX12" fmla="*/ 124140 w 231125"/>
                <a:gd name="connsiteY12" fmla="*/ 55932 h 83205"/>
                <a:gd name="connsiteX13" fmla="*/ 55727 w 231125"/>
                <a:gd name="connsiteY13" fmla="*/ 83667 h 83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1125" h="83205">
                  <a:moveTo>
                    <a:pt x="55727" y="83667"/>
                  </a:moveTo>
                  <a:cubicBezTo>
                    <a:pt x="40010" y="83667"/>
                    <a:pt x="25218" y="79969"/>
                    <a:pt x="13200" y="71649"/>
                  </a:cubicBezTo>
                  <a:cubicBezTo>
                    <a:pt x="6728" y="67026"/>
                    <a:pt x="4879" y="58706"/>
                    <a:pt x="9502" y="52234"/>
                  </a:cubicBezTo>
                  <a:cubicBezTo>
                    <a:pt x="14124" y="45763"/>
                    <a:pt x="22445" y="43914"/>
                    <a:pt x="28916" y="48536"/>
                  </a:cubicBezTo>
                  <a:cubicBezTo>
                    <a:pt x="49255" y="61479"/>
                    <a:pt x="86235" y="55932"/>
                    <a:pt x="104725" y="36518"/>
                  </a:cubicBezTo>
                  <a:cubicBezTo>
                    <a:pt x="123215" y="17103"/>
                    <a:pt x="143554" y="6934"/>
                    <a:pt x="163893" y="6934"/>
                  </a:cubicBezTo>
                  <a:cubicBezTo>
                    <a:pt x="163893" y="6934"/>
                    <a:pt x="163893" y="6934"/>
                    <a:pt x="163893" y="6934"/>
                  </a:cubicBezTo>
                  <a:cubicBezTo>
                    <a:pt x="185157" y="6934"/>
                    <a:pt x="205496" y="17103"/>
                    <a:pt x="224910" y="37442"/>
                  </a:cubicBezTo>
                  <a:cubicBezTo>
                    <a:pt x="230457" y="42989"/>
                    <a:pt x="230457" y="51310"/>
                    <a:pt x="224910" y="56857"/>
                  </a:cubicBezTo>
                  <a:cubicBezTo>
                    <a:pt x="219363" y="62404"/>
                    <a:pt x="211043" y="62404"/>
                    <a:pt x="205496" y="56857"/>
                  </a:cubicBezTo>
                  <a:cubicBezTo>
                    <a:pt x="191628" y="42065"/>
                    <a:pt x="177761" y="34669"/>
                    <a:pt x="163893" y="34669"/>
                  </a:cubicBezTo>
                  <a:cubicBezTo>
                    <a:pt x="163893" y="34669"/>
                    <a:pt x="163893" y="34669"/>
                    <a:pt x="163893" y="34669"/>
                  </a:cubicBezTo>
                  <a:cubicBezTo>
                    <a:pt x="150950" y="34669"/>
                    <a:pt x="138007" y="42065"/>
                    <a:pt x="124140" y="55932"/>
                  </a:cubicBezTo>
                  <a:cubicBezTo>
                    <a:pt x="106574" y="73498"/>
                    <a:pt x="80688" y="83667"/>
                    <a:pt x="55727" y="836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BBE23EB3-2459-6DB4-7A9D-850484A4F97F}"/>
                </a:ext>
              </a:extLst>
            </p:cNvPr>
            <p:cNvSpPr/>
            <p:nvPr/>
          </p:nvSpPr>
          <p:spPr>
            <a:xfrm>
              <a:off x="5960181" y="950240"/>
              <a:ext cx="134388" cy="71673"/>
            </a:xfrm>
            <a:custGeom>
              <a:avLst/>
              <a:gdLst>
                <a:gd name="connsiteX0" fmla="*/ 83674 w 138675"/>
                <a:gd name="connsiteY0" fmla="*/ 73505 h 73960"/>
                <a:gd name="connsiteX1" fmla="*/ 7865 w 138675"/>
                <a:gd name="connsiteY1" fmla="*/ 26355 h 73960"/>
                <a:gd name="connsiteX2" fmla="*/ 15261 w 138675"/>
                <a:gd name="connsiteY2" fmla="*/ 7865 h 73960"/>
                <a:gd name="connsiteX3" fmla="*/ 33751 w 138675"/>
                <a:gd name="connsiteY3" fmla="*/ 15261 h 73960"/>
                <a:gd name="connsiteX4" fmla="*/ 113258 w 138675"/>
                <a:gd name="connsiteY4" fmla="*/ 40223 h 73960"/>
                <a:gd name="connsiteX5" fmla="*/ 130824 w 138675"/>
                <a:gd name="connsiteY5" fmla="*/ 48543 h 73960"/>
                <a:gd name="connsiteX6" fmla="*/ 122503 w 138675"/>
                <a:gd name="connsiteY6" fmla="*/ 66109 h 73960"/>
                <a:gd name="connsiteX7" fmla="*/ 83674 w 138675"/>
                <a:gd name="connsiteY7" fmla="*/ 7350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8675" h="73960">
                  <a:moveTo>
                    <a:pt x="83674" y="73505"/>
                  </a:moveTo>
                  <a:cubicBezTo>
                    <a:pt x="49468" y="73505"/>
                    <a:pt x="19884" y="55939"/>
                    <a:pt x="7865" y="26355"/>
                  </a:cubicBezTo>
                  <a:cubicBezTo>
                    <a:pt x="5092" y="18959"/>
                    <a:pt x="8790" y="11563"/>
                    <a:pt x="15261" y="7865"/>
                  </a:cubicBezTo>
                  <a:cubicBezTo>
                    <a:pt x="22657" y="5092"/>
                    <a:pt x="30053" y="8790"/>
                    <a:pt x="33751" y="15261"/>
                  </a:cubicBezTo>
                  <a:cubicBezTo>
                    <a:pt x="44845" y="42072"/>
                    <a:pt x="79052" y="53166"/>
                    <a:pt x="113258" y="40223"/>
                  </a:cubicBezTo>
                  <a:cubicBezTo>
                    <a:pt x="120654" y="37449"/>
                    <a:pt x="128050" y="41147"/>
                    <a:pt x="130824" y="48543"/>
                  </a:cubicBezTo>
                  <a:cubicBezTo>
                    <a:pt x="133597" y="55939"/>
                    <a:pt x="129899" y="63335"/>
                    <a:pt x="122503" y="66109"/>
                  </a:cubicBezTo>
                  <a:cubicBezTo>
                    <a:pt x="109560" y="70731"/>
                    <a:pt x="96617" y="73505"/>
                    <a:pt x="83674" y="735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599D5FD9-0498-4523-7114-123842BEA586}"/>
                </a:ext>
              </a:extLst>
            </p:cNvPr>
            <p:cNvSpPr/>
            <p:nvPr/>
          </p:nvSpPr>
          <p:spPr>
            <a:xfrm>
              <a:off x="5982629" y="1302076"/>
              <a:ext cx="107510" cy="71673"/>
            </a:xfrm>
            <a:custGeom>
              <a:avLst/>
              <a:gdLst>
                <a:gd name="connsiteX0" fmla="*/ 20932 w 110940"/>
                <a:gd name="connsiteY0" fmla="*/ 70074 h 73960"/>
                <a:gd name="connsiteX1" fmla="*/ 15385 w 110940"/>
                <a:gd name="connsiteY1" fmla="*/ 69149 h 73960"/>
                <a:gd name="connsiteX2" fmla="*/ 7989 w 110940"/>
                <a:gd name="connsiteY2" fmla="*/ 50659 h 73960"/>
                <a:gd name="connsiteX3" fmla="*/ 102288 w 110940"/>
                <a:gd name="connsiteY3" fmla="*/ 12755 h 73960"/>
                <a:gd name="connsiteX4" fmla="*/ 110608 w 110940"/>
                <a:gd name="connsiteY4" fmla="*/ 30320 h 73960"/>
                <a:gd name="connsiteX5" fmla="*/ 93043 w 110940"/>
                <a:gd name="connsiteY5" fmla="*/ 38641 h 73960"/>
                <a:gd name="connsiteX6" fmla="*/ 33875 w 110940"/>
                <a:gd name="connsiteY6" fmla="*/ 61753 h 73960"/>
                <a:gd name="connsiteX7" fmla="*/ 20932 w 110940"/>
                <a:gd name="connsiteY7" fmla="*/ 70074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940" h="73960">
                  <a:moveTo>
                    <a:pt x="20932" y="70074"/>
                  </a:moveTo>
                  <a:cubicBezTo>
                    <a:pt x="19083" y="70074"/>
                    <a:pt x="17234" y="70074"/>
                    <a:pt x="15385" y="69149"/>
                  </a:cubicBezTo>
                  <a:cubicBezTo>
                    <a:pt x="7989" y="66376"/>
                    <a:pt x="5215" y="58055"/>
                    <a:pt x="7989" y="50659"/>
                  </a:cubicBezTo>
                  <a:cubicBezTo>
                    <a:pt x="20932" y="20151"/>
                    <a:pt x="56063" y="-4811"/>
                    <a:pt x="102288" y="12755"/>
                  </a:cubicBezTo>
                  <a:cubicBezTo>
                    <a:pt x="109684" y="15528"/>
                    <a:pt x="113382" y="23849"/>
                    <a:pt x="110608" y="30320"/>
                  </a:cubicBezTo>
                  <a:cubicBezTo>
                    <a:pt x="107835" y="37716"/>
                    <a:pt x="99514" y="41414"/>
                    <a:pt x="93043" y="38641"/>
                  </a:cubicBezTo>
                  <a:cubicBezTo>
                    <a:pt x="61610" y="26622"/>
                    <a:pt x="41271" y="44188"/>
                    <a:pt x="33875" y="61753"/>
                  </a:cubicBezTo>
                  <a:cubicBezTo>
                    <a:pt x="31101" y="66376"/>
                    <a:pt x="26479" y="70074"/>
                    <a:pt x="20932" y="7007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92FA32EB-5FED-2540-9FA8-80E3DD5F97E4}"/>
                </a:ext>
              </a:extLst>
            </p:cNvPr>
            <p:cNvSpPr/>
            <p:nvPr/>
          </p:nvSpPr>
          <p:spPr>
            <a:xfrm>
              <a:off x="5853744" y="1232460"/>
              <a:ext cx="80633" cy="80633"/>
            </a:xfrm>
            <a:custGeom>
              <a:avLst/>
              <a:gdLst>
                <a:gd name="connsiteX0" fmla="*/ 68875 w 83205"/>
                <a:gd name="connsiteY0" fmla="*/ 82743 h 83205"/>
                <a:gd name="connsiteX1" fmla="*/ 67026 w 83205"/>
                <a:gd name="connsiteY1" fmla="*/ 82743 h 83205"/>
                <a:gd name="connsiteX2" fmla="*/ 6934 w 83205"/>
                <a:gd name="connsiteY2" fmla="*/ 20801 h 83205"/>
                <a:gd name="connsiteX3" fmla="*/ 20801 w 83205"/>
                <a:gd name="connsiteY3" fmla="*/ 6934 h 83205"/>
                <a:gd name="connsiteX4" fmla="*/ 34669 w 83205"/>
                <a:gd name="connsiteY4" fmla="*/ 20801 h 83205"/>
                <a:gd name="connsiteX5" fmla="*/ 71649 w 83205"/>
                <a:gd name="connsiteY5" fmla="*/ 55932 h 83205"/>
                <a:gd name="connsiteX6" fmla="*/ 82743 w 83205"/>
                <a:gd name="connsiteY6" fmla="*/ 71649 h 83205"/>
                <a:gd name="connsiteX7" fmla="*/ 68875 w 83205"/>
                <a:gd name="connsiteY7" fmla="*/ 82743 h 83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205" h="83205">
                  <a:moveTo>
                    <a:pt x="68875" y="82743"/>
                  </a:moveTo>
                  <a:cubicBezTo>
                    <a:pt x="67951" y="82743"/>
                    <a:pt x="67026" y="82743"/>
                    <a:pt x="67026" y="82743"/>
                  </a:cubicBezTo>
                  <a:cubicBezTo>
                    <a:pt x="35593" y="78120"/>
                    <a:pt x="6934" y="48536"/>
                    <a:pt x="6934" y="20801"/>
                  </a:cubicBezTo>
                  <a:cubicBezTo>
                    <a:pt x="6934" y="13405"/>
                    <a:pt x="13405" y="6934"/>
                    <a:pt x="20801" y="6934"/>
                  </a:cubicBezTo>
                  <a:cubicBezTo>
                    <a:pt x="28197" y="6934"/>
                    <a:pt x="34669" y="13405"/>
                    <a:pt x="34669" y="20801"/>
                  </a:cubicBezTo>
                  <a:cubicBezTo>
                    <a:pt x="34669" y="33744"/>
                    <a:pt x="52234" y="52234"/>
                    <a:pt x="71649" y="55932"/>
                  </a:cubicBezTo>
                  <a:cubicBezTo>
                    <a:pt x="79045" y="56857"/>
                    <a:pt x="84592" y="64253"/>
                    <a:pt x="82743" y="71649"/>
                  </a:cubicBezTo>
                  <a:cubicBezTo>
                    <a:pt x="81818" y="78120"/>
                    <a:pt x="75347" y="82743"/>
                    <a:pt x="68875" y="8274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956882D-5320-7055-EBFE-E7CB6EE7AE19}"/>
                </a:ext>
              </a:extLst>
            </p:cNvPr>
            <p:cNvSpPr/>
            <p:nvPr/>
          </p:nvSpPr>
          <p:spPr>
            <a:xfrm>
              <a:off x="5878830" y="1231565"/>
              <a:ext cx="152306" cy="170224"/>
            </a:xfrm>
            <a:custGeom>
              <a:avLst/>
              <a:gdLst>
                <a:gd name="connsiteX0" fmla="*/ 20801 w 157165"/>
                <a:gd name="connsiteY0" fmla="*/ 170570 h 175655"/>
                <a:gd name="connsiteX1" fmla="*/ 6934 w 157165"/>
                <a:gd name="connsiteY1" fmla="*/ 156703 h 175655"/>
                <a:gd name="connsiteX2" fmla="*/ 140062 w 157165"/>
                <a:gd name="connsiteY2" fmla="*/ 6934 h 175655"/>
                <a:gd name="connsiteX3" fmla="*/ 153929 w 157165"/>
                <a:gd name="connsiteY3" fmla="*/ 20801 h 175655"/>
                <a:gd name="connsiteX4" fmla="*/ 140062 w 157165"/>
                <a:gd name="connsiteY4" fmla="*/ 34669 h 175655"/>
                <a:gd name="connsiteX5" fmla="*/ 34669 w 157165"/>
                <a:gd name="connsiteY5" fmla="*/ 156703 h 175655"/>
                <a:gd name="connsiteX6" fmla="*/ 20801 w 157165"/>
                <a:gd name="connsiteY6" fmla="*/ 170570 h 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7165" h="175655">
                  <a:moveTo>
                    <a:pt x="20801" y="170570"/>
                  </a:moveTo>
                  <a:cubicBezTo>
                    <a:pt x="13405" y="170570"/>
                    <a:pt x="6934" y="164099"/>
                    <a:pt x="6934" y="156703"/>
                  </a:cubicBezTo>
                  <a:cubicBezTo>
                    <a:pt x="6934" y="82743"/>
                    <a:pt x="53159" y="6934"/>
                    <a:pt x="140062" y="6934"/>
                  </a:cubicBezTo>
                  <a:cubicBezTo>
                    <a:pt x="147458" y="6934"/>
                    <a:pt x="153929" y="13405"/>
                    <a:pt x="153929" y="20801"/>
                  </a:cubicBezTo>
                  <a:cubicBezTo>
                    <a:pt x="153929" y="28197"/>
                    <a:pt x="147458" y="34669"/>
                    <a:pt x="140062" y="34669"/>
                  </a:cubicBezTo>
                  <a:cubicBezTo>
                    <a:pt x="56857" y="34669"/>
                    <a:pt x="34669" y="114176"/>
                    <a:pt x="34669" y="156703"/>
                  </a:cubicBezTo>
                  <a:cubicBezTo>
                    <a:pt x="34669" y="165023"/>
                    <a:pt x="28197" y="170570"/>
                    <a:pt x="20801" y="1705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431604F5-B707-5AE6-2810-003C2849FB58}"/>
                </a:ext>
              </a:extLst>
            </p:cNvPr>
            <p:cNvSpPr/>
            <p:nvPr/>
          </p:nvSpPr>
          <p:spPr>
            <a:xfrm>
              <a:off x="5822386" y="1094489"/>
              <a:ext cx="80633" cy="125429"/>
            </a:xfrm>
            <a:custGeom>
              <a:avLst/>
              <a:gdLst>
                <a:gd name="connsiteX0" fmla="*/ 36518 w 83205"/>
                <a:gd name="connsiteY0" fmla="*/ 128043 h 129430"/>
                <a:gd name="connsiteX1" fmla="*/ 23575 w 83205"/>
                <a:gd name="connsiteY1" fmla="*/ 118798 h 129430"/>
                <a:gd name="connsiteX2" fmla="*/ 31895 w 83205"/>
                <a:gd name="connsiteY2" fmla="*/ 101233 h 129430"/>
                <a:gd name="connsiteX3" fmla="*/ 55008 w 83205"/>
                <a:gd name="connsiteY3" fmla="*/ 66102 h 129430"/>
                <a:gd name="connsiteX4" fmla="*/ 20801 w 83205"/>
                <a:gd name="connsiteY4" fmla="*/ 34669 h 129430"/>
                <a:gd name="connsiteX5" fmla="*/ 6934 w 83205"/>
                <a:gd name="connsiteY5" fmla="*/ 20801 h 129430"/>
                <a:gd name="connsiteX6" fmla="*/ 20801 w 83205"/>
                <a:gd name="connsiteY6" fmla="*/ 6934 h 129430"/>
                <a:gd name="connsiteX7" fmla="*/ 82743 w 83205"/>
                <a:gd name="connsiteY7" fmla="*/ 66102 h 129430"/>
                <a:gd name="connsiteX8" fmla="*/ 41140 w 83205"/>
                <a:gd name="connsiteY8" fmla="*/ 128043 h 129430"/>
                <a:gd name="connsiteX9" fmla="*/ 36518 w 83205"/>
                <a:gd name="connsiteY9" fmla="*/ 128043 h 129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3205" h="129430">
                  <a:moveTo>
                    <a:pt x="36518" y="128043"/>
                  </a:moveTo>
                  <a:cubicBezTo>
                    <a:pt x="30971" y="128043"/>
                    <a:pt x="25424" y="124345"/>
                    <a:pt x="23575" y="118798"/>
                  </a:cubicBezTo>
                  <a:cubicBezTo>
                    <a:pt x="20801" y="111402"/>
                    <a:pt x="24499" y="104006"/>
                    <a:pt x="31895" y="101233"/>
                  </a:cubicBezTo>
                  <a:cubicBezTo>
                    <a:pt x="44838" y="96610"/>
                    <a:pt x="55008" y="80894"/>
                    <a:pt x="55008" y="66102"/>
                  </a:cubicBezTo>
                  <a:cubicBezTo>
                    <a:pt x="55008" y="47612"/>
                    <a:pt x="40216" y="34669"/>
                    <a:pt x="20801" y="34669"/>
                  </a:cubicBezTo>
                  <a:cubicBezTo>
                    <a:pt x="13405" y="34669"/>
                    <a:pt x="6934" y="28197"/>
                    <a:pt x="6934" y="20801"/>
                  </a:cubicBezTo>
                  <a:cubicBezTo>
                    <a:pt x="6934" y="13405"/>
                    <a:pt x="13405" y="6934"/>
                    <a:pt x="20801" y="6934"/>
                  </a:cubicBezTo>
                  <a:cubicBezTo>
                    <a:pt x="55932" y="6934"/>
                    <a:pt x="82743" y="32820"/>
                    <a:pt x="82743" y="66102"/>
                  </a:cubicBezTo>
                  <a:cubicBezTo>
                    <a:pt x="82743" y="92912"/>
                    <a:pt x="65177" y="118798"/>
                    <a:pt x="41140" y="128043"/>
                  </a:cubicBezTo>
                  <a:cubicBezTo>
                    <a:pt x="39291" y="128043"/>
                    <a:pt x="38367" y="128043"/>
                    <a:pt x="36518" y="12804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15541B86-1093-FFDF-E4B4-9AD2F3380352}"/>
                </a:ext>
              </a:extLst>
            </p:cNvPr>
            <p:cNvSpPr/>
            <p:nvPr/>
          </p:nvSpPr>
          <p:spPr>
            <a:xfrm>
              <a:off x="6057117" y="1021023"/>
              <a:ext cx="206061" cy="107510"/>
            </a:xfrm>
            <a:custGeom>
              <a:avLst/>
              <a:gdLst>
                <a:gd name="connsiteX0" fmla="*/ 98459 w 212635"/>
                <a:gd name="connsiteY0" fmla="*/ 109553 h 110940"/>
                <a:gd name="connsiteX1" fmla="*/ 20801 w 212635"/>
                <a:gd name="connsiteY1" fmla="*/ 109553 h 110940"/>
                <a:gd name="connsiteX2" fmla="*/ 6934 w 212635"/>
                <a:gd name="connsiteY2" fmla="*/ 95686 h 110940"/>
                <a:gd name="connsiteX3" fmla="*/ 20801 w 212635"/>
                <a:gd name="connsiteY3" fmla="*/ 81818 h 110940"/>
                <a:gd name="connsiteX4" fmla="*/ 91063 w 212635"/>
                <a:gd name="connsiteY4" fmla="*/ 81818 h 110940"/>
                <a:gd name="connsiteX5" fmla="*/ 137288 w 212635"/>
                <a:gd name="connsiteY5" fmla="*/ 13405 h 110940"/>
                <a:gd name="connsiteX6" fmla="*/ 148382 w 212635"/>
                <a:gd name="connsiteY6" fmla="*/ 6934 h 110940"/>
                <a:gd name="connsiteX7" fmla="*/ 196456 w 212635"/>
                <a:gd name="connsiteY7" fmla="*/ 6934 h 110940"/>
                <a:gd name="connsiteX8" fmla="*/ 210324 w 212635"/>
                <a:gd name="connsiteY8" fmla="*/ 20801 h 110940"/>
                <a:gd name="connsiteX9" fmla="*/ 197381 w 212635"/>
                <a:gd name="connsiteY9" fmla="*/ 34669 h 110940"/>
                <a:gd name="connsiteX10" fmla="*/ 156703 w 212635"/>
                <a:gd name="connsiteY10" fmla="*/ 34669 h 110940"/>
                <a:gd name="connsiteX11" fmla="*/ 110478 w 212635"/>
                <a:gd name="connsiteY11" fmla="*/ 103082 h 110940"/>
                <a:gd name="connsiteX12" fmla="*/ 98459 w 212635"/>
                <a:gd name="connsiteY12" fmla="*/ 109553 h 110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2635" h="110940">
                  <a:moveTo>
                    <a:pt x="98459" y="109553"/>
                  </a:moveTo>
                  <a:lnTo>
                    <a:pt x="20801" y="109553"/>
                  </a:lnTo>
                  <a:cubicBezTo>
                    <a:pt x="13405" y="109553"/>
                    <a:pt x="6934" y="103082"/>
                    <a:pt x="6934" y="95686"/>
                  </a:cubicBezTo>
                  <a:cubicBezTo>
                    <a:pt x="6934" y="88290"/>
                    <a:pt x="13405" y="81818"/>
                    <a:pt x="20801" y="81818"/>
                  </a:cubicBezTo>
                  <a:lnTo>
                    <a:pt x="91063" y="81818"/>
                  </a:lnTo>
                  <a:lnTo>
                    <a:pt x="137288" y="13405"/>
                  </a:lnTo>
                  <a:cubicBezTo>
                    <a:pt x="140062" y="9707"/>
                    <a:pt x="143760" y="6934"/>
                    <a:pt x="148382" y="6934"/>
                  </a:cubicBezTo>
                  <a:lnTo>
                    <a:pt x="196456" y="6934"/>
                  </a:lnTo>
                  <a:cubicBezTo>
                    <a:pt x="203852" y="6934"/>
                    <a:pt x="210324" y="13405"/>
                    <a:pt x="210324" y="20801"/>
                  </a:cubicBezTo>
                  <a:cubicBezTo>
                    <a:pt x="210324" y="28197"/>
                    <a:pt x="204777" y="34669"/>
                    <a:pt x="197381" y="34669"/>
                  </a:cubicBezTo>
                  <a:lnTo>
                    <a:pt x="156703" y="34669"/>
                  </a:lnTo>
                  <a:lnTo>
                    <a:pt x="110478" y="103082"/>
                  </a:lnTo>
                  <a:cubicBezTo>
                    <a:pt x="107704" y="106780"/>
                    <a:pt x="103082" y="109553"/>
                    <a:pt x="98459" y="1095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C1B3D46C-8FB5-5FAE-A985-43464DDB4C45}"/>
                </a:ext>
              </a:extLst>
            </p:cNvPr>
            <p:cNvSpPr/>
            <p:nvPr/>
          </p:nvSpPr>
          <p:spPr>
            <a:xfrm>
              <a:off x="6057117" y="1152724"/>
              <a:ext cx="250857" cy="35837"/>
            </a:xfrm>
            <a:custGeom>
              <a:avLst/>
              <a:gdLst>
                <a:gd name="connsiteX0" fmla="*/ 246379 w 258860"/>
                <a:gd name="connsiteY0" fmla="*/ 34669 h 36980"/>
                <a:gd name="connsiteX1" fmla="*/ 20801 w 258860"/>
                <a:gd name="connsiteY1" fmla="*/ 34669 h 36980"/>
                <a:gd name="connsiteX2" fmla="*/ 6934 w 258860"/>
                <a:gd name="connsiteY2" fmla="*/ 20801 h 36980"/>
                <a:gd name="connsiteX3" fmla="*/ 20801 w 258860"/>
                <a:gd name="connsiteY3" fmla="*/ 6934 h 36980"/>
                <a:gd name="connsiteX4" fmla="*/ 246379 w 258860"/>
                <a:gd name="connsiteY4" fmla="*/ 6934 h 36980"/>
                <a:gd name="connsiteX5" fmla="*/ 260247 w 258860"/>
                <a:gd name="connsiteY5" fmla="*/ 20801 h 36980"/>
                <a:gd name="connsiteX6" fmla="*/ 246379 w 258860"/>
                <a:gd name="connsiteY6" fmla="*/ 34669 h 36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8860" h="36980">
                  <a:moveTo>
                    <a:pt x="246379" y="34669"/>
                  </a:moveTo>
                  <a:lnTo>
                    <a:pt x="20801" y="34669"/>
                  </a:lnTo>
                  <a:cubicBezTo>
                    <a:pt x="13405" y="34669"/>
                    <a:pt x="6934" y="28197"/>
                    <a:pt x="6934" y="20801"/>
                  </a:cubicBezTo>
                  <a:cubicBezTo>
                    <a:pt x="6934" y="13405"/>
                    <a:pt x="13405" y="6934"/>
                    <a:pt x="20801" y="6934"/>
                  </a:cubicBezTo>
                  <a:lnTo>
                    <a:pt x="246379" y="6934"/>
                  </a:lnTo>
                  <a:cubicBezTo>
                    <a:pt x="253775" y="6934"/>
                    <a:pt x="260247" y="13405"/>
                    <a:pt x="260247" y="20801"/>
                  </a:cubicBezTo>
                  <a:cubicBezTo>
                    <a:pt x="260247" y="28197"/>
                    <a:pt x="254700" y="34669"/>
                    <a:pt x="246379" y="3466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0F8E42F9-8762-51F7-4B6B-B3B3B9914C4E}"/>
                </a:ext>
              </a:extLst>
            </p:cNvPr>
            <p:cNvSpPr/>
            <p:nvPr/>
          </p:nvSpPr>
          <p:spPr>
            <a:xfrm>
              <a:off x="6228238" y="985187"/>
              <a:ext cx="107510" cy="107510"/>
            </a:xfrm>
            <a:custGeom>
              <a:avLst/>
              <a:gdLst>
                <a:gd name="connsiteX0" fmla="*/ 57781 w 110940"/>
                <a:gd name="connsiteY0" fmla="*/ 108629 h 110940"/>
                <a:gd name="connsiteX1" fmla="*/ 6934 w 110940"/>
                <a:gd name="connsiteY1" fmla="*/ 57781 h 110940"/>
                <a:gd name="connsiteX2" fmla="*/ 57781 w 110940"/>
                <a:gd name="connsiteY2" fmla="*/ 6934 h 110940"/>
                <a:gd name="connsiteX3" fmla="*/ 108629 w 110940"/>
                <a:gd name="connsiteY3" fmla="*/ 57781 h 110940"/>
                <a:gd name="connsiteX4" fmla="*/ 57781 w 110940"/>
                <a:gd name="connsiteY4" fmla="*/ 108629 h 110940"/>
                <a:gd name="connsiteX5" fmla="*/ 57781 w 110940"/>
                <a:gd name="connsiteY5" fmla="*/ 34669 h 110940"/>
                <a:gd name="connsiteX6" fmla="*/ 34669 w 110940"/>
                <a:gd name="connsiteY6" fmla="*/ 57781 h 110940"/>
                <a:gd name="connsiteX7" fmla="*/ 57781 w 110940"/>
                <a:gd name="connsiteY7" fmla="*/ 80894 h 110940"/>
                <a:gd name="connsiteX8" fmla="*/ 80894 w 110940"/>
                <a:gd name="connsiteY8" fmla="*/ 57781 h 110940"/>
                <a:gd name="connsiteX9" fmla="*/ 57781 w 110940"/>
                <a:gd name="connsiteY9" fmla="*/ 34669 h 110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940" h="110940">
                  <a:moveTo>
                    <a:pt x="57781" y="108629"/>
                  </a:moveTo>
                  <a:cubicBezTo>
                    <a:pt x="30046" y="108629"/>
                    <a:pt x="6934" y="85516"/>
                    <a:pt x="6934" y="57781"/>
                  </a:cubicBezTo>
                  <a:cubicBezTo>
                    <a:pt x="6934" y="30046"/>
                    <a:pt x="30046" y="6934"/>
                    <a:pt x="57781" y="6934"/>
                  </a:cubicBezTo>
                  <a:cubicBezTo>
                    <a:pt x="85516" y="6934"/>
                    <a:pt x="108629" y="30046"/>
                    <a:pt x="108629" y="57781"/>
                  </a:cubicBezTo>
                  <a:cubicBezTo>
                    <a:pt x="108629" y="85516"/>
                    <a:pt x="85516" y="108629"/>
                    <a:pt x="57781" y="108629"/>
                  </a:cubicBezTo>
                  <a:close/>
                  <a:moveTo>
                    <a:pt x="57781" y="34669"/>
                  </a:moveTo>
                  <a:cubicBezTo>
                    <a:pt x="44838" y="34669"/>
                    <a:pt x="34669" y="44838"/>
                    <a:pt x="34669" y="57781"/>
                  </a:cubicBezTo>
                  <a:cubicBezTo>
                    <a:pt x="34669" y="70724"/>
                    <a:pt x="44838" y="80894"/>
                    <a:pt x="57781" y="80894"/>
                  </a:cubicBezTo>
                  <a:cubicBezTo>
                    <a:pt x="70724" y="80894"/>
                    <a:pt x="80894" y="70724"/>
                    <a:pt x="80894" y="57781"/>
                  </a:cubicBezTo>
                  <a:cubicBezTo>
                    <a:pt x="80894" y="44838"/>
                    <a:pt x="70724" y="34669"/>
                    <a:pt x="57781" y="3466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D80C4F4-54D5-55D1-A0CC-88820D115076}"/>
                </a:ext>
              </a:extLst>
            </p:cNvPr>
            <p:cNvSpPr/>
            <p:nvPr/>
          </p:nvSpPr>
          <p:spPr>
            <a:xfrm>
              <a:off x="6062492" y="1212750"/>
              <a:ext cx="215020" cy="107510"/>
            </a:xfrm>
            <a:custGeom>
              <a:avLst/>
              <a:gdLst>
                <a:gd name="connsiteX0" fmla="*/ 203852 w 221880"/>
                <a:gd name="connsiteY0" fmla="*/ 108629 h 110940"/>
                <a:gd name="connsiteX1" fmla="*/ 142835 w 221880"/>
                <a:gd name="connsiteY1" fmla="*/ 108629 h 110940"/>
                <a:gd name="connsiteX2" fmla="*/ 130817 w 221880"/>
                <a:gd name="connsiteY2" fmla="*/ 102157 h 110940"/>
                <a:gd name="connsiteX3" fmla="*/ 86441 w 221880"/>
                <a:gd name="connsiteY3" fmla="*/ 34669 h 110940"/>
                <a:gd name="connsiteX4" fmla="*/ 20801 w 221880"/>
                <a:gd name="connsiteY4" fmla="*/ 34669 h 110940"/>
                <a:gd name="connsiteX5" fmla="*/ 6934 w 221880"/>
                <a:gd name="connsiteY5" fmla="*/ 20801 h 110940"/>
                <a:gd name="connsiteX6" fmla="*/ 20801 w 221880"/>
                <a:gd name="connsiteY6" fmla="*/ 6934 h 110940"/>
                <a:gd name="connsiteX7" fmla="*/ 93837 w 221880"/>
                <a:gd name="connsiteY7" fmla="*/ 6934 h 110940"/>
                <a:gd name="connsiteX8" fmla="*/ 105855 w 221880"/>
                <a:gd name="connsiteY8" fmla="*/ 13405 h 110940"/>
                <a:gd name="connsiteX9" fmla="*/ 150231 w 221880"/>
                <a:gd name="connsiteY9" fmla="*/ 80894 h 110940"/>
                <a:gd name="connsiteX10" fmla="*/ 203852 w 221880"/>
                <a:gd name="connsiteY10" fmla="*/ 80894 h 110940"/>
                <a:gd name="connsiteX11" fmla="*/ 217720 w 221880"/>
                <a:gd name="connsiteY11" fmla="*/ 94761 h 110940"/>
                <a:gd name="connsiteX12" fmla="*/ 203852 w 221880"/>
                <a:gd name="connsiteY12" fmla="*/ 108629 h 110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1880" h="110940">
                  <a:moveTo>
                    <a:pt x="203852" y="108629"/>
                  </a:moveTo>
                  <a:lnTo>
                    <a:pt x="142835" y="108629"/>
                  </a:lnTo>
                  <a:cubicBezTo>
                    <a:pt x="138213" y="108629"/>
                    <a:pt x="133590" y="105855"/>
                    <a:pt x="130817" y="102157"/>
                  </a:cubicBezTo>
                  <a:lnTo>
                    <a:pt x="86441" y="34669"/>
                  </a:lnTo>
                  <a:lnTo>
                    <a:pt x="20801" y="34669"/>
                  </a:lnTo>
                  <a:cubicBezTo>
                    <a:pt x="13405" y="34669"/>
                    <a:pt x="6934" y="28197"/>
                    <a:pt x="6934" y="20801"/>
                  </a:cubicBezTo>
                  <a:cubicBezTo>
                    <a:pt x="6934" y="13405"/>
                    <a:pt x="13405" y="6934"/>
                    <a:pt x="20801" y="6934"/>
                  </a:cubicBezTo>
                  <a:lnTo>
                    <a:pt x="93837" y="6934"/>
                  </a:lnTo>
                  <a:cubicBezTo>
                    <a:pt x="98459" y="6934"/>
                    <a:pt x="103082" y="9707"/>
                    <a:pt x="105855" y="13405"/>
                  </a:cubicBezTo>
                  <a:lnTo>
                    <a:pt x="150231" y="80894"/>
                  </a:lnTo>
                  <a:lnTo>
                    <a:pt x="203852" y="80894"/>
                  </a:lnTo>
                  <a:cubicBezTo>
                    <a:pt x="211248" y="80894"/>
                    <a:pt x="217720" y="87365"/>
                    <a:pt x="217720" y="94761"/>
                  </a:cubicBezTo>
                  <a:cubicBezTo>
                    <a:pt x="217720" y="102157"/>
                    <a:pt x="212173" y="108629"/>
                    <a:pt x="203852" y="10862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6713F37-2F69-5702-A923-B8F785450AE8}"/>
                </a:ext>
              </a:extLst>
            </p:cNvPr>
            <p:cNvSpPr/>
            <p:nvPr/>
          </p:nvSpPr>
          <p:spPr>
            <a:xfrm>
              <a:off x="6239884" y="1248587"/>
              <a:ext cx="107510" cy="107510"/>
            </a:xfrm>
            <a:custGeom>
              <a:avLst/>
              <a:gdLst>
                <a:gd name="connsiteX0" fmla="*/ 57781 w 110940"/>
                <a:gd name="connsiteY0" fmla="*/ 108629 h 110940"/>
                <a:gd name="connsiteX1" fmla="*/ 6934 w 110940"/>
                <a:gd name="connsiteY1" fmla="*/ 57781 h 110940"/>
                <a:gd name="connsiteX2" fmla="*/ 57781 w 110940"/>
                <a:gd name="connsiteY2" fmla="*/ 6934 h 110940"/>
                <a:gd name="connsiteX3" fmla="*/ 108629 w 110940"/>
                <a:gd name="connsiteY3" fmla="*/ 57781 h 110940"/>
                <a:gd name="connsiteX4" fmla="*/ 57781 w 110940"/>
                <a:gd name="connsiteY4" fmla="*/ 108629 h 110940"/>
                <a:gd name="connsiteX5" fmla="*/ 57781 w 110940"/>
                <a:gd name="connsiteY5" fmla="*/ 34669 h 110940"/>
                <a:gd name="connsiteX6" fmla="*/ 34669 w 110940"/>
                <a:gd name="connsiteY6" fmla="*/ 57781 h 110940"/>
                <a:gd name="connsiteX7" fmla="*/ 57781 w 110940"/>
                <a:gd name="connsiteY7" fmla="*/ 80894 h 110940"/>
                <a:gd name="connsiteX8" fmla="*/ 80894 w 110940"/>
                <a:gd name="connsiteY8" fmla="*/ 57781 h 110940"/>
                <a:gd name="connsiteX9" fmla="*/ 57781 w 110940"/>
                <a:gd name="connsiteY9" fmla="*/ 34669 h 110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940" h="110940">
                  <a:moveTo>
                    <a:pt x="57781" y="108629"/>
                  </a:moveTo>
                  <a:cubicBezTo>
                    <a:pt x="30046" y="108629"/>
                    <a:pt x="6934" y="85516"/>
                    <a:pt x="6934" y="57781"/>
                  </a:cubicBezTo>
                  <a:cubicBezTo>
                    <a:pt x="6934" y="30046"/>
                    <a:pt x="30046" y="6934"/>
                    <a:pt x="57781" y="6934"/>
                  </a:cubicBezTo>
                  <a:cubicBezTo>
                    <a:pt x="85516" y="6934"/>
                    <a:pt x="108629" y="30046"/>
                    <a:pt x="108629" y="57781"/>
                  </a:cubicBezTo>
                  <a:cubicBezTo>
                    <a:pt x="108629" y="85516"/>
                    <a:pt x="86441" y="108629"/>
                    <a:pt x="57781" y="108629"/>
                  </a:cubicBezTo>
                  <a:close/>
                  <a:moveTo>
                    <a:pt x="57781" y="34669"/>
                  </a:moveTo>
                  <a:cubicBezTo>
                    <a:pt x="44838" y="34669"/>
                    <a:pt x="34669" y="44838"/>
                    <a:pt x="34669" y="57781"/>
                  </a:cubicBezTo>
                  <a:cubicBezTo>
                    <a:pt x="34669" y="70724"/>
                    <a:pt x="44838" y="80894"/>
                    <a:pt x="57781" y="80894"/>
                  </a:cubicBezTo>
                  <a:cubicBezTo>
                    <a:pt x="70724" y="80894"/>
                    <a:pt x="80894" y="70724"/>
                    <a:pt x="80894" y="57781"/>
                  </a:cubicBezTo>
                  <a:cubicBezTo>
                    <a:pt x="80894" y="44838"/>
                    <a:pt x="70724" y="34669"/>
                    <a:pt x="57781" y="3466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F9C561D8-03A2-9D09-1D05-172E8CD4292A}"/>
                </a:ext>
              </a:extLst>
            </p:cNvPr>
            <p:cNvSpPr/>
            <p:nvPr/>
          </p:nvSpPr>
          <p:spPr>
            <a:xfrm>
              <a:off x="6275721" y="1116887"/>
              <a:ext cx="107510" cy="107510"/>
            </a:xfrm>
            <a:custGeom>
              <a:avLst/>
              <a:gdLst>
                <a:gd name="connsiteX0" fmla="*/ 57781 w 110940"/>
                <a:gd name="connsiteY0" fmla="*/ 108629 h 110940"/>
                <a:gd name="connsiteX1" fmla="*/ 6934 w 110940"/>
                <a:gd name="connsiteY1" fmla="*/ 57781 h 110940"/>
                <a:gd name="connsiteX2" fmla="*/ 57781 w 110940"/>
                <a:gd name="connsiteY2" fmla="*/ 6934 h 110940"/>
                <a:gd name="connsiteX3" fmla="*/ 108629 w 110940"/>
                <a:gd name="connsiteY3" fmla="*/ 57781 h 110940"/>
                <a:gd name="connsiteX4" fmla="*/ 57781 w 110940"/>
                <a:gd name="connsiteY4" fmla="*/ 108629 h 110940"/>
                <a:gd name="connsiteX5" fmla="*/ 57781 w 110940"/>
                <a:gd name="connsiteY5" fmla="*/ 34669 h 110940"/>
                <a:gd name="connsiteX6" fmla="*/ 34669 w 110940"/>
                <a:gd name="connsiteY6" fmla="*/ 57781 h 110940"/>
                <a:gd name="connsiteX7" fmla="*/ 57781 w 110940"/>
                <a:gd name="connsiteY7" fmla="*/ 80894 h 110940"/>
                <a:gd name="connsiteX8" fmla="*/ 80894 w 110940"/>
                <a:gd name="connsiteY8" fmla="*/ 57781 h 110940"/>
                <a:gd name="connsiteX9" fmla="*/ 57781 w 110940"/>
                <a:gd name="connsiteY9" fmla="*/ 34669 h 110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940" h="110940">
                  <a:moveTo>
                    <a:pt x="57781" y="108629"/>
                  </a:moveTo>
                  <a:cubicBezTo>
                    <a:pt x="30046" y="108629"/>
                    <a:pt x="6934" y="85516"/>
                    <a:pt x="6934" y="57781"/>
                  </a:cubicBezTo>
                  <a:cubicBezTo>
                    <a:pt x="6934" y="30046"/>
                    <a:pt x="30046" y="6934"/>
                    <a:pt x="57781" y="6934"/>
                  </a:cubicBezTo>
                  <a:cubicBezTo>
                    <a:pt x="85516" y="6934"/>
                    <a:pt x="108629" y="30046"/>
                    <a:pt x="108629" y="57781"/>
                  </a:cubicBezTo>
                  <a:cubicBezTo>
                    <a:pt x="108629" y="85516"/>
                    <a:pt x="86441" y="108629"/>
                    <a:pt x="57781" y="108629"/>
                  </a:cubicBezTo>
                  <a:close/>
                  <a:moveTo>
                    <a:pt x="57781" y="34669"/>
                  </a:moveTo>
                  <a:cubicBezTo>
                    <a:pt x="44838" y="34669"/>
                    <a:pt x="34669" y="44838"/>
                    <a:pt x="34669" y="57781"/>
                  </a:cubicBezTo>
                  <a:cubicBezTo>
                    <a:pt x="34669" y="70724"/>
                    <a:pt x="44838" y="80894"/>
                    <a:pt x="57781" y="80894"/>
                  </a:cubicBezTo>
                  <a:cubicBezTo>
                    <a:pt x="70724" y="80894"/>
                    <a:pt x="80894" y="70724"/>
                    <a:pt x="80894" y="57781"/>
                  </a:cubicBezTo>
                  <a:cubicBezTo>
                    <a:pt x="80894" y="44838"/>
                    <a:pt x="70724" y="34669"/>
                    <a:pt x="57781" y="3466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7F37865C-F8C3-E9F6-4E05-672EC16F6FAF}"/>
                </a:ext>
              </a:extLst>
            </p:cNvPr>
            <p:cNvSpPr/>
            <p:nvPr/>
          </p:nvSpPr>
          <p:spPr>
            <a:xfrm>
              <a:off x="6063389" y="1272777"/>
              <a:ext cx="125429" cy="116469"/>
            </a:xfrm>
            <a:custGeom>
              <a:avLst/>
              <a:gdLst>
                <a:gd name="connsiteX0" fmla="*/ 116949 w 129430"/>
                <a:gd name="connsiteY0" fmla="*/ 120647 h 120185"/>
                <a:gd name="connsiteX1" fmla="*/ 105855 w 129430"/>
                <a:gd name="connsiteY1" fmla="*/ 115100 h 120185"/>
                <a:gd name="connsiteX2" fmla="*/ 49461 w 129430"/>
                <a:gd name="connsiteY2" fmla="*/ 34669 h 120185"/>
                <a:gd name="connsiteX3" fmla="*/ 20801 w 129430"/>
                <a:gd name="connsiteY3" fmla="*/ 34669 h 120185"/>
                <a:gd name="connsiteX4" fmla="*/ 6934 w 129430"/>
                <a:gd name="connsiteY4" fmla="*/ 20801 h 120185"/>
                <a:gd name="connsiteX5" fmla="*/ 20801 w 129430"/>
                <a:gd name="connsiteY5" fmla="*/ 6934 h 120185"/>
                <a:gd name="connsiteX6" fmla="*/ 55932 w 129430"/>
                <a:gd name="connsiteY6" fmla="*/ 6934 h 120185"/>
                <a:gd name="connsiteX7" fmla="*/ 67026 w 129430"/>
                <a:gd name="connsiteY7" fmla="*/ 12481 h 120185"/>
                <a:gd name="connsiteX8" fmla="*/ 128043 w 129430"/>
                <a:gd name="connsiteY8" fmla="*/ 99384 h 120185"/>
                <a:gd name="connsiteX9" fmla="*/ 124345 w 129430"/>
                <a:gd name="connsiteY9" fmla="*/ 118798 h 120185"/>
                <a:gd name="connsiteX10" fmla="*/ 116949 w 129430"/>
                <a:gd name="connsiteY10" fmla="*/ 120647 h 120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9430" h="120185">
                  <a:moveTo>
                    <a:pt x="116949" y="120647"/>
                  </a:moveTo>
                  <a:cubicBezTo>
                    <a:pt x="112327" y="120647"/>
                    <a:pt x="108629" y="118798"/>
                    <a:pt x="105855" y="115100"/>
                  </a:cubicBezTo>
                  <a:lnTo>
                    <a:pt x="49461" y="34669"/>
                  </a:lnTo>
                  <a:lnTo>
                    <a:pt x="20801" y="34669"/>
                  </a:lnTo>
                  <a:cubicBezTo>
                    <a:pt x="13405" y="34669"/>
                    <a:pt x="6934" y="28197"/>
                    <a:pt x="6934" y="20801"/>
                  </a:cubicBezTo>
                  <a:cubicBezTo>
                    <a:pt x="6934" y="13405"/>
                    <a:pt x="13405" y="6934"/>
                    <a:pt x="20801" y="6934"/>
                  </a:cubicBezTo>
                  <a:lnTo>
                    <a:pt x="55932" y="6934"/>
                  </a:lnTo>
                  <a:cubicBezTo>
                    <a:pt x="60555" y="6934"/>
                    <a:pt x="64253" y="8783"/>
                    <a:pt x="67026" y="12481"/>
                  </a:cubicBezTo>
                  <a:lnTo>
                    <a:pt x="128043" y="99384"/>
                  </a:lnTo>
                  <a:cubicBezTo>
                    <a:pt x="132666" y="105855"/>
                    <a:pt x="130817" y="114176"/>
                    <a:pt x="124345" y="118798"/>
                  </a:cubicBezTo>
                  <a:cubicBezTo>
                    <a:pt x="122496" y="120647"/>
                    <a:pt x="119723" y="120647"/>
                    <a:pt x="116949" y="12064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2A8A491D-70AB-EAD4-CC62-E5CA70EF3495}"/>
                </a:ext>
              </a:extLst>
            </p:cNvPr>
            <p:cNvSpPr/>
            <p:nvPr/>
          </p:nvSpPr>
          <p:spPr>
            <a:xfrm>
              <a:off x="6144021" y="1356993"/>
              <a:ext cx="107510" cy="107510"/>
            </a:xfrm>
            <a:custGeom>
              <a:avLst/>
              <a:gdLst>
                <a:gd name="connsiteX0" fmla="*/ 57781 w 110940"/>
                <a:gd name="connsiteY0" fmla="*/ 108629 h 110940"/>
                <a:gd name="connsiteX1" fmla="*/ 6934 w 110940"/>
                <a:gd name="connsiteY1" fmla="*/ 57781 h 110940"/>
                <a:gd name="connsiteX2" fmla="*/ 57781 w 110940"/>
                <a:gd name="connsiteY2" fmla="*/ 6934 h 110940"/>
                <a:gd name="connsiteX3" fmla="*/ 108629 w 110940"/>
                <a:gd name="connsiteY3" fmla="*/ 57781 h 110940"/>
                <a:gd name="connsiteX4" fmla="*/ 57781 w 110940"/>
                <a:gd name="connsiteY4" fmla="*/ 108629 h 110940"/>
                <a:gd name="connsiteX5" fmla="*/ 57781 w 110940"/>
                <a:gd name="connsiteY5" fmla="*/ 33744 h 110940"/>
                <a:gd name="connsiteX6" fmla="*/ 34669 w 110940"/>
                <a:gd name="connsiteY6" fmla="*/ 56857 h 110940"/>
                <a:gd name="connsiteX7" fmla="*/ 57781 w 110940"/>
                <a:gd name="connsiteY7" fmla="*/ 79969 h 110940"/>
                <a:gd name="connsiteX8" fmla="*/ 80894 w 110940"/>
                <a:gd name="connsiteY8" fmla="*/ 56857 h 110940"/>
                <a:gd name="connsiteX9" fmla="*/ 57781 w 110940"/>
                <a:gd name="connsiteY9" fmla="*/ 33744 h 110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940" h="110940">
                  <a:moveTo>
                    <a:pt x="57781" y="108629"/>
                  </a:moveTo>
                  <a:cubicBezTo>
                    <a:pt x="30046" y="108629"/>
                    <a:pt x="6934" y="85516"/>
                    <a:pt x="6934" y="57781"/>
                  </a:cubicBezTo>
                  <a:cubicBezTo>
                    <a:pt x="6934" y="30046"/>
                    <a:pt x="30046" y="6934"/>
                    <a:pt x="57781" y="6934"/>
                  </a:cubicBezTo>
                  <a:cubicBezTo>
                    <a:pt x="85516" y="6934"/>
                    <a:pt x="108629" y="30046"/>
                    <a:pt x="108629" y="57781"/>
                  </a:cubicBezTo>
                  <a:cubicBezTo>
                    <a:pt x="108629" y="85516"/>
                    <a:pt x="86441" y="108629"/>
                    <a:pt x="57781" y="108629"/>
                  </a:cubicBezTo>
                  <a:close/>
                  <a:moveTo>
                    <a:pt x="57781" y="33744"/>
                  </a:moveTo>
                  <a:cubicBezTo>
                    <a:pt x="44838" y="33744"/>
                    <a:pt x="34669" y="43914"/>
                    <a:pt x="34669" y="56857"/>
                  </a:cubicBezTo>
                  <a:cubicBezTo>
                    <a:pt x="34669" y="69800"/>
                    <a:pt x="44838" y="79969"/>
                    <a:pt x="57781" y="79969"/>
                  </a:cubicBezTo>
                  <a:cubicBezTo>
                    <a:pt x="70724" y="79969"/>
                    <a:pt x="80894" y="69800"/>
                    <a:pt x="80894" y="56857"/>
                  </a:cubicBezTo>
                  <a:cubicBezTo>
                    <a:pt x="80894" y="43914"/>
                    <a:pt x="70724" y="33744"/>
                    <a:pt x="57781" y="337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6E98DFE-58B3-1853-80CF-4F861DE58FAE}"/>
                </a:ext>
              </a:extLst>
            </p:cNvPr>
            <p:cNvSpPr/>
            <p:nvPr/>
          </p:nvSpPr>
          <p:spPr>
            <a:xfrm>
              <a:off x="6070556" y="940590"/>
              <a:ext cx="116469" cy="116469"/>
            </a:xfrm>
            <a:custGeom>
              <a:avLst/>
              <a:gdLst>
                <a:gd name="connsiteX0" fmla="*/ 41140 w 120185"/>
                <a:gd name="connsiteY0" fmla="*/ 121366 h 120185"/>
                <a:gd name="connsiteX1" fmla="*/ 20801 w 120185"/>
                <a:gd name="connsiteY1" fmla="*/ 121366 h 120185"/>
                <a:gd name="connsiteX2" fmla="*/ 6934 w 120185"/>
                <a:gd name="connsiteY2" fmla="*/ 107499 h 120185"/>
                <a:gd name="connsiteX3" fmla="*/ 20801 w 120185"/>
                <a:gd name="connsiteY3" fmla="*/ 93631 h 120185"/>
                <a:gd name="connsiteX4" fmla="*/ 33744 w 120185"/>
                <a:gd name="connsiteY4" fmla="*/ 93631 h 120185"/>
                <a:gd name="connsiteX5" fmla="*/ 90139 w 120185"/>
                <a:gd name="connsiteY5" fmla="*/ 13200 h 120185"/>
                <a:gd name="connsiteX6" fmla="*/ 109553 w 120185"/>
                <a:gd name="connsiteY6" fmla="*/ 9502 h 120185"/>
                <a:gd name="connsiteX7" fmla="*/ 113251 w 120185"/>
                <a:gd name="connsiteY7" fmla="*/ 28916 h 120185"/>
                <a:gd name="connsiteX8" fmla="*/ 52234 w 120185"/>
                <a:gd name="connsiteY8" fmla="*/ 115819 h 120185"/>
                <a:gd name="connsiteX9" fmla="*/ 41140 w 120185"/>
                <a:gd name="connsiteY9" fmla="*/ 121366 h 120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185" h="120185">
                  <a:moveTo>
                    <a:pt x="41140" y="121366"/>
                  </a:moveTo>
                  <a:lnTo>
                    <a:pt x="20801" y="121366"/>
                  </a:lnTo>
                  <a:cubicBezTo>
                    <a:pt x="13405" y="121366"/>
                    <a:pt x="6934" y="114895"/>
                    <a:pt x="6934" y="107499"/>
                  </a:cubicBezTo>
                  <a:cubicBezTo>
                    <a:pt x="6934" y="100103"/>
                    <a:pt x="13405" y="93631"/>
                    <a:pt x="20801" y="93631"/>
                  </a:cubicBezTo>
                  <a:lnTo>
                    <a:pt x="33744" y="93631"/>
                  </a:lnTo>
                  <a:lnTo>
                    <a:pt x="90139" y="13200"/>
                  </a:lnTo>
                  <a:cubicBezTo>
                    <a:pt x="94761" y="6728"/>
                    <a:pt x="103082" y="4879"/>
                    <a:pt x="109553" y="9502"/>
                  </a:cubicBezTo>
                  <a:cubicBezTo>
                    <a:pt x="116025" y="14124"/>
                    <a:pt x="116949" y="22445"/>
                    <a:pt x="113251" y="28916"/>
                  </a:cubicBezTo>
                  <a:lnTo>
                    <a:pt x="52234" y="115819"/>
                  </a:lnTo>
                  <a:cubicBezTo>
                    <a:pt x="49461" y="118593"/>
                    <a:pt x="45763" y="121366"/>
                    <a:pt x="41140" y="1213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230B90FA-17B6-3C9A-B74B-255F452ECAA8}"/>
                </a:ext>
              </a:extLst>
            </p:cNvPr>
            <p:cNvSpPr/>
            <p:nvPr/>
          </p:nvSpPr>
          <p:spPr>
            <a:xfrm>
              <a:off x="6136854" y="868717"/>
              <a:ext cx="107510" cy="107510"/>
            </a:xfrm>
            <a:custGeom>
              <a:avLst/>
              <a:gdLst>
                <a:gd name="connsiteX0" fmla="*/ 57781 w 110940"/>
                <a:gd name="connsiteY0" fmla="*/ 108629 h 110940"/>
                <a:gd name="connsiteX1" fmla="*/ 6934 w 110940"/>
                <a:gd name="connsiteY1" fmla="*/ 57781 h 110940"/>
                <a:gd name="connsiteX2" fmla="*/ 57781 w 110940"/>
                <a:gd name="connsiteY2" fmla="*/ 6934 h 110940"/>
                <a:gd name="connsiteX3" fmla="*/ 108629 w 110940"/>
                <a:gd name="connsiteY3" fmla="*/ 57781 h 110940"/>
                <a:gd name="connsiteX4" fmla="*/ 57781 w 110940"/>
                <a:gd name="connsiteY4" fmla="*/ 108629 h 110940"/>
                <a:gd name="connsiteX5" fmla="*/ 57781 w 110940"/>
                <a:gd name="connsiteY5" fmla="*/ 34669 h 110940"/>
                <a:gd name="connsiteX6" fmla="*/ 34669 w 110940"/>
                <a:gd name="connsiteY6" fmla="*/ 57781 h 110940"/>
                <a:gd name="connsiteX7" fmla="*/ 57781 w 110940"/>
                <a:gd name="connsiteY7" fmla="*/ 80894 h 110940"/>
                <a:gd name="connsiteX8" fmla="*/ 80894 w 110940"/>
                <a:gd name="connsiteY8" fmla="*/ 57781 h 110940"/>
                <a:gd name="connsiteX9" fmla="*/ 57781 w 110940"/>
                <a:gd name="connsiteY9" fmla="*/ 34669 h 110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940" h="110940">
                  <a:moveTo>
                    <a:pt x="57781" y="108629"/>
                  </a:moveTo>
                  <a:cubicBezTo>
                    <a:pt x="30046" y="108629"/>
                    <a:pt x="6934" y="85516"/>
                    <a:pt x="6934" y="57781"/>
                  </a:cubicBezTo>
                  <a:cubicBezTo>
                    <a:pt x="6934" y="30046"/>
                    <a:pt x="30046" y="6934"/>
                    <a:pt x="57781" y="6934"/>
                  </a:cubicBezTo>
                  <a:cubicBezTo>
                    <a:pt x="85516" y="6934"/>
                    <a:pt x="108629" y="30046"/>
                    <a:pt x="108629" y="57781"/>
                  </a:cubicBezTo>
                  <a:cubicBezTo>
                    <a:pt x="108629" y="85516"/>
                    <a:pt x="86441" y="108629"/>
                    <a:pt x="57781" y="108629"/>
                  </a:cubicBezTo>
                  <a:close/>
                  <a:moveTo>
                    <a:pt x="57781" y="34669"/>
                  </a:moveTo>
                  <a:cubicBezTo>
                    <a:pt x="44838" y="34669"/>
                    <a:pt x="34669" y="44838"/>
                    <a:pt x="34669" y="57781"/>
                  </a:cubicBezTo>
                  <a:cubicBezTo>
                    <a:pt x="34669" y="70724"/>
                    <a:pt x="44838" y="80894"/>
                    <a:pt x="57781" y="80894"/>
                  </a:cubicBezTo>
                  <a:cubicBezTo>
                    <a:pt x="70724" y="80894"/>
                    <a:pt x="80894" y="70724"/>
                    <a:pt x="80894" y="57781"/>
                  </a:cubicBezTo>
                  <a:cubicBezTo>
                    <a:pt x="80894" y="44838"/>
                    <a:pt x="70724" y="34669"/>
                    <a:pt x="57781" y="3466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C72EAC33-F186-1939-B9BB-81F9C0AFC4B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149503" y="993622"/>
            <a:ext cx="483816" cy="483814"/>
            <a:chOff x="3438" y="437"/>
            <a:chExt cx="428" cy="428"/>
          </a:xfrm>
          <a:solidFill>
            <a:schemeClr val="accent2"/>
          </a:solidFill>
        </p:grpSpPr>
        <p:sp>
          <p:nvSpPr>
            <p:cNvPr id="153" name="Freeform 34">
              <a:extLst>
                <a:ext uri="{FF2B5EF4-FFF2-40B4-BE49-F238E27FC236}">
                  <a16:creationId xmlns:a16="http://schemas.microsoft.com/office/drawing/2014/main" id="{58684650-532A-CD0B-0B70-37E505078E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8" y="439"/>
              <a:ext cx="427" cy="426"/>
            </a:xfrm>
            <a:custGeom>
              <a:avLst/>
              <a:gdLst>
                <a:gd name="T0" fmla="*/ 126 w 288"/>
                <a:gd name="T1" fmla="*/ 288 h 288"/>
                <a:gd name="T2" fmla="*/ 120 w 288"/>
                <a:gd name="T3" fmla="*/ 247 h 288"/>
                <a:gd name="T4" fmla="*/ 67 w 288"/>
                <a:gd name="T5" fmla="*/ 262 h 288"/>
                <a:gd name="T6" fmla="*/ 25 w 288"/>
                <a:gd name="T7" fmla="*/ 229 h 288"/>
                <a:gd name="T8" fmla="*/ 25 w 288"/>
                <a:gd name="T9" fmla="*/ 220 h 288"/>
                <a:gd name="T10" fmla="*/ 40 w 288"/>
                <a:gd name="T11" fmla="*/ 168 h 288"/>
                <a:gd name="T12" fmla="*/ 0 w 288"/>
                <a:gd name="T13" fmla="*/ 162 h 288"/>
                <a:gd name="T14" fmla="*/ 6 w 288"/>
                <a:gd name="T15" fmla="*/ 120 h 288"/>
                <a:gd name="T16" fmla="*/ 49 w 288"/>
                <a:gd name="T17" fmla="*/ 92 h 288"/>
                <a:gd name="T18" fmla="*/ 23 w 288"/>
                <a:gd name="T19" fmla="*/ 63 h 288"/>
                <a:gd name="T20" fmla="*/ 59 w 288"/>
                <a:gd name="T21" fmla="*/ 25 h 288"/>
                <a:gd name="T22" fmla="*/ 92 w 288"/>
                <a:gd name="T23" fmla="*/ 49 h 288"/>
                <a:gd name="T24" fmla="*/ 120 w 288"/>
                <a:gd name="T25" fmla="*/ 6 h 288"/>
                <a:gd name="T26" fmla="*/ 162 w 288"/>
                <a:gd name="T27" fmla="*/ 0 h 288"/>
                <a:gd name="T28" fmla="*/ 168 w 288"/>
                <a:gd name="T29" fmla="*/ 40 h 288"/>
                <a:gd name="T30" fmla="*/ 202 w 288"/>
                <a:gd name="T31" fmla="*/ 60 h 288"/>
                <a:gd name="T32" fmla="*/ 160 w 288"/>
                <a:gd name="T33" fmla="*/ 50 h 288"/>
                <a:gd name="T34" fmla="*/ 156 w 288"/>
                <a:gd name="T35" fmla="*/ 12 h 288"/>
                <a:gd name="T36" fmla="*/ 132 w 288"/>
                <a:gd name="T37" fmla="*/ 45 h 288"/>
                <a:gd name="T38" fmla="*/ 94 w 288"/>
                <a:gd name="T39" fmla="*/ 62 h 288"/>
                <a:gd name="T40" fmla="*/ 63 w 288"/>
                <a:gd name="T41" fmla="*/ 38 h 288"/>
                <a:gd name="T42" fmla="*/ 61 w 288"/>
                <a:gd name="T43" fmla="*/ 86 h 288"/>
                <a:gd name="T44" fmla="*/ 51 w 288"/>
                <a:gd name="T45" fmla="*/ 127 h 288"/>
                <a:gd name="T46" fmla="*/ 12 w 288"/>
                <a:gd name="T47" fmla="*/ 132 h 288"/>
                <a:gd name="T48" fmla="*/ 45 w 288"/>
                <a:gd name="T49" fmla="*/ 156 h 288"/>
                <a:gd name="T50" fmla="*/ 62 w 288"/>
                <a:gd name="T51" fmla="*/ 194 h 288"/>
                <a:gd name="T52" fmla="*/ 38 w 288"/>
                <a:gd name="T53" fmla="*/ 224 h 288"/>
                <a:gd name="T54" fmla="*/ 87 w 288"/>
                <a:gd name="T55" fmla="*/ 226 h 288"/>
                <a:gd name="T56" fmla="*/ 127 w 288"/>
                <a:gd name="T57" fmla="*/ 237 h 288"/>
                <a:gd name="T58" fmla="*/ 132 w 288"/>
                <a:gd name="T59" fmla="*/ 276 h 288"/>
                <a:gd name="T60" fmla="*/ 156 w 288"/>
                <a:gd name="T61" fmla="*/ 243 h 288"/>
                <a:gd name="T62" fmla="*/ 194 w 288"/>
                <a:gd name="T63" fmla="*/ 226 h 288"/>
                <a:gd name="T64" fmla="*/ 224 w 288"/>
                <a:gd name="T65" fmla="*/ 250 h 288"/>
                <a:gd name="T66" fmla="*/ 227 w 288"/>
                <a:gd name="T67" fmla="*/ 201 h 288"/>
                <a:gd name="T68" fmla="*/ 237 w 288"/>
                <a:gd name="T69" fmla="*/ 160 h 288"/>
                <a:gd name="T70" fmla="*/ 276 w 288"/>
                <a:gd name="T71" fmla="*/ 156 h 288"/>
                <a:gd name="T72" fmla="*/ 243 w 288"/>
                <a:gd name="T73" fmla="*/ 132 h 288"/>
                <a:gd name="T74" fmla="*/ 231 w 288"/>
                <a:gd name="T75" fmla="*/ 107 h 288"/>
                <a:gd name="T76" fmla="*/ 243 w 288"/>
                <a:gd name="T77" fmla="*/ 103 h 288"/>
                <a:gd name="T78" fmla="*/ 282 w 288"/>
                <a:gd name="T79" fmla="*/ 120 h 288"/>
                <a:gd name="T80" fmla="*/ 288 w 288"/>
                <a:gd name="T81" fmla="*/ 162 h 288"/>
                <a:gd name="T82" fmla="*/ 248 w 288"/>
                <a:gd name="T83" fmla="*/ 168 h 288"/>
                <a:gd name="T84" fmla="*/ 263 w 288"/>
                <a:gd name="T85" fmla="*/ 220 h 288"/>
                <a:gd name="T86" fmla="*/ 229 w 288"/>
                <a:gd name="T87" fmla="*/ 262 h 288"/>
                <a:gd name="T88" fmla="*/ 196 w 288"/>
                <a:gd name="T89" fmla="*/ 238 h 288"/>
                <a:gd name="T90" fmla="*/ 168 w 288"/>
                <a:gd name="T91" fmla="*/ 282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88" h="288">
                  <a:moveTo>
                    <a:pt x="162" y="288"/>
                  </a:moveTo>
                  <a:cubicBezTo>
                    <a:pt x="126" y="288"/>
                    <a:pt x="126" y="288"/>
                    <a:pt x="126" y="288"/>
                  </a:cubicBezTo>
                  <a:cubicBezTo>
                    <a:pt x="123" y="288"/>
                    <a:pt x="120" y="285"/>
                    <a:pt x="120" y="282"/>
                  </a:cubicBezTo>
                  <a:cubicBezTo>
                    <a:pt x="120" y="247"/>
                    <a:pt x="120" y="247"/>
                    <a:pt x="120" y="247"/>
                  </a:cubicBezTo>
                  <a:cubicBezTo>
                    <a:pt x="110" y="245"/>
                    <a:pt x="100" y="242"/>
                    <a:pt x="92" y="238"/>
                  </a:cubicBezTo>
                  <a:cubicBezTo>
                    <a:pt x="67" y="262"/>
                    <a:pt x="67" y="262"/>
                    <a:pt x="67" y="262"/>
                  </a:cubicBezTo>
                  <a:cubicBezTo>
                    <a:pt x="65" y="265"/>
                    <a:pt x="61" y="265"/>
                    <a:pt x="59" y="262"/>
                  </a:cubicBezTo>
                  <a:cubicBezTo>
                    <a:pt x="25" y="229"/>
                    <a:pt x="25" y="229"/>
                    <a:pt x="25" y="229"/>
                  </a:cubicBezTo>
                  <a:cubicBezTo>
                    <a:pt x="24" y="227"/>
                    <a:pt x="23" y="226"/>
                    <a:pt x="23" y="224"/>
                  </a:cubicBezTo>
                  <a:cubicBezTo>
                    <a:pt x="23" y="223"/>
                    <a:pt x="24" y="221"/>
                    <a:pt x="25" y="220"/>
                  </a:cubicBezTo>
                  <a:cubicBezTo>
                    <a:pt x="49" y="196"/>
                    <a:pt x="49" y="196"/>
                    <a:pt x="49" y="196"/>
                  </a:cubicBezTo>
                  <a:cubicBezTo>
                    <a:pt x="46" y="188"/>
                    <a:pt x="43" y="177"/>
                    <a:pt x="40" y="168"/>
                  </a:cubicBezTo>
                  <a:cubicBezTo>
                    <a:pt x="6" y="168"/>
                    <a:pt x="6" y="168"/>
                    <a:pt x="6" y="168"/>
                  </a:cubicBezTo>
                  <a:cubicBezTo>
                    <a:pt x="3" y="168"/>
                    <a:pt x="0" y="165"/>
                    <a:pt x="0" y="162"/>
                  </a:cubicBezTo>
                  <a:cubicBezTo>
                    <a:pt x="0" y="126"/>
                    <a:pt x="0" y="126"/>
                    <a:pt x="0" y="126"/>
                  </a:cubicBezTo>
                  <a:cubicBezTo>
                    <a:pt x="0" y="122"/>
                    <a:pt x="3" y="120"/>
                    <a:pt x="6" y="120"/>
                  </a:cubicBezTo>
                  <a:cubicBezTo>
                    <a:pt x="40" y="120"/>
                    <a:pt x="40" y="120"/>
                    <a:pt x="40" y="120"/>
                  </a:cubicBezTo>
                  <a:cubicBezTo>
                    <a:pt x="43" y="110"/>
                    <a:pt x="46" y="100"/>
                    <a:pt x="49" y="92"/>
                  </a:cubicBezTo>
                  <a:cubicBezTo>
                    <a:pt x="25" y="67"/>
                    <a:pt x="25" y="67"/>
                    <a:pt x="25" y="67"/>
                  </a:cubicBezTo>
                  <a:cubicBezTo>
                    <a:pt x="24" y="66"/>
                    <a:pt x="23" y="65"/>
                    <a:pt x="23" y="63"/>
                  </a:cubicBezTo>
                  <a:cubicBezTo>
                    <a:pt x="23" y="61"/>
                    <a:pt x="24" y="60"/>
                    <a:pt x="25" y="59"/>
                  </a:cubicBezTo>
                  <a:cubicBezTo>
                    <a:pt x="59" y="25"/>
                    <a:pt x="59" y="25"/>
                    <a:pt x="59" y="25"/>
                  </a:cubicBezTo>
                  <a:cubicBezTo>
                    <a:pt x="61" y="23"/>
                    <a:pt x="65" y="23"/>
                    <a:pt x="67" y="25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100" y="45"/>
                    <a:pt x="110" y="42"/>
                    <a:pt x="120" y="40"/>
                  </a:cubicBezTo>
                  <a:cubicBezTo>
                    <a:pt x="120" y="6"/>
                    <a:pt x="120" y="6"/>
                    <a:pt x="120" y="6"/>
                  </a:cubicBezTo>
                  <a:cubicBezTo>
                    <a:pt x="120" y="2"/>
                    <a:pt x="123" y="0"/>
                    <a:pt x="126" y="0"/>
                  </a:cubicBezTo>
                  <a:cubicBezTo>
                    <a:pt x="162" y="0"/>
                    <a:pt x="162" y="0"/>
                    <a:pt x="162" y="0"/>
                  </a:cubicBezTo>
                  <a:cubicBezTo>
                    <a:pt x="165" y="0"/>
                    <a:pt x="168" y="2"/>
                    <a:pt x="168" y="6"/>
                  </a:cubicBezTo>
                  <a:cubicBezTo>
                    <a:pt x="168" y="40"/>
                    <a:pt x="168" y="40"/>
                    <a:pt x="168" y="40"/>
                  </a:cubicBezTo>
                  <a:cubicBezTo>
                    <a:pt x="179" y="43"/>
                    <a:pt x="192" y="47"/>
                    <a:pt x="200" y="52"/>
                  </a:cubicBezTo>
                  <a:cubicBezTo>
                    <a:pt x="203" y="53"/>
                    <a:pt x="204" y="57"/>
                    <a:pt x="202" y="60"/>
                  </a:cubicBezTo>
                  <a:cubicBezTo>
                    <a:pt x="200" y="63"/>
                    <a:pt x="197" y="63"/>
                    <a:pt x="194" y="62"/>
                  </a:cubicBezTo>
                  <a:cubicBezTo>
                    <a:pt x="186" y="57"/>
                    <a:pt x="171" y="53"/>
                    <a:pt x="160" y="50"/>
                  </a:cubicBezTo>
                  <a:cubicBezTo>
                    <a:pt x="158" y="50"/>
                    <a:pt x="156" y="47"/>
                    <a:pt x="156" y="45"/>
                  </a:cubicBezTo>
                  <a:cubicBezTo>
                    <a:pt x="156" y="12"/>
                    <a:pt x="156" y="12"/>
                    <a:pt x="156" y="12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7"/>
                    <a:pt x="130" y="50"/>
                    <a:pt x="127" y="50"/>
                  </a:cubicBezTo>
                  <a:cubicBezTo>
                    <a:pt x="117" y="53"/>
                    <a:pt x="102" y="57"/>
                    <a:pt x="94" y="62"/>
                  </a:cubicBezTo>
                  <a:cubicBezTo>
                    <a:pt x="92" y="63"/>
                    <a:pt x="89" y="63"/>
                    <a:pt x="87" y="61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61" y="86"/>
                    <a:pt x="61" y="86"/>
                    <a:pt x="61" y="86"/>
                  </a:cubicBezTo>
                  <a:cubicBezTo>
                    <a:pt x="63" y="88"/>
                    <a:pt x="63" y="91"/>
                    <a:pt x="62" y="94"/>
                  </a:cubicBezTo>
                  <a:cubicBezTo>
                    <a:pt x="57" y="103"/>
                    <a:pt x="52" y="120"/>
                    <a:pt x="51" y="127"/>
                  </a:cubicBezTo>
                  <a:cubicBezTo>
                    <a:pt x="50" y="130"/>
                    <a:pt x="48" y="132"/>
                    <a:pt x="45" y="132"/>
                  </a:cubicBezTo>
                  <a:cubicBezTo>
                    <a:pt x="12" y="132"/>
                    <a:pt x="12" y="132"/>
                    <a:pt x="12" y="132"/>
                  </a:cubicBezTo>
                  <a:cubicBezTo>
                    <a:pt x="12" y="156"/>
                    <a:pt x="12" y="156"/>
                    <a:pt x="12" y="156"/>
                  </a:cubicBezTo>
                  <a:cubicBezTo>
                    <a:pt x="45" y="156"/>
                    <a:pt x="45" y="156"/>
                    <a:pt x="45" y="156"/>
                  </a:cubicBezTo>
                  <a:cubicBezTo>
                    <a:pt x="48" y="156"/>
                    <a:pt x="50" y="158"/>
                    <a:pt x="51" y="160"/>
                  </a:cubicBezTo>
                  <a:cubicBezTo>
                    <a:pt x="52" y="167"/>
                    <a:pt x="57" y="185"/>
                    <a:pt x="62" y="194"/>
                  </a:cubicBezTo>
                  <a:cubicBezTo>
                    <a:pt x="63" y="196"/>
                    <a:pt x="63" y="199"/>
                    <a:pt x="61" y="201"/>
                  </a:cubicBezTo>
                  <a:cubicBezTo>
                    <a:pt x="38" y="224"/>
                    <a:pt x="38" y="224"/>
                    <a:pt x="38" y="224"/>
                  </a:cubicBezTo>
                  <a:cubicBezTo>
                    <a:pt x="63" y="250"/>
                    <a:pt x="63" y="250"/>
                    <a:pt x="63" y="250"/>
                  </a:cubicBezTo>
                  <a:cubicBezTo>
                    <a:pt x="87" y="226"/>
                    <a:pt x="87" y="226"/>
                    <a:pt x="87" y="226"/>
                  </a:cubicBezTo>
                  <a:cubicBezTo>
                    <a:pt x="88" y="224"/>
                    <a:pt x="92" y="224"/>
                    <a:pt x="94" y="226"/>
                  </a:cubicBezTo>
                  <a:cubicBezTo>
                    <a:pt x="103" y="231"/>
                    <a:pt x="121" y="235"/>
                    <a:pt x="127" y="237"/>
                  </a:cubicBezTo>
                  <a:cubicBezTo>
                    <a:pt x="130" y="238"/>
                    <a:pt x="132" y="240"/>
                    <a:pt x="132" y="243"/>
                  </a:cubicBezTo>
                  <a:cubicBezTo>
                    <a:pt x="132" y="276"/>
                    <a:pt x="132" y="276"/>
                    <a:pt x="132" y="276"/>
                  </a:cubicBezTo>
                  <a:cubicBezTo>
                    <a:pt x="156" y="276"/>
                    <a:pt x="156" y="276"/>
                    <a:pt x="156" y="276"/>
                  </a:cubicBezTo>
                  <a:cubicBezTo>
                    <a:pt x="156" y="243"/>
                    <a:pt x="156" y="243"/>
                    <a:pt x="156" y="243"/>
                  </a:cubicBezTo>
                  <a:cubicBezTo>
                    <a:pt x="156" y="240"/>
                    <a:pt x="158" y="238"/>
                    <a:pt x="160" y="237"/>
                  </a:cubicBezTo>
                  <a:cubicBezTo>
                    <a:pt x="167" y="235"/>
                    <a:pt x="185" y="231"/>
                    <a:pt x="194" y="226"/>
                  </a:cubicBezTo>
                  <a:cubicBezTo>
                    <a:pt x="196" y="224"/>
                    <a:pt x="199" y="224"/>
                    <a:pt x="201" y="226"/>
                  </a:cubicBezTo>
                  <a:cubicBezTo>
                    <a:pt x="224" y="250"/>
                    <a:pt x="224" y="250"/>
                    <a:pt x="224" y="250"/>
                  </a:cubicBezTo>
                  <a:cubicBezTo>
                    <a:pt x="250" y="224"/>
                    <a:pt x="250" y="224"/>
                    <a:pt x="250" y="224"/>
                  </a:cubicBezTo>
                  <a:cubicBezTo>
                    <a:pt x="227" y="201"/>
                    <a:pt x="227" y="201"/>
                    <a:pt x="227" y="201"/>
                  </a:cubicBezTo>
                  <a:cubicBezTo>
                    <a:pt x="225" y="199"/>
                    <a:pt x="224" y="196"/>
                    <a:pt x="226" y="194"/>
                  </a:cubicBezTo>
                  <a:cubicBezTo>
                    <a:pt x="231" y="185"/>
                    <a:pt x="235" y="167"/>
                    <a:pt x="237" y="160"/>
                  </a:cubicBezTo>
                  <a:cubicBezTo>
                    <a:pt x="238" y="158"/>
                    <a:pt x="240" y="156"/>
                    <a:pt x="243" y="156"/>
                  </a:cubicBezTo>
                  <a:cubicBezTo>
                    <a:pt x="276" y="156"/>
                    <a:pt x="276" y="156"/>
                    <a:pt x="276" y="156"/>
                  </a:cubicBezTo>
                  <a:cubicBezTo>
                    <a:pt x="276" y="132"/>
                    <a:pt x="276" y="132"/>
                    <a:pt x="276" y="132"/>
                  </a:cubicBezTo>
                  <a:cubicBezTo>
                    <a:pt x="243" y="132"/>
                    <a:pt x="243" y="132"/>
                    <a:pt x="243" y="132"/>
                  </a:cubicBezTo>
                  <a:cubicBezTo>
                    <a:pt x="240" y="132"/>
                    <a:pt x="238" y="130"/>
                    <a:pt x="237" y="127"/>
                  </a:cubicBezTo>
                  <a:cubicBezTo>
                    <a:pt x="236" y="121"/>
                    <a:pt x="234" y="114"/>
                    <a:pt x="231" y="107"/>
                  </a:cubicBezTo>
                  <a:cubicBezTo>
                    <a:pt x="230" y="103"/>
                    <a:pt x="232" y="100"/>
                    <a:pt x="235" y="99"/>
                  </a:cubicBezTo>
                  <a:cubicBezTo>
                    <a:pt x="238" y="98"/>
                    <a:pt x="242" y="100"/>
                    <a:pt x="243" y="103"/>
                  </a:cubicBezTo>
                  <a:cubicBezTo>
                    <a:pt x="245" y="108"/>
                    <a:pt x="246" y="114"/>
                    <a:pt x="248" y="120"/>
                  </a:cubicBezTo>
                  <a:cubicBezTo>
                    <a:pt x="282" y="120"/>
                    <a:pt x="282" y="120"/>
                    <a:pt x="282" y="120"/>
                  </a:cubicBezTo>
                  <a:cubicBezTo>
                    <a:pt x="285" y="120"/>
                    <a:pt x="288" y="122"/>
                    <a:pt x="288" y="126"/>
                  </a:cubicBezTo>
                  <a:cubicBezTo>
                    <a:pt x="288" y="162"/>
                    <a:pt x="288" y="162"/>
                    <a:pt x="288" y="162"/>
                  </a:cubicBezTo>
                  <a:cubicBezTo>
                    <a:pt x="288" y="165"/>
                    <a:pt x="285" y="168"/>
                    <a:pt x="282" y="168"/>
                  </a:cubicBezTo>
                  <a:cubicBezTo>
                    <a:pt x="248" y="168"/>
                    <a:pt x="248" y="168"/>
                    <a:pt x="248" y="168"/>
                  </a:cubicBezTo>
                  <a:cubicBezTo>
                    <a:pt x="245" y="177"/>
                    <a:pt x="242" y="188"/>
                    <a:pt x="238" y="196"/>
                  </a:cubicBezTo>
                  <a:cubicBezTo>
                    <a:pt x="263" y="220"/>
                    <a:pt x="263" y="220"/>
                    <a:pt x="263" y="220"/>
                  </a:cubicBezTo>
                  <a:cubicBezTo>
                    <a:pt x="265" y="222"/>
                    <a:pt x="265" y="226"/>
                    <a:pt x="263" y="229"/>
                  </a:cubicBezTo>
                  <a:cubicBezTo>
                    <a:pt x="229" y="262"/>
                    <a:pt x="229" y="262"/>
                    <a:pt x="229" y="262"/>
                  </a:cubicBezTo>
                  <a:cubicBezTo>
                    <a:pt x="226" y="265"/>
                    <a:pt x="223" y="265"/>
                    <a:pt x="220" y="262"/>
                  </a:cubicBezTo>
                  <a:cubicBezTo>
                    <a:pt x="196" y="238"/>
                    <a:pt x="196" y="238"/>
                    <a:pt x="196" y="238"/>
                  </a:cubicBezTo>
                  <a:cubicBezTo>
                    <a:pt x="188" y="242"/>
                    <a:pt x="177" y="245"/>
                    <a:pt x="168" y="247"/>
                  </a:cubicBezTo>
                  <a:cubicBezTo>
                    <a:pt x="168" y="282"/>
                    <a:pt x="168" y="282"/>
                    <a:pt x="168" y="282"/>
                  </a:cubicBezTo>
                  <a:cubicBezTo>
                    <a:pt x="168" y="285"/>
                    <a:pt x="165" y="288"/>
                    <a:pt x="162" y="2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54" name="Freeform 35">
              <a:extLst>
                <a:ext uri="{FF2B5EF4-FFF2-40B4-BE49-F238E27FC236}">
                  <a16:creationId xmlns:a16="http://schemas.microsoft.com/office/drawing/2014/main" id="{57FA1203-6088-8617-E48C-0C732E3A26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7" y="437"/>
              <a:ext cx="299" cy="265"/>
            </a:xfrm>
            <a:custGeom>
              <a:avLst/>
              <a:gdLst>
                <a:gd name="T0" fmla="*/ 61 w 202"/>
                <a:gd name="T1" fmla="*/ 179 h 179"/>
                <a:gd name="T2" fmla="*/ 56 w 202"/>
                <a:gd name="T3" fmla="*/ 177 h 179"/>
                <a:gd name="T4" fmla="*/ 3 w 202"/>
                <a:gd name="T5" fmla="*/ 124 h 179"/>
                <a:gd name="T6" fmla="*/ 3 w 202"/>
                <a:gd name="T7" fmla="*/ 115 h 179"/>
                <a:gd name="T8" fmla="*/ 11 w 202"/>
                <a:gd name="T9" fmla="*/ 115 h 179"/>
                <a:gd name="T10" fmla="*/ 60 w 202"/>
                <a:gd name="T11" fmla="*/ 164 h 179"/>
                <a:gd name="T12" fmla="*/ 190 w 202"/>
                <a:gd name="T13" fmla="*/ 3 h 179"/>
                <a:gd name="T14" fmla="*/ 199 w 202"/>
                <a:gd name="T15" fmla="*/ 2 h 179"/>
                <a:gd name="T16" fmla="*/ 200 w 202"/>
                <a:gd name="T17" fmla="*/ 10 h 179"/>
                <a:gd name="T18" fmla="*/ 65 w 202"/>
                <a:gd name="T19" fmla="*/ 177 h 179"/>
                <a:gd name="T20" fmla="*/ 61 w 202"/>
                <a:gd name="T21" fmla="*/ 179 h 179"/>
                <a:gd name="T22" fmla="*/ 61 w 202"/>
                <a:gd name="T23" fmla="*/ 179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2" h="179">
                  <a:moveTo>
                    <a:pt x="61" y="179"/>
                  </a:moveTo>
                  <a:cubicBezTo>
                    <a:pt x="59" y="179"/>
                    <a:pt x="57" y="179"/>
                    <a:pt x="56" y="177"/>
                  </a:cubicBezTo>
                  <a:cubicBezTo>
                    <a:pt x="3" y="124"/>
                    <a:pt x="3" y="124"/>
                    <a:pt x="3" y="124"/>
                  </a:cubicBezTo>
                  <a:cubicBezTo>
                    <a:pt x="0" y="121"/>
                    <a:pt x="0" y="118"/>
                    <a:pt x="3" y="115"/>
                  </a:cubicBezTo>
                  <a:cubicBezTo>
                    <a:pt x="5" y="113"/>
                    <a:pt x="9" y="113"/>
                    <a:pt x="11" y="115"/>
                  </a:cubicBezTo>
                  <a:cubicBezTo>
                    <a:pt x="60" y="164"/>
                    <a:pt x="60" y="164"/>
                    <a:pt x="60" y="164"/>
                  </a:cubicBezTo>
                  <a:cubicBezTo>
                    <a:pt x="190" y="3"/>
                    <a:pt x="190" y="3"/>
                    <a:pt x="190" y="3"/>
                  </a:cubicBezTo>
                  <a:cubicBezTo>
                    <a:pt x="192" y="0"/>
                    <a:pt x="196" y="0"/>
                    <a:pt x="199" y="2"/>
                  </a:cubicBezTo>
                  <a:cubicBezTo>
                    <a:pt x="201" y="4"/>
                    <a:pt x="202" y="8"/>
                    <a:pt x="200" y="10"/>
                  </a:cubicBezTo>
                  <a:cubicBezTo>
                    <a:pt x="65" y="177"/>
                    <a:pt x="65" y="177"/>
                    <a:pt x="65" y="177"/>
                  </a:cubicBezTo>
                  <a:cubicBezTo>
                    <a:pt x="64" y="178"/>
                    <a:pt x="63" y="179"/>
                    <a:pt x="61" y="179"/>
                  </a:cubicBezTo>
                  <a:cubicBezTo>
                    <a:pt x="61" y="179"/>
                    <a:pt x="61" y="179"/>
                    <a:pt x="61" y="17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</p:grp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C2A4DC94-DB05-08C4-20C0-24AEDC66B4A6}"/>
              </a:ext>
            </a:extLst>
          </p:cNvPr>
          <p:cNvCxnSpPr>
            <a:cxnSpLocks/>
            <a:stCxn id="130" idx="2"/>
          </p:cNvCxnSpPr>
          <p:nvPr/>
        </p:nvCxnSpPr>
        <p:spPr>
          <a:xfrm>
            <a:off x="6926440" y="2787727"/>
            <a:ext cx="1797538" cy="1372518"/>
          </a:xfrm>
          <a:prstGeom prst="line">
            <a:avLst/>
          </a:prstGeom>
          <a:ln w="28575">
            <a:solidFill>
              <a:srgbClr val="7500C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Rectangle 156">
            <a:extLst>
              <a:ext uri="{FF2B5EF4-FFF2-40B4-BE49-F238E27FC236}">
                <a16:creationId xmlns:a16="http://schemas.microsoft.com/office/drawing/2014/main" id="{B211882E-2978-A107-920A-BA3FCFCE9504}"/>
              </a:ext>
            </a:extLst>
          </p:cNvPr>
          <p:cNvSpPr/>
          <p:nvPr/>
        </p:nvSpPr>
        <p:spPr>
          <a:xfrm>
            <a:off x="8313593" y="5273101"/>
            <a:ext cx="3549762" cy="10307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Claim Case is available for Claim Examiner to </a:t>
            </a:r>
            <a:r>
              <a:rPr lang="en-US" sz="1400" dirty="0">
                <a:solidFill>
                  <a:srgbClr val="000000"/>
                </a:solidFill>
                <a:latin typeface="Graphik"/>
              </a:rPr>
              <a:t>review the recommended outcome to confirm &amp; adjudicate the claim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30E83302-F6CC-9E22-CBCA-C2B38294A0AF}"/>
              </a:ext>
            </a:extLst>
          </p:cNvPr>
          <p:cNvGrpSpPr/>
          <p:nvPr/>
        </p:nvGrpSpPr>
        <p:grpSpPr>
          <a:xfrm>
            <a:off x="7146076" y="4133888"/>
            <a:ext cx="1179462" cy="1200990"/>
            <a:chOff x="0" y="-34629"/>
            <a:chExt cx="1179462" cy="1200990"/>
          </a:xfrm>
        </p:grpSpPr>
        <p:pic>
          <p:nvPicPr>
            <p:cNvPr id="159" name="Picture 158">
              <a:hlinkClick r:id="" action="ppaction://noaction"/>
              <a:extLst>
                <a:ext uri="{FF2B5EF4-FFF2-40B4-BE49-F238E27FC236}">
                  <a16:creationId xmlns:a16="http://schemas.microsoft.com/office/drawing/2014/main" id="{FAD573DA-3F4F-3ADD-627F-F678BDA73C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111685" y="107388"/>
              <a:ext cx="956095" cy="916957"/>
            </a:xfrm>
            <a:prstGeom prst="rect">
              <a:avLst/>
            </a:prstGeom>
          </p:spPr>
        </p:pic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E53A0B8C-A8A6-B14A-0CC6-422D30E8904F}"/>
                </a:ext>
              </a:extLst>
            </p:cNvPr>
            <p:cNvSpPr/>
            <p:nvPr/>
          </p:nvSpPr>
          <p:spPr>
            <a:xfrm>
              <a:off x="0" y="-34629"/>
              <a:ext cx="1179462" cy="1200990"/>
            </a:xfrm>
            <a:prstGeom prst="ellipse">
              <a:avLst/>
            </a:prstGeom>
            <a:noFill/>
            <a:ln w="2540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47F3A50F-259A-4179-5D9A-832279E27E0D}"/>
              </a:ext>
            </a:extLst>
          </p:cNvPr>
          <p:cNvGrpSpPr/>
          <p:nvPr/>
        </p:nvGrpSpPr>
        <p:grpSpPr>
          <a:xfrm>
            <a:off x="8020336" y="4363028"/>
            <a:ext cx="1718496" cy="894729"/>
            <a:chOff x="6272820" y="2105670"/>
            <a:chExt cx="1718496" cy="894729"/>
          </a:xfrm>
        </p:grpSpPr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94EB11C1-6665-279C-015F-911E86372E9C}"/>
                </a:ext>
              </a:extLst>
            </p:cNvPr>
            <p:cNvGrpSpPr/>
            <p:nvPr/>
          </p:nvGrpSpPr>
          <p:grpSpPr>
            <a:xfrm>
              <a:off x="6876386" y="2105670"/>
              <a:ext cx="513643" cy="513641"/>
              <a:chOff x="6522218" y="2652251"/>
              <a:chExt cx="513643" cy="513641"/>
            </a:xfrm>
          </p:grpSpPr>
          <p:sp>
            <p:nvSpPr>
              <p:cNvPr id="164" name="Freeform 141">
                <a:extLst>
                  <a:ext uri="{FF2B5EF4-FFF2-40B4-BE49-F238E27FC236}">
                    <a16:creationId xmlns:a16="http://schemas.microsoft.com/office/drawing/2014/main" id="{E64911E5-78BF-5500-BA98-69C2ECB2D26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93432" y="2717360"/>
                <a:ext cx="171214" cy="170008"/>
              </a:xfrm>
              <a:custGeom>
                <a:avLst/>
                <a:gdLst>
                  <a:gd name="T0" fmla="*/ 48 w 96"/>
                  <a:gd name="T1" fmla="*/ 96 h 96"/>
                  <a:gd name="T2" fmla="*/ 0 w 96"/>
                  <a:gd name="T3" fmla="*/ 48 h 96"/>
                  <a:gd name="T4" fmla="*/ 48 w 96"/>
                  <a:gd name="T5" fmla="*/ 0 h 96"/>
                  <a:gd name="T6" fmla="*/ 96 w 96"/>
                  <a:gd name="T7" fmla="*/ 48 h 96"/>
                  <a:gd name="T8" fmla="*/ 48 w 96"/>
                  <a:gd name="T9" fmla="*/ 96 h 96"/>
                  <a:gd name="T10" fmla="*/ 48 w 96"/>
                  <a:gd name="T11" fmla="*/ 12 h 96"/>
                  <a:gd name="T12" fmla="*/ 12 w 96"/>
                  <a:gd name="T13" fmla="*/ 48 h 96"/>
                  <a:gd name="T14" fmla="*/ 48 w 96"/>
                  <a:gd name="T15" fmla="*/ 84 h 96"/>
                  <a:gd name="T16" fmla="*/ 84 w 96"/>
                  <a:gd name="T17" fmla="*/ 48 h 96"/>
                  <a:gd name="T18" fmla="*/ 48 w 96"/>
                  <a:gd name="T19" fmla="*/ 1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6" h="96">
                    <a:moveTo>
                      <a:pt x="48" y="96"/>
                    </a:moveTo>
                    <a:cubicBezTo>
                      <a:pt x="22" y="96"/>
                      <a:pt x="0" y="75"/>
                      <a:pt x="0" y="48"/>
                    </a:cubicBezTo>
                    <a:cubicBezTo>
                      <a:pt x="0" y="22"/>
                      <a:pt x="22" y="0"/>
                      <a:pt x="48" y="0"/>
                    </a:cubicBezTo>
                    <a:cubicBezTo>
                      <a:pt x="75" y="0"/>
                      <a:pt x="96" y="22"/>
                      <a:pt x="96" y="48"/>
                    </a:cubicBezTo>
                    <a:cubicBezTo>
                      <a:pt x="96" y="75"/>
                      <a:pt x="75" y="96"/>
                      <a:pt x="48" y="96"/>
                    </a:cubicBezTo>
                    <a:close/>
                    <a:moveTo>
                      <a:pt x="48" y="12"/>
                    </a:moveTo>
                    <a:cubicBezTo>
                      <a:pt x="28" y="12"/>
                      <a:pt x="12" y="29"/>
                      <a:pt x="12" y="48"/>
                    </a:cubicBezTo>
                    <a:cubicBezTo>
                      <a:pt x="12" y="68"/>
                      <a:pt x="28" y="84"/>
                      <a:pt x="48" y="84"/>
                    </a:cubicBezTo>
                    <a:cubicBezTo>
                      <a:pt x="68" y="84"/>
                      <a:pt x="84" y="68"/>
                      <a:pt x="84" y="48"/>
                    </a:cubicBezTo>
                    <a:cubicBezTo>
                      <a:pt x="84" y="29"/>
                      <a:pt x="68" y="12"/>
                      <a:pt x="48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65" name="Freeform 142">
                <a:extLst>
                  <a:ext uri="{FF2B5EF4-FFF2-40B4-BE49-F238E27FC236}">
                    <a16:creationId xmlns:a16="http://schemas.microsoft.com/office/drawing/2014/main" id="{C6B8D8C1-86DF-8B91-AEB9-773CC707C10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22294" y="2652251"/>
                <a:ext cx="315903" cy="472646"/>
              </a:xfrm>
              <a:custGeom>
                <a:avLst/>
                <a:gdLst>
                  <a:gd name="T0" fmla="*/ 88 w 177"/>
                  <a:gd name="T1" fmla="*/ 265 h 265"/>
                  <a:gd name="T2" fmla="*/ 88 w 177"/>
                  <a:gd name="T3" fmla="*/ 265 h 265"/>
                  <a:gd name="T4" fmla="*/ 83 w 177"/>
                  <a:gd name="T5" fmla="*/ 262 h 265"/>
                  <a:gd name="T6" fmla="*/ 0 w 177"/>
                  <a:gd name="T7" fmla="*/ 89 h 265"/>
                  <a:gd name="T8" fmla="*/ 88 w 177"/>
                  <a:gd name="T9" fmla="*/ 0 h 265"/>
                  <a:gd name="T10" fmla="*/ 177 w 177"/>
                  <a:gd name="T11" fmla="*/ 89 h 265"/>
                  <a:gd name="T12" fmla="*/ 93 w 177"/>
                  <a:gd name="T13" fmla="*/ 262 h 265"/>
                  <a:gd name="T14" fmla="*/ 88 w 177"/>
                  <a:gd name="T15" fmla="*/ 265 h 265"/>
                  <a:gd name="T16" fmla="*/ 88 w 177"/>
                  <a:gd name="T17" fmla="*/ 12 h 265"/>
                  <a:gd name="T18" fmla="*/ 12 w 177"/>
                  <a:gd name="T19" fmla="*/ 89 h 265"/>
                  <a:gd name="T20" fmla="*/ 88 w 177"/>
                  <a:gd name="T21" fmla="*/ 248 h 265"/>
                  <a:gd name="T22" fmla="*/ 165 w 177"/>
                  <a:gd name="T23" fmla="*/ 89 h 265"/>
                  <a:gd name="T24" fmla="*/ 88 w 177"/>
                  <a:gd name="T25" fmla="*/ 12 h 2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7" h="265">
                    <a:moveTo>
                      <a:pt x="88" y="265"/>
                    </a:moveTo>
                    <a:cubicBezTo>
                      <a:pt x="88" y="265"/>
                      <a:pt x="88" y="265"/>
                      <a:pt x="88" y="265"/>
                    </a:cubicBezTo>
                    <a:cubicBezTo>
                      <a:pt x="86" y="265"/>
                      <a:pt x="84" y="264"/>
                      <a:pt x="83" y="262"/>
                    </a:cubicBezTo>
                    <a:cubicBezTo>
                      <a:pt x="80" y="257"/>
                      <a:pt x="0" y="135"/>
                      <a:pt x="0" y="89"/>
                    </a:cubicBezTo>
                    <a:cubicBezTo>
                      <a:pt x="0" y="40"/>
                      <a:pt x="40" y="0"/>
                      <a:pt x="88" y="0"/>
                    </a:cubicBezTo>
                    <a:cubicBezTo>
                      <a:pt x="137" y="0"/>
                      <a:pt x="177" y="40"/>
                      <a:pt x="177" y="89"/>
                    </a:cubicBezTo>
                    <a:cubicBezTo>
                      <a:pt x="177" y="135"/>
                      <a:pt x="97" y="257"/>
                      <a:pt x="93" y="262"/>
                    </a:cubicBezTo>
                    <a:cubicBezTo>
                      <a:pt x="92" y="264"/>
                      <a:pt x="90" y="265"/>
                      <a:pt x="88" y="265"/>
                    </a:cubicBezTo>
                    <a:close/>
                    <a:moveTo>
                      <a:pt x="88" y="12"/>
                    </a:moveTo>
                    <a:cubicBezTo>
                      <a:pt x="46" y="12"/>
                      <a:pt x="12" y="47"/>
                      <a:pt x="12" y="89"/>
                    </a:cubicBezTo>
                    <a:cubicBezTo>
                      <a:pt x="12" y="126"/>
                      <a:pt x="71" y="220"/>
                      <a:pt x="88" y="248"/>
                    </a:cubicBezTo>
                    <a:cubicBezTo>
                      <a:pt x="106" y="220"/>
                      <a:pt x="165" y="126"/>
                      <a:pt x="165" y="89"/>
                    </a:cubicBezTo>
                    <a:cubicBezTo>
                      <a:pt x="165" y="47"/>
                      <a:pt x="130" y="12"/>
                      <a:pt x="88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66" name="Freeform 143">
                <a:extLst>
                  <a:ext uri="{FF2B5EF4-FFF2-40B4-BE49-F238E27FC236}">
                    <a16:creationId xmlns:a16="http://schemas.microsoft.com/office/drawing/2014/main" id="{C33167EE-3F98-C902-C81D-B6E489AD91B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22218" y="3064611"/>
                <a:ext cx="513643" cy="101281"/>
              </a:xfrm>
              <a:custGeom>
                <a:avLst/>
                <a:gdLst>
                  <a:gd name="T0" fmla="*/ 144 w 288"/>
                  <a:gd name="T1" fmla="*/ 57 h 57"/>
                  <a:gd name="T2" fmla="*/ 0 w 288"/>
                  <a:gd name="T3" fmla="*/ 27 h 57"/>
                  <a:gd name="T4" fmla="*/ 83 w 288"/>
                  <a:gd name="T5" fmla="*/ 0 h 57"/>
                  <a:gd name="T6" fmla="*/ 90 w 288"/>
                  <a:gd name="T7" fmla="*/ 5 h 57"/>
                  <a:gd name="T8" fmla="*/ 84 w 288"/>
                  <a:gd name="T9" fmla="*/ 12 h 57"/>
                  <a:gd name="T10" fmla="*/ 13 w 288"/>
                  <a:gd name="T11" fmla="*/ 27 h 57"/>
                  <a:gd name="T12" fmla="*/ 144 w 288"/>
                  <a:gd name="T13" fmla="*/ 45 h 57"/>
                  <a:gd name="T14" fmla="*/ 276 w 288"/>
                  <a:gd name="T15" fmla="*/ 27 h 57"/>
                  <a:gd name="T16" fmla="*/ 204 w 288"/>
                  <a:gd name="T17" fmla="*/ 12 h 57"/>
                  <a:gd name="T18" fmla="*/ 198 w 288"/>
                  <a:gd name="T19" fmla="*/ 5 h 57"/>
                  <a:gd name="T20" fmla="*/ 205 w 288"/>
                  <a:gd name="T21" fmla="*/ 0 h 57"/>
                  <a:gd name="T22" fmla="*/ 288 w 288"/>
                  <a:gd name="T23" fmla="*/ 27 h 57"/>
                  <a:gd name="T24" fmla="*/ 144 w 288"/>
                  <a:gd name="T25" fmla="*/ 57 h 57"/>
                  <a:gd name="T26" fmla="*/ 276 w 288"/>
                  <a:gd name="T27" fmla="*/ 28 h 57"/>
                  <a:gd name="T28" fmla="*/ 276 w 288"/>
                  <a:gd name="T29" fmla="*/ 2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88" h="57">
                    <a:moveTo>
                      <a:pt x="144" y="57"/>
                    </a:moveTo>
                    <a:cubicBezTo>
                      <a:pt x="130" y="57"/>
                      <a:pt x="0" y="57"/>
                      <a:pt x="0" y="27"/>
                    </a:cubicBezTo>
                    <a:cubicBezTo>
                      <a:pt x="0" y="14"/>
                      <a:pt x="28" y="5"/>
                      <a:pt x="83" y="0"/>
                    </a:cubicBezTo>
                    <a:cubicBezTo>
                      <a:pt x="87" y="0"/>
                      <a:pt x="89" y="2"/>
                      <a:pt x="90" y="5"/>
                    </a:cubicBezTo>
                    <a:cubicBezTo>
                      <a:pt x="90" y="9"/>
                      <a:pt x="88" y="12"/>
                      <a:pt x="84" y="12"/>
                    </a:cubicBezTo>
                    <a:cubicBezTo>
                      <a:pt x="33" y="16"/>
                      <a:pt x="16" y="24"/>
                      <a:pt x="13" y="27"/>
                    </a:cubicBezTo>
                    <a:cubicBezTo>
                      <a:pt x="18" y="34"/>
                      <a:pt x="65" y="45"/>
                      <a:pt x="144" y="45"/>
                    </a:cubicBezTo>
                    <a:cubicBezTo>
                      <a:pt x="223" y="45"/>
                      <a:pt x="270" y="34"/>
                      <a:pt x="276" y="27"/>
                    </a:cubicBezTo>
                    <a:cubicBezTo>
                      <a:pt x="273" y="24"/>
                      <a:pt x="255" y="16"/>
                      <a:pt x="204" y="12"/>
                    </a:cubicBezTo>
                    <a:cubicBezTo>
                      <a:pt x="200" y="12"/>
                      <a:pt x="198" y="9"/>
                      <a:pt x="198" y="5"/>
                    </a:cubicBezTo>
                    <a:cubicBezTo>
                      <a:pt x="199" y="2"/>
                      <a:pt x="201" y="0"/>
                      <a:pt x="205" y="0"/>
                    </a:cubicBezTo>
                    <a:cubicBezTo>
                      <a:pt x="260" y="5"/>
                      <a:pt x="288" y="14"/>
                      <a:pt x="288" y="27"/>
                    </a:cubicBezTo>
                    <a:cubicBezTo>
                      <a:pt x="288" y="57"/>
                      <a:pt x="159" y="57"/>
                      <a:pt x="144" y="57"/>
                    </a:cubicBezTo>
                    <a:close/>
                    <a:moveTo>
                      <a:pt x="276" y="28"/>
                    </a:moveTo>
                    <a:cubicBezTo>
                      <a:pt x="276" y="28"/>
                      <a:pt x="276" y="28"/>
                      <a:pt x="276" y="2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6F3B113B-77D1-824F-F585-F1FCC75AA2FD}"/>
                </a:ext>
              </a:extLst>
            </p:cNvPr>
            <p:cNvSpPr/>
            <p:nvPr/>
          </p:nvSpPr>
          <p:spPr>
            <a:xfrm>
              <a:off x="6272820" y="2654117"/>
              <a:ext cx="1718496" cy="34628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b="1" dirty="0">
                  <a:solidFill>
                    <a:srgbClr val="7500C0"/>
                  </a:solidFill>
                  <a:latin typeface="Graphik"/>
                </a:rPr>
                <a:t>YOU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 ARE HERE</a:t>
              </a:r>
            </a:p>
          </p:txBody>
        </p:sp>
      </p:grpSp>
      <p:sp>
        <p:nvSpPr>
          <p:cNvPr id="168" name="Rectangle 167">
            <a:extLst>
              <a:ext uri="{FF2B5EF4-FFF2-40B4-BE49-F238E27FC236}">
                <a16:creationId xmlns:a16="http://schemas.microsoft.com/office/drawing/2014/main" id="{EC54D5AC-2274-EA7E-3F6A-451F35A70FDA}"/>
              </a:ext>
            </a:extLst>
          </p:cNvPr>
          <p:cNvSpPr/>
          <p:nvPr/>
        </p:nvSpPr>
        <p:spPr>
          <a:xfrm>
            <a:off x="6864515" y="4225753"/>
            <a:ext cx="5105076" cy="2165608"/>
          </a:xfrm>
          <a:prstGeom prst="rect">
            <a:avLst/>
          </a:prstGeom>
          <a:solidFill>
            <a:schemeClr val="accent4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BBB8ADF9-48A5-E532-C575-1E21D1615739}"/>
              </a:ext>
            </a:extLst>
          </p:cNvPr>
          <p:cNvCxnSpPr>
            <a:cxnSpLocks/>
          </p:cNvCxnSpPr>
          <p:nvPr/>
        </p:nvCxnSpPr>
        <p:spPr>
          <a:xfrm flipV="1">
            <a:off x="8723978" y="2787727"/>
            <a:ext cx="1173840" cy="1369121"/>
          </a:xfrm>
          <a:prstGeom prst="line">
            <a:avLst/>
          </a:prstGeom>
          <a:ln w="28575">
            <a:solidFill>
              <a:srgbClr val="7500C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Rectangle 171">
            <a:extLst>
              <a:ext uri="{FF2B5EF4-FFF2-40B4-BE49-F238E27FC236}">
                <a16:creationId xmlns:a16="http://schemas.microsoft.com/office/drawing/2014/main" id="{12FBFAC8-E90C-1871-CCA6-1DA61513DAF5}"/>
              </a:ext>
            </a:extLst>
          </p:cNvPr>
          <p:cNvSpPr/>
          <p:nvPr/>
        </p:nvSpPr>
        <p:spPr>
          <a:xfrm>
            <a:off x="8825215" y="1556244"/>
            <a:ext cx="2802041" cy="12414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1400" dirty="0"/>
              <a:t>Confirmed outcome are posed back in P360 for claim adjudication, communication &amp; payment</a:t>
            </a:r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174" name="Freeform 34">
            <a:extLst>
              <a:ext uri="{FF2B5EF4-FFF2-40B4-BE49-F238E27FC236}">
                <a16:creationId xmlns:a16="http://schemas.microsoft.com/office/drawing/2014/main" id="{C796BE5C-138B-5451-DFB3-280A25ED4928}"/>
              </a:ext>
            </a:extLst>
          </p:cNvPr>
          <p:cNvSpPr>
            <a:spLocks/>
          </p:cNvSpPr>
          <p:nvPr/>
        </p:nvSpPr>
        <p:spPr bwMode="auto">
          <a:xfrm>
            <a:off x="9897818" y="1068703"/>
            <a:ext cx="482686" cy="481553"/>
          </a:xfrm>
          <a:custGeom>
            <a:avLst/>
            <a:gdLst>
              <a:gd name="T0" fmla="*/ 126 w 288"/>
              <a:gd name="T1" fmla="*/ 288 h 288"/>
              <a:gd name="T2" fmla="*/ 120 w 288"/>
              <a:gd name="T3" fmla="*/ 247 h 288"/>
              <a:gd name="T4" fmla="*/ 67 w 288"/>
              <a:gd name="T5" fmla="*/ 262 h 288"/>
              <a:gd name="T6" fmla="*/ 25 w 288"/>
              <a:gd name="T7" fmla="*/ 229 h 288"/>
              <a:gd name="T8" fmla="*/ 25 w 288"/>
              <a:gd name="T9" fmla="*/ 220 h 288"/>
              <a:gd name="T10" fmla="*/ 40 w 288"/>
              <a:gd name="T11" fmla="*/ 168 h 288"/>
              <a:gd name="T12" fmla="*/ 0 w 288"/>
              <a:gd name="T13" fmla="*/ 162 h 288"/>
              <a:gd name="T14" fmla="*/ 6 w 288"/>
              <a:gd name="T15" fmla="*/ 120 h 288"/>
              <a:gd name="T16" fmla="*/ 49 w 288"/>
              <a:gd name="T17" fmla="*/ 92 h 288"/>
              <a:gd name="T18" fmla="*/ 23 w 288"/>
              <a:gd name="T19" fmla="*/ 63 h 288"/>
              <a:gd name="T20" fmla="*/ 59 w 288"/>
              <a:gd name="T21" fmla="*/ 25 h 288"/>
              <a:gd name="T22" fmla="*/ 92 w 288"/>
              <a:gd name="T23" fmla="*/ 49 h 288"/>
              <a:gd name="T24" fmla="*/ 120 w 288"/>
              <a:gd name="T25" fmla="*/ 6 h 288"/>
              <a:gd name="T26" fmla="*/ 162 w 288"/>
              <a:gd name="T27" fmla="*/ 0 h 288"/>
              <a:gd name="T28" fmla="*/ 168 w 288"/>
              <a:gd name="T29" fmla="*/ 40 h 288"/>
              <a:gd name="T30" fmla="*/ 202 w 288"/>
              <a:gd name="T31" fmla="*/ 60 h 288"/>
              <a:gd name="T32" fmla="*/ 160 w 288"/>
              <a:gd name="T33" fmla="*/ 50 h 288"/>
              <a:gd name="T34" fmla="*/ 156 w 288"/>
              <a:gd name="T35" fmla="*/ 12 h 288"/>
              <a:gd name="T36" fmla="*/ 132 w 288"/>
              <a:gd name="T37" fmla="*/ 45 h 288"/>
              <a:gd name="T38" fmla="*/ 94 w 288"/>
              <a:gd name="T39" fmla="*/ 62 h 288"/>
              <a:gd name="T40" fmla="*/ 63 w 288"/>
              <a:gd name="T41" fmla="*/ 38 h 288"/>
              <a:gd name="T42" fmla="*/ 61 w 288"/>
              <a:gd name="T43" fmla="*/ 86 h 288"/>
              <a:gd name="T44" fmla="*/ 51 w 288"/>
              <a:gd name="T45" fmla="*/ 127 h 288"/>
              <a:gd name="T46" fmla="*/ 12 w 288"/>
              <a:gd name="T47" fmla="*/ 132 h 288"/>
              <a:gd name="T48" fmla="*/ 45 w 288"/>
              <a:gd name="T49" fmla="*/ 156 h 288"/>
              <a:gd name="T50" fmla="*/ 62 w 288"/>
              <a:gd name="T51" fmla="*/ 194 h 288"/>
              <a:gd name="T52" fmla="*/ 38 w 288"/>
              <a:gd name="T53" fmla="*/ 224 h 288"/>
              <a:gd name="T54" fmla="*/ 87 w 288"/>
              <a:gd name="T55" fmla="*/ 226 h 288"/>
              <a:gd name="T56" fmla="*/ 127 w 288"/>
              <a:gd name="T57" fmla="*/ 237 h 288"/>
              <a:gd name="T58" fmla="*/ 132 w 288"/>
              <a:gd name="T59" fmla="*/ 276 h 288"/>
              <a:gd name="T60" fmla="*/ 156 w 288"/>
              <a:gd name="T61" fmla="*/ 243 h 288"/>
              <a:gd name="T62" fmla="*/ 194 w 288"/>
              <a:gd name="T63" fmla="*/ 226 h 288"/>
              <a:gd name="T64" fmla="*/ 224 w 288"/>
              <a:gd name="T65" fmla="*/ 250 h 288"/>
              <a:gd name="T66" fmla="*/ 227 w 288"/>
              <a:gd name="T67" fmla="*/ 201 h 288"/>
              <a:gd name="T68" fmla="*/ 237 w 288"/>
              <a:gd name="T69" fmla="*/ 160 h 288"/>
              <a:gd name="T70" fmla="*/ 276 w 288"/>
              <a:gd name="T71" fmla="*/ 156 h 288"/>
              <a:gd name="T72" fmla="*/ 243 w 288"/>
              <a:gd name="T73" fmla="*/ 132 h 288"/>
              <a:gd name="T74" fmla="*/ 231 w 288"/>
              <a:gd name="T75" fmla="*/ 107 h 288"/>
              <a:gd name="T76" fmla="*/ 243 w 288"/>
              <a:gd name="T77" fmla="*/ 103 h 288"/>
              <a:gd name="T78" fmla="*/ 282 w 288"/>
              <a:gd name="T79" fmla="*/ 120 h 288"/>
              <a:gd name="T80" fmla="*/ 288 w 288"/>
              <a:gd name="T81" fmla="*/ 162 h 288"/>
              <a:gd name="T82" fmla="*/ 248 w 288"/>
              <a:gd name="T83" fmla="*/ 168 h 288"/>
              <a:gd name="T84" fmla="*/ 263 w 288"/>
              <a:gd name="T85" fmla="*/ 220 h 288"/>
              <a:gd name="T86" fmla="*/ 229 w 288"/>
              <a:gd name="T87" fmla="*/ 262 h 288"/>
              <a:gd name="T88" fmla="*/ 196 w 288"/>
              <a:gd name="T89" fmla="*/ 238 h 288"/>
              <a:gd name="T90" fmla="*/ 168 w 288"/>
              <a:gd name="T91" fmla="*/ 282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88" h="288">
                <a:moveTo>
                  <a:pt x="162" y="288"/>
                </a:moveTo>
                <a:cubicBezTo>
                  <a:pt x="126" y="288"/>
                  <a:pt x="126" y="288"/>
                  <a:pt x="126" y="288"/>
                </a:cubicBezTo>
                <a:cubicBezTo>
                  <a:pt x="123" y="288"/>
                  <a:pt x="120" y="285"/>
                  <a:pt x="120" y="282"/>
                </a:cubicBezTo>
                <a:cubicBezTo>
                  <a:pt x="120" y="247"/>
                  <a:pt x="120" y="247"/>
                  <a:pt x="120" y="247"/>
                </a:cubicBezTo>
                <a:cubicBezTo>
                  <a:pt x="110" y="245"/>
                  <a:pt x="100" y="242"/>
                  <a:pt x="92" y="238"/>
                </a:cubicBezTo>
                <a:cubicBezTo>
                  <a:pt x="67" y="262"/>
                  <a:pt x="67" y="262"/>
                  <a:pt x="67" y="262"/>
                </a:cubicBezTo>
                <a:cubicBezTo>
                  <a:pt x="65" y="265"/>
                  <a:pt x="61" y="265"/>
                  <a:pt x="59" y="262"/>
                </a:cubicBezTo>
                <a:cubicBezTo>
                  <a:pt x="25" y="229"/>
                  <a:pt x="25" y="229"/>
                  <a:pt x="25" y="229"/>
                </a:cubicBezTo>
                <a:cubicBezTo>
                  <a:pt x="24" y="227"/>
                  <a:pt x="23" y="226"/>
                  <a:pt x="23" y="224"/>
                </a:cubicBezTo>
                <a:cubicBezTo>
                  <a:pt x="23" y="223"/>
                  <a:pt x="24" y="221"/>
                  <a:pt x="25" y="220"/>
                </a:cubicBezTo>
                <a:cubicBezTo>
                  <a:pt x="49" y="196"/>
                  <a:pt x="49" y="196"/>
                  <a:pt x="49" y="196"/>
                </a:cubicBezTo>
                <a:cubicBezTo>
                  <a:pt x="46" y="188"/>
                  <a:pt x="43" y="177"/>
                  <a:pt x="40" y="168"/>
                </a:cubicBezTo>
                <a:cubicBezTo>
                  <a:pt x="6" y="168"/>
                  <a:pt x="6" y="168"/>
                  <a:pt x="6" y="168"/>
                </a:cubicBezTo>
                <a:cubicBezTo>
                  <a:pt x="3" y="168"/>
                  <a:pt x="0" y="165"/>
                  <a:pt x="0" y="162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22"/>
                  <a:pt x="3" y="120"/>
                  <a:pt x="6" y="120"/>
                </a:cubicBezTo>
                <a:cubicBezTo>
                  <a:pt x="40" y="120"/>
                  <a:pt x="40" y="120"/>
                  <a:pt x="40" y="120"/>
                </a:cubicBezTo>
                <a:cubicBezTo>
                  <a:pt x="43" y="110"/>
                  <a:pt x="46" y="100"/>
                  <a:pt x="49" y="92"/>
                </a:cubicBezTo>
                <a:cubicBezTo>
                  <a:pt x="25" y="67"/>
                  <a:pt x="25" y="67"/>
                  <a:pt x="25" y="67"/>
                </a:cubicBezTo>
                <a:cubicBezTo>
                  <a:pt x="24" y="66"/>
                  <a:pt x="23" y="65"/>
                  <a:pt x="23" y="63"/>
                </a:cubicBezTo>
                <a:cubicBezTo>
                  <a:pt x="23" y="61"/>
                  <a:pt x="24" y="60"/>
                  <a:pt x="25" y="59"/>
                </a:cubicBezTo>
                <a:cubicBezTo>
                  <a:pt x="59" y="25"/>
                  <a:pt x="59" y="25"/>
                  <a:pt x="59" y="25"/>
                </a:cubicBezTo>
                <a:cubicBezTo>
                  <a:pt x="61" y="23"/>
                  <a:pt x="65" y="23"/>
                  <a:pt x="67" y="25"/>
                </a:cubicBezTo>
                <a:cubicBezTo>
                  <a:pt x="92" y="49"/>
                  <a:pt x="92" y="49"/>
                  <a:pt x="92" y="49"/>
                </a:cubicBezTo>
                <a:cubicBezTo>
                  <a:pt x="100" y="45"/>
                  <a:pt x="110" y="42"/>
                  <a:pt x="120" y="40"/>
                </a:cubicBezTo>
                <a:cubicBezTo>
                  <a:pt x="120" y="6"/>
                  <a:pt x="120" y="6"/>
                  <a:pt x="120" y="6"/>
                </a:cubicBezTo>
                <a:cubicBezTo>
                  <a:pt x="120" y="2"/>
                  <a:pt x="123" y="0"/>
                  <a:pt x="126" y="0"/>
                </a:cubicBezTo>
                <a:cubicBezTo>
                  <a:pt x="162" y="0"/>
                  <a:pt x="162" y="0"/>
                  <a:pt x="162" y="0"/>
                </a:cubicBezTo>
                <a:cubicBezTo>
                  <a:pt x="165" y="0"/>
                  <a:pt x="168" y="2"/>
                  <a:pt x="168" y="6"/>
                </a:cubicBezTo>
                <a:cubicBezTo>
                  <a:pt x="168" y="40"/>
                  <a:pt x="168" y="40"/>
                  <a:pt x="168" y="40"/>
                </a:cubicBezTo>
                <a:cubicBezTo>
                  <a:pt x="179" y="43"/>
                  <a:pt x="192" y="47"/>
                  <a:pt x="200" y="52"/>
                </a:cubicBezTo>
                <a:cubicBezTo>
                  <a:pt x="203" y="53"/>
                  <a:pt x="204" y="57"/>
                  <a:pt x="202" y="60"/>
                </a:cubicBezTo>
                <a:cubicBezTo>
                  <a:pt x="200" y="63"/>
                  <a:pt x="197" y="63"/>
                  <a:pt x="194" y="62"/>
                </a:cubicBezTo>
                <a:cubicBezTo>
                  <a:pt x="186" y="57"/>
                  <a:pt x="171" y="53"/>
                  <a:pt x="160" y="50"/>
                </a:cubicBezTo>
                <a:cubicBezTo>
                  <a:pt x="158" y="50"/>
                  <a:pt x="156" y="47"/>
                  <a:pt x="156" y="45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32" y="12"/>
                  <a:pt x="132" y="12"/>
                  <a:pt x="132" y="12"/>
                </a:cubicBezTo>
                <a:cubicBezTo>
                  <a:pt x="132" y="45"/>
                  <a:pt x="132" y="45"/>
                  <a:pt x="132" y="45"/>
                </a:cubicBezTo>
                <a:cubicBezTo>
                  <a:pt x="132" y="47"/>
                  <a:pt x="130" y="50"/>
                  <a:pt x="127" y="50"/>
                </a:cubicBezTo>
                <a:cubicBezTo>
                  <a:pt x="117" y="53"/>
                  <a:pt x="102" y="57"/>
                  <a:pt x="94" y="62"/>
                </a:cubicBezTo>
                <a:cubicBezTo>
                  <a:pt x="92" y="63"/>
                  <a:pt x="89" y="63"/>
                  <a:pt x="87" y="61"/>
                </a:cubicBezTo>
                <a:cubicBezTo>
                  <a:pt x="63" y="38"/>
                  <a:pt x="63" y="38"/>
                  <a:pt x="63" y="38"/>
                </a:cubicBezTo>
                <a:cubicBezTo>
                  <a:pt x="38" y="63"/>
                  <a:pt x="38" y="63"/>
                  <a:pt x="38" y="63"/>
                </a:cubicBezTo>
                <a:cubicBezTo>
                  <a:pt x="61" y="86"/>
                  <a:pt x="61" y="86"/>
                  <a:pt x="61" y="86"/>
                </a:cubicBezTo>
                <a:cubicBezTo>
                  <a:pt x="63" y="88"/>
                  <a:pt x="63" y="91"/>
                  <a:pt x="62" y="94"/>
                </a:cubicBezTo>
                <a:cubicBezTo>
                  <a:pt x="57" y="103"/>
                  <a:pt x="52" y="120"/>
                  <a:pt x="51" y="127"/>
                </a:cubicBezTo>
                <a:cubicBezTo>
                  <a:pt x="50" y="130"/>
                  <a:pt x="48" y="132"/>
                  <a:pt x="45" y="132"/>
                </a:cubicBezTo>
                <a:cubicBezTo>
                  <a:pt x="12" y="132"/>
                  <a:pt x="12" y="132"/>
                  <a:pt x="12" y="132"/>
                </a:cubicBezTo>
                <a:cubicBezTo>
                  <a:pt x="12" y="156"/>
                  <a:pt x="12" y="156"/>
                  <a:pt x="12" y="156"/>
                </a:cubicBezTo>
                <a:cubicBezTo>
                  <a:pt x="45" y="156"/>
                  <a:pt x="45" y="156"/>
                  <a:pt x="45" y="156"/>
                </a:cubicBezTo>
                <a:cubicBezTo>
                  <a:pt x="48" y="156"/>
                  <a:pt x="50" y="158"/>
                  <a:pt x="51" y="160"/>
                </a:cubicBezTo>
                <a:cubicBezTo>
                  <a:pt x="52" y="167"/>
                  <a:pt x="57" y="185"/>
                  <a:pt x="62" y="194"/>
                </a:cubicBezTo>
                <a:cubicBezTo>
                  <a:pt x="63" y="196"/>
                  <a:pt x="63" y="199"/>
                  <a:pt x="61" y="201"/>
                </a:cubicBezTo>
                <a:cubicBezTo>
                  <a:pt x="38" y="224"/>
                  <a:pt x="38" y="224"/>
                  <a:pt x="38" y="224"/>
                </a:cubicBezTo>
                <a:cubicBezTo>
                  <a:pt x="63" y="250"/>
                  <a:pt x="63" y="250"/>
                  <a:pt x="63" y="250"/>
                </a:cubicBezTo>
                <a:cubicBezTo>
                  <a:pt x="87" y="226"/>
                  <a:pt x="87" y="226"/>
                  <a:pt x="87" y="226"/>
                </a:cubicBezTo>
                <a:cubicBezTo>
                  <a:pt x="88" y="224"/>
                  <a:pt x="92" y="224"/>
                  <a:pt x="94" y="226"/>
                </a:cubicBezTo>
                <a:cubicBezTo>
                  <a:pt x="103" y="231"/>
                  <a:pt x="121" y="235"/>
                  <a:pt x="127" y="237"/>
                </a:cubicBezTo>
                <a:cubicBezTo>
                  <a:pt x="130" y="238"/>
                  <a:pt x="132" y="240"/>
                  <a:pt x="132" y="243"/>
                </a:cubicBezTo>
                <a:cubicBezTo>
                  <a:pt x="132" y="276"/>
                  <a:pt x="132" y="276"/>
                  <a:pt x="132" y="276"/>
                </a:cubicBezTo>
                <a:cubicBezTo>
                  <a:pt x="156" y="276"/>
                  <a:pt x="156" y="276"/>
                  <a:pt x="156" y="276"/>
                </a:cubicBezTo>
                <a:cubicBezTo>
                  <a:pt x="156" y="243"/>
                  <a:pt x="156" y="243"/>
                  <a:pt x="156" y="243"/>
                </a:cubicBezTo>
                <a:cubicBezTo>
                  <a:pt x="156" y="240"/>
                  <a:pt x="158" y="238"/>
                  <a:pt x="160" y="237"/>
                </a:cubicBezTo>
                <a:cubicBezTo>
                  <a:pt x="167" y="235"/>
                  <a:pt x="185" y="231"/>
                  <a:pt x="194" y="226"/>
                </a:cubicBezTo>
                <a:cubicBezTo>
                  <a:pt x="196" y="224"/>
                  <a:pt x="199" y="224"/>
                  <a:pt x="201" y="226"/>
                </a:cubicBezTo>
                <a:cubicBezTo>
                  <a:pt x="224" y="250"/>
                  <a:pt x="224" y="250"/>
                  <a:pt x="224" y="250"/>
                </a:cubicBezTo>
                <a:cubicBezTo>
                  <a:pt x="250" y="224"/>
                  <a:pt x="250" y="224"/>
                  <a:pt x="250" y="224"/>
                </a:cubicBezTo>
                <a:cubicBezTo>
                  <a:pt x="227" y="201"/>
                  <a:pt x="227" y="201"/>
                  <a:pt x="227" y="201"/>
                </a:cubicBezTo>
                <a:cubicBezTo>
                  <a:pt x="225" y="199"/>
                  <a:pt x="224" y="196"/>
                  <a:pt x="226" y="194"/>
                </a:cubicBezTo>
                <a:cubicBezTo>
                  <a:pt x="231" y="185"/>
                  <a:pt x="235" y="167"/>
                  <a:pt x="237" y="160"/>
                </a:cubicBezTo>
                <a:cubicBezTo>
                  <a:pt x="238" y="158"/>
                  <a:pt x="240" y="156"/>
                  <a:pt x="243" y="156"/>
                </a:cubicBezTo>
                <a:cubicBezTo>
                  <a:pt x="276" y="156"/>
                  <a:pt x="276" y="156"/>
                  <a:pt x="276" y="156"/>
                </a:cubicBezTo>
                <a:cubicBezTo>
                  <a:pt x="276" y="132"/>
                  <a:pt x="276" y="132"/>
                  <a:pt x="276" y="132"/>
                </a:cubicBezTo>
                <a:cubicBezTo>
                  <a:pt x="243" y="132"/>
                  <a:pt x="243" y="132"/>
                  <a:pt x="243" y="132"/>
                </a:cubicBezTo>
                <a:cubicBezTo>
                  <a:pt x="240" y="132"/>
                  <a:pt x="238" y="130"/>
                  <a:pt x="237" y="127"/>
                </a:cubicBezTo>
                <a:cubicBezTo>
                  <a:pt x="236" y="121"/>
                  <a:pt x="234" y="114"/>
                  <a:pt x="231" y="107"/>
                </a:cubicBezTo>
                <a:cubicBezTo>
                  <a:pt x="230" y="103"/>
                  <a:pt x="232" y="100"/>
                  <a:pt x="235" y="99"/>
                </a:cubicBezTo>
                <a:cubicBezTo>
                  <a:pt x="238" y="98"/>
                  <a:pt x="242" y="100"/>
                  <a:pt x="243" y="103"/>
                </a:cubicBezTo>
                <a:cubicBezTo>
                  <a:pt x="245" y="108"/>
                  <a:pt x="246" y="114"/>
                  <a:pt x="248" y="120"/>
                </a:cubicBezTo>
                <a:cubicBezTo>
                  <a:pt x="282" y="120"/>
                  <a:pt x="282" y="120"/>
                  <a:pt x="282" y="120"/>
                </a:cubicBezTo>
                <a:cubicBezTo>
                  <a:pt x="285" y="120"/>
                  <a:pt x="288" y="122"/>
                  <a:pt x="288" y="126"/>
                </a:cubicBezTo>
                <a:cubicBezTo>
                  <a:pt x="288" y="162"/>
                  <a:pt x="288" y="162"/>
                  <a:pt x="288" y="162"/>
                </a:cubicBezTo>
                <a:cubicBezTo>
                  <a:pt x="288" y="165"/>
                  <a:pt x="285" y="168"/>
                  <a:pt x="282" y="168"/>
                </a:cubicBezTo>
                <a:cubicBezTo>
                  <a:pt x="248" y="168"/>
                  <a:pt x="248" y="168"/>
                  <a:pt x="248" y="168"/>
                </a:cubicBezTo>
                <a:cubicBezTo>
                  <a:pt x="245" y="177"/>
                  <a:pt x="242" y="188"/>
                  <a:pt x="238" y="196"/>
                </a:cubicBezTo>
                <a:cubicBezTo>
                  <a:pt x="263" y="220"/>
                  <a:pt x="263" y="220"/>
                  <a:pt x="263" y="220"/>
                </a:cubicBezTo>
                <a:cubicBezTo>
                  <a:pt x="265" y="222"/>
                  <a:pt x="265" y="226"/>
                  <a:pt x="263" y="229"/>
                </a:cubicBezTo>
                <a:cubicBezTo>
                  <a:pt x="229" y="262"/>
                  <a:pt x="229" y="262"/>
                  <a:pt x="229" y="262"/>
                </a:cubicBezTo>
                <a:cubicBezTo>
                  <a:pt x="226" y="265"/>
                  <a:pt x="223" y="265"/>
                  <a:pt x="220" y="262"/>
                </a:cubicBezTo>
                <a:cubicBezTo>
                  <a:pt x="196" y="238"/>
                  <a:pt x="196" y="238"/>
                  <a:pt x="196" y="238"/>
                </a:cubicBezTo>
                <a:cubicBezTo>
                  <a:pt x="188" y="242"/>
                  <a:pt x="177" y="245"/>
                  <a:pt x="168" y="247"/>
                </a:cubicBezTo>
                <a:cubicBezTo>
                  <a:pt x="168" y="282"/>
                  <a:pt x="168" y="282"/>
                  <a:pt x="168" y="282"/>
                </a:cubicBezTo>
                <a:cubicBezTo>
                  <a:pt x="168" y="285"/>
                  <a:pt x="165" y="288"/>
                  <a:pt x="162" y="28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19" tIns="45709" rIns="91419" bIns="4570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75" name="Freeform 35">
            <a:extLst>
              <a:ext uri="{FF2B5EF4-FFF2-40B4-BE49-F238E27FC236}">
                <a16:creationId xmlns:a16="http://schemas.microsoft.com/office/drawing/2014/main" id="{2A344ADB-33A2-E6C0-69FE-F40BDC012E79}"/>
              </a:ext>
            </a:extLst>
          </p:cNvPr>
          <p:cNvSpPr>
            <a:spLocks/>
          </p:cNvSpPr>
          <p:nvPr/>
        </p:nvSpPr>
        <p:spPr bwMode="auto">
          <a:xfrm>
            <a:off x="10043641" y="1066442"/>
            <a:ext cx="337993" cy="299558"/>
          </a:xfrm>
          <a:custGeom>
            <a:avLst/>
            <a:gdLst>
              <a:gd name="T0" fmla="*/ 61 w 202"/>
              <a:gd name="T1" fmla="*/ 179 h 179"/>
              <a:gd name="T2" fmla="*/ 56 w 202"/>
              <a:gd name="T3" fmla="*/ 177 h 179"/>
              <a:gd name="T4" fmla="*/ 3 w 202"/>
              <a:gd name="T5" fmla="*/ 124 h 179"/>
              <a:gd name="T6" fmla="*/ 3 w 202"/>
              <a:gd name="T7" fmla="*/ 115 h 179"/>
              <a:gd name="T8" fmla="*/ 11 w 202"/>
              <a:gd name="T9" fmla="*/ 115 h 179"/>
              <a:gd name="T10" fmla="*/ 60 w 202"/>
              <a:gd name="T11" fmla="*/ 164 h 179"/>
              <a:gd name="T12" fmla="*/ 190 w 202"/>
              <a:gd name="T13" fmla="*/ 3 h 179"/>
              <a:gd name="T14" fmla="*/ 199 w 202"/>
              <a:gd name="T15" fmla="*/ 2 h 179"/>
              <a:gd name="T16" fmla="*/ 200 w 202"/>
              <a:gd name="T17" fmla="*/ 10 h 179"/>
              <a:gd name="T18" fmla="*/ 65 w 202"/>
              <a:gd name="T19" fmla="*/ 177 h 179"/>
              <a:gd name="T20" fmla="*/ 61 w 202"/>
              <a:gd name="T21" fmla="*/ 179 h 179"/>
              <a:gd name="T22" fmla="*/ 61 w 202"/>
              <a:gd name="T23" fmla="*/ 179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02" h="179">
                <a:moveTo>
                  <a:pt x="61" y="179"/>
                </a:moveTo>
                <a:cubicBezTo>
                  <a:pt x="59" y="179"/>
                  <a:pt x="57" y="179"/>
                  <a:pt x="56" y="177"/>
                </a:cubicBezTo>
                <a:cubicBezTo>
                  <a:pt x="3" y="124"/>
                  <a:pt x="3" y="124"/>
                  <a:pt x="3" y="124"/>
                </a:cubicBezTo>
                <a:cubicBezTo>
                  <a:pt x="0" y="121"/>
                  <a:pt x="0" y="118"/>
                  <a:pt x="3" y="115"/>
                </a:cubicBezTo>
                <a:cubicBezTo>
                  <a:pt x="5" y="113"/>
                  <a:pt x="9" y="113"/>
                  <a:pt x="11" y="115"/>
                </a:cubicBezTo>
                <a:cubicBezTo>
                  <a:pt x="60" y="164"/>
                  <a:pt x="60" y="164"/>
                  <a:pt x="60" y="164"/>
                </a:cubicBezTo>
                <a:cubicBezTo>
                  <a:pt x="190" y="3"/>
                  <a:pt x="190" y="3"/>
                  <a:pt x="190" y="3"/>
                </a:cubicBezTo>
                <a:cubicBezTo>
                  <a:pt x="192" y="0"/>
                  <a:pt x="196" y="0"/>
                  <a:pt x="199" y="2"/>
                </a:cubicBezTo>
                <a:cubicBezTo>
                  <a:pt x="201" y="4"/>
                  <a:pt x="202" y="8"/>
                  <a:pt x="200" y="10"/>
                </a:cubicBezTo>
                <a:cubicBezTo>
                  <a:pt x="65" y="177"/>
                  <a:pt x="65" y="177"/>
                  <a:pt x="65" y="177"/>
                </a:cubicBezTo>
                <a:cubicBezTo>
                  <a:pt x="64" y="178"/>
                  <a:pt x="63" y="179"/>
                  <a:pt x="61" y="179"/>
                </a:cubicBezTo>
                <a:cubicBezTo>
                  <a:pt x="61" y="179"/>
                  <a:pt x="61" y="179"/>
                  <a:pt x="61" y="17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19" tIns="45709" rIns="91419" bIns="4570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81" name="Title 1">
            <a:extLst>
              <a:ext uri="{FF2B5EF4-FFF2-40B4-BE49-F238E27FC236}">
                <a16:creationId xmlns:a16="http://schemas.microsoft.com/office/drawing/2014/main" id="{47019D3E-CAEE-F0EB-6CEA-6C362D674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88" y="110315"/>
            <a:ext cx="11430000" cy="990600"/>
          </a:xfrm>
        </p:spPr>
        <p:txBody>
          <a:bodyPr/>
          <a:lstStyle/>
          <a:p>
            <a:r>
              <a:rPr lang="en-US" sz="4000" dirty="0">
                <a:solidFill>
                  <a:schemeClr val="accent2"/>
                </a:solidFill>
              </a:rPr>
              <a:t>Claim Journey with Gen AI</a:t>
            </a:r>
          </a:p>
        </p:txBody>
      </p:sp>
      <p:pic>
        <p:nvPicPr>
          <p:cNvPr id="184" name="Picture 183">
            <a:extLst>
              <a:ext uri="{FF2B5EF4-FFF2-40B4-BE49-F238E27FC236}">
                <a16:creationId xmlns:a16="http://schemas.microsoft.com/office/drawing/2014/main" id="{CE940962-0D7B-20D7-93FA-4A47E7E2BD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1064" y="6486479"/>
            <a:ext cx="3229426" cy="190527"/>
          </a:xfrm>
          <a:prstGeom prst="rect">
            <a:avLst/>
          </a:prstGeom>
        </p:spPr>
      </p:pic>
      <p:sp>
        <p:nvSpPr>
          <p:cNvPr id="185" name="Arrow: Left 184">
            <a:hlinkClick r:id="rId5" action="ppaction://hlinksldjump"/>
            <a:extLst>
              <a:ext uri="{FF2B5EF4-FFF2-40B4-BE49-F238E27FC236}">
                <a16:creationId xmlns:a16="http://schemas.microsoft.com/office/drawing/2014/main" id="{D7972E5B-8E0E-4003-CB0D-F150C0BED33A}"/>
              </a:ext>
            </a:extLst>
          </p:cNvPr>
          <p:cNvSpPr/>
          <p:nvPr/>
        </p:nvSpPr>
        <p:spPr>
          <a:xfrm>
            <a:off x="11494543" y="180994"/>
            <a:ext cx="475048" cy="319931"/>
          </a:xfrm>
          <a:prstGeom prst="lef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9877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0"/>
    </mc:Choice>
    <mc:Fallback xmlns="">
      <p:transition advClick="0" advTm="50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BC0C9-C18B-DBF5-37D5-E3DB077A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14">
            <a:extLst>
              <a:ext uri="{FF2B5EF4-FFF2-40B4-BE49-F238E27FC236}">
                <a16:creationId xmlns:a16="http://schemas.microsoft.com/office/drawing/2014/main" id="{FDB8EAC4-AF17-4F1A-4A6A-8D2652A28D62}"/>
              </a:ext>
            </a:extLst>
          </p:cNvPr>
          <p:cNvSpPr/>
          <p:nvPr/>
        </p:nvSpPr>
        <p:spPr>
          <a:xfrm>
            <a:off x="9820016" y="147606"/>
            <a:ext cx="2319956" cy="2015007"/>
          </a:xfrm>
          <a:prstGeom prst="rect">
            <a:avLst/>
          </a:prstGeom>
          <a:solidFill>
            <a:srgbClr val="FFFFFF"/>
          </a:solidFill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29E25CD-C7FF-9E8A-0C0D-E66AFB7894D8}"/>
              </a:ext>
            </a:extLst>
          </p:cNvPr>
          <p:cNvSpPr/>
          <p:nvPr/>
        </p:nvSpPr>
        <p:spPr>
          <a:xfrm>
            <a:off x="9362270" y="4661584"/>
            <a:ext cx="1471611" cy="1950497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4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54D2A1BC-5E43-3C8D-D184-1B8E8719FB09}"/>
              </a:ext>
            </a:extLst>
          </p:cNvPr>
          <p:cNvSpPr/>
          <p:nvPr/>
        </p:nvSpPr>
        <p:spPr>
          <a:xfrm>
            <a:off x="7817486" y="4665049"/>
            <a:ext cx="1471611" cy="1950498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4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E0B84C0-E14A-B6B4-B35B-715B2D291E51}"/>
              </a:ext>
            </a:extLst>
          </p:cNvPr>
          <p:cNvSpPr/>
          <p:nvPr/>
        </p:nvSpPr>
        <p:spPr>
          <a:xfrm>
            <a:off x="6147839" y="749373"/>
            <a:ext cx="1525423" cy="1009316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4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0D0DB0-8B0C-5B01-F85D-3EE3C9F79799}"/>
              </a:ext>
            </a:extLst>
          </p:cNvPr>
          <p:cNvSpPr/>
          <p:nvPr/>
        </p:nvSpPr>
        <p:spPr>
          <a:xfrm>
            <a:off x="3852982" y="623334"/>
            <a:ext cx="2071250" cy="1255973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4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0743C2-73DA-8ADD-E957-0AF50B6A29FF}"/>
              </a:ext>
            </a:extLst>
          </p:cNvPr>
          <p:cNvSpPr/>
          <p:nvPr/>
        </p:nvSpPr>
        <p:spPr>
          <a:xfrm>
            <a:off x="157086" y="2235260"/>
            <a:ext cx="7601326" cy="2106673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4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3B82F1-ED6D-99BA-758E-158297D19861}"/>
              </a:ext>
            </a:extLst>
          </p:cNvPr>
          <p:cNvSpPr/>
          <p:nvPr/>
        </p:nvSpPr>
        <p:spPr>
          <a:xfrm>
            <a:off x="232157" y="2162613"/>
            <a:ext cx="1315128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IDVS with GEN AI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509" name="Title 1">
            <a:extLst>
              <a:ext uri="{FF2B5EF4-FFF2-40B4-BE49-F238E27FC236}">
                <a16:creationId xmlns:a16="http://schemas.microsoft.com/office/drawing/2014/main" id="{B89AEE88-1977-0563-60EE-9A5D29044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9" y="-22914"/>
            <a:ext cx="9834524" cy="700887"/>
          </a:xfrm>
          <a:noFill/>
        </p:spPr>
        <p:txBody>
          <a:bodyPr anchor="ctr"/>
          <a:lstStyle/>
          <a:p>
            <a:pPr algn="l"/>
            <a:r>
              <a:rPr lang="en-US" sz="2600" b="1"/>
              <a:t>Claim Intake and Validation Process Flow - With </a:t>
            </a:r>
            <a:r>
              <a:rPr lang="en-US" sz="2600" b="1">
                <a:solidFill>
                  <a:schemeClr val="accent2"/>
                </a:solidFill>
              </a:rPr>
              <a:t>Gen </a:t>
            </a:r>
            <a:r>
              <a:rPr lang="en-US" sz="2600">
                <a:solidFill>
                  <a:schemeClr val="accent2"/>
                </a:solidFill>
              </a:rPr>
              <a:t>AI</a:t>
            </a:r>
            <a:endParaRPr lang="en-US" sz="2600" b="1">
              <a:solidFill>
                <a:schemeClr val="accent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A5A28A-9A79-0DCE-B4D1-95AD14AF6BD9}"/>
              </a:ext>
            </a:extLst>
          </p:cNvPr>
          <p:cNvSpPr txBox="1"/>
          <p:nvPr/>
        </p:nvSpPr>
        <p:spPr>
          <a:xfrm>
            <a:off x="208753" y="1270427"/>
            <a:ext cx="938974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  <a:prstDash val="solid"/>
          </a:ln>
        </p:spPr>
        <p:txBody>
          <a:bodyPr wrap="square" lIns="4572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Calibri" panose="020F0502020204030204" pitchFamily="34" charset="0"/>
                <a:cs typeface="Calibri" panose="020F0502020204030204" pitchFamily="34" charset="0"/>
              </a:rPr>
              <a:t>Claimant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Calibri" panose="020F0502020204030204" pitchFamily="34" charset="0"/>
                <a:cs typeface="Calibri" panose="020F0502020204030204" pitchFamily="34" charset="0"/>
              </a:rPr>
              <a:t>submits claim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Graphic 7" descr="User outline">
            <a:extLst>
              <a:ext uri="{FF2B5EF4-FFF2-40B4-BE49-F238E27FC236}">
                <a16:creationId xmlns:a16="http://schemas.microsoft.com/office/drawing/2014/main" id="{E015234C-BF57-79E7-D59F-5F41B6095C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252" y="965747"/>
            <a:ext cx="266734" cy="2667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63E1192-913A-6CE0-4AC7-F05233CBF25E}"/>
              </a:ext>
            </a:extLst>
          </p:cNvPr>
          <p:cNvSpPr txBox="1"/>
          <p:nvPr/>
        </p:nvSpPr>
        <p:spPr>
          <a:xfrm>
            <a:off x="1979264" y="1661193"/>
            <a:ext cx="65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+mn-cs"/>
            </a:endParaRPr>
          </a:p>
        </p:txBody>
      </p: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374FA7D8-AB36-4DE3-DA58-F572FE08E44C}"/>
              </a:ext>
            </a:extLst>
          </p:cNvPr>
          <p:cNvGrpSpPr/>
          <p:nvPr/>
        </p:nvGrpSpPr>
        <p:grpSpPr>
          <a:xfrm>
            <a:off x="10008569" y="362225"/>
            <a:ext cx="904833" cy="457200"/>
            <a:chOff x="8083586" y="597121"/>
            <a:chExt cx="1054181" cy="512409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CBD4483A-924B-E75E-7E5E-340D14CAE75B}"/>
                </a:ext>
              </a:extLst>
            </p:cNvPr>
            <p:cNvSpPr/>
            <p:nvPr/>
          </p:nvSpPr>
          <p:spPr>
            <a:xfrm>
              <a:off x="8083586" y="597121"/>
              <a:ext cx="1054181" cy="51240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txBody>
            <a:bodyPr lIns="0" tIns="91440" bIns="9144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25" name="Graphic 24" descr="Male profile with solid fill">
              <a:extLst>
                <a:ext uri="{FF2B5EF4-FFF2-40B4-BE49-F238E27FC236}">
                  <a16:creationId xmlns:a16="http://schemas.microsoft.com/office/drawing/2014/main" id="{32172AA8-F350-F08D-BAE1-D3F14A207AA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089232" y="726808"/>
              <a:ext cx="264644" cy="274320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B4B7A31-6FB0-EA53-0563-8EFBECA031DD}"/>
                </a:ext>
              </a:extLst>
            </p:cNvPr>
            <p:cNvSpPr/>
            <p:nvPr/>
          </p:nvSpPr>
          <p:spPr>
            <a:xfrm>
              <a:off x="8361798" y="728976"/>
              <a:ext cx="703514" cy="241460"/>
            </a:xfrm>
            <a:prstGeom prst="rect">
              <a:avLst/>
            </a:prstGeom>
          </p:spPr>
          <p:txBody>
            <a:bodyPr wrap="square" lIns="45720" rIns="4572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 w="0"/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Calibri" panose="020F0502020204030204" pitchFamily="34" charset="0"/>
                  <a:cs typeface="Calibri" panose="020F0502020204030204" pitchFamily="34" charset="0"/>
                </a:rPr>
                <a:t>Manual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B584AF6D-8340-B2FF-04F1-A7F917904462}"/>
              </a:ext>
            </a:extLst>
          </p:cNvPr>
          <p:cNvSpPr/>
          <p:nvPr/>
        </p:nvSpPr>
        <p:spPr>
          <a:xfrm>
            <a:off x="2226499" y="1133865"/>
            <a:ext cx="1307593" cy="51934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  <a:prstDash val="solid"/>
          </a:ln>
          <a:effectLst/>
        </p:spPr>
        <p:txBody>
          <a:bodyPr lIns="45720" tIns="45720" rIns="45720" bIns="45720" rtlCol="0" anchor="ctr" anchorCtr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Create Claims in P360 with submitted claim documents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34D334F0-8E60-4A91-4C2F-E255E97E3FA1}"/>
              </a:ext>
            </a:extLst>
          </p:cNvPr>
          <p:cNvCxnSpPr>
            <a:cxnSpLocks/>
            <a:stCxn id="6" idx="3"/>
            <a:endCxn id="40" idx="1"/>
          </p:cNvCxnSpPr>
          <p:nvPr/>
        </p:nvCxnSpPr>
        <p:spPr>
          <a:xfrm flipV="1">
            <a:off x="1147727" y="1393537"/>
            <a:ext cx="1078772" cy="1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81F69505-AD74-B438-3400-A344D59A2B2C}"/>
              </a:ext>
            </a:extLst>
          </p:cNvPr>
          <p:cNvSpPr txBox="1"/>
          <p:nvPr/>
        </p:nvSpPr>
        <p:spPr>
          <a:xfrm>
            <a:off x="1359877" y="1107983"/>
            <a:ext cx="650469" cy="36933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Calibri" panose="020F0502020204030204" pitchFamily="34" charset="0"/>
                <a:cs typeface="Calibri" panose="020F0502020204030204" pitchFamily="34" charset="0"/>
              </a:rPr>
              <a:t>Web/Email/Paper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Calibri" panose="020F0502020204030204" pitchFamily="34" charset="0"/>
                <a:cs typeface="Calibri" panose="020F0502020204030204" pitchFamily="34" charset="0"/>
              </a:rPr>
              <a:t>submission</a:t>
            </a:r>
          </a:p>
        </p:txBody>
      </p:sp>
      <p:sp>
        <p:nvSpPr>
          <p:cNvPr id="468" name="Rectangle: Rounded Corners 467">
            <a:extLst>
              <a:ext uri="{FF2B5EF4-FFF2-40B4-BE49-F238E27FC236}">
                <a16:creationId xmlns:a16="http://schemas.microsoft.com/office/drawing/2014/main" id="{EEB4DCD6-6921-16E5-2F7F-426959D261D6}"/>
              </a:ext>
            </a:extLst>
          </p:cNvPr>
          <p:cNvSpPr/>
          <p:nvPr/>
        </p:nvSpPr>
        <p:spPr>
          <a:xfrm>
            <a:off x="262349" y="2613486"/>
            <a:ext cx="1188720" cy="80808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rgbClr val="B455AA"/>
            </a:solidFill>
            <a:prstDash val="lgDashDot"/>
          </a:ln>
          <a:effectLst/>
        </p:spPr>
        <p:txBody>
          <a:bodyPr lIns="45720" tIns="45720" rIns="45720" bIns="4572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Identify Document Types &amp; check submission completeness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2" name="Rectangle: Rounded Corners 481">
            <a:extLst>
              <a:ext uri="{FF2B5EF4-FFF2-40B4-BE49-F238E27FC236}">
                <a16:creationId xmlns:a16="http://schemas.microsoft.com/office/drawing/2014/main" id="{DEC351CB-0BF1-EA9A-FA44-59C8AFE5D8B5}"/>
              </a:ext>
            </a:extLst>
          </p:cNvPr>
          <p:cNvSpPr/>
          <p:nvPr/>
        </p:nvSpPr>
        <p:spPr>
          <a:xfrm>
            <a:off x="6566886" y="3574326"/>
            <a:ext cx="1147982" cy="603504"/>
          </a:xfrm>
          <a:prstGeom prst="roundRect">
            <a:avLst/>
          </a:prstGeom>
          <a:solidFill>
            <a:schemeClr val="bg1"/>
          </a:solidFill>
          <a:ln w="3175">
            <a:solidFill>
              <a:srgbClr val="B455AA"/>
            </a:solidFill>
            <a:prstDash val="lgDashDot"/>
          </a:ln>
          <a:effectLst/>
        </p:spPr>
        <p:txBody>
          <a:bodyPr lIns="45720" tIns="45720" rIns="45720" bIns="45720" rtlCol="0" anchor="ctr" anchorCtr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User reviews, modifies (if necessary), and approves the outcome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1" name="Graphic 70" descr="Male profile with solid fill">
            <a:extLst>
              <a:ext uri="{FF2B5EF4-FFF2-40B4-BE49-F238E27FC236}">
                <a16:creationId xmlns:a16="http://schemas.microsoft.com/office/drawing/2014/main" id="{7060C007-504F-EBBD-880D-A7191902F9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74066" y="3855111"/>
            <a:ext cx="264644" cy="274320"/>
          </a:xfrm>
          <a:prstGeom prst="rect">
            <a:avLst/>
          </a:prstGeom>
        </p:spPr>
      </p:pic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61DE368B-2DF6-2A8E-32AD-1694E3F4B65A}"/>
              </a:ext>
            </a:extLst>
          </p:cNvPr>
          <p:cNvSpPr/>
          <p:nvPr/>
        </p:nvSpPr>
        <p:spPr>
          <a:xfrm>
            <a:off x="3970526" y="1004166"/>
            <a:ext cx="1866167" cy="78388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rgbClr val="B455AA"/>
            </a:solidFill>
            <a:prstDash val="lgDashDot"/>
          </a:ln>
          <a:effectLst/>
        </p:spPr>
        <p:txBody>
          <a:bodyPr lIns="45720" tIns="45720" rIns="45720" bIns="4572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Pull Claims volume, details, documents, and existing claims from P360; Member enrollment, policy data from Compass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28EE763F-05AC-FA91-620E-54547D186F83}"/>
              </a:ext>
            </a:extLst>
          </p:cNvPr>
          <p:cNvCxnSpPr>
            <a:cxnSpLocks/>
            <a:stCxn id="75" idx="3"/>
            <a:endCxn id="30" idx="1"/>
          </p:cNvCxnSpPr>
          <p:nvPr/>
        </p:nvCxnSpPr>
        <p:spPr>
          <a:xfrm>
            <a:off x="5836693" y="1396109"/>
            <a:ext cx="416475" cy="4441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7" name="Flowchart: Decision 106">
            <a:extLst>
              <a:ext uri="{FF2B5EF4-FFF2-40B4-BE49-F238E27FC236}">
                <a16:creationId xmlns:a16="http://schemas.microsoft.com/office/drawing/2014/main" id="{C1ECB3BB-4C96-5ECD-551B-80C15F0F9A4D}"/>
              </a:ext>
            </a:extLst>
          </p:cNvPr>
          <p:cNvSpPr/>
          <p:nvPr/>
        </p:nvSpPr>
        <p:spPr>
          <a:xfrm>
            <a:off x="6618581" y="4921325"/>
            <a:ext cx="1049731" cy="528993"/>
          </a:xfrm>
          <a:prstGeom prst="flowChartDecision">
            <a:avLst/>
          </a:prstGeom>
          <a:noFill/>
          <a:ln w="3175">
            <a:solidFill>
              <a:srgbClr val="B455AA"/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5720" tIns="45720" rIns="45720" bIns="4572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Calibri" panose="020F0502020204030204" pitchFamily="34" charset="0"/>
                <a:cs typeface="Calibri" panose="020F0502020204030204" pitchFamily="34" charset="0"/>
              </a:rPr>
              <a:t>User confirms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Calibri" panose="020F0502020204030204" pitchFamily="34" charset="0"/>
                <a:cs typeface="Calibri" panose="020F0502020204030204" pitchFamily="34" charset="0"/>
              </a:rPr>
              <a:t> IGO/NIGO</a:t>
            </a:r>
          </a:p>
        </p:txBody>
      </p:sp>
      <p:sp>
        <p:nvSpPr>
          <p:cNvPr id="525" name="Rectangle: Rounded Corners 524">
            <a:extLst>
              <a:ext uri="{FF2B5EF4-FFF2-40B4-BE49-F238E27FC236}">
                <a16:creationId xmlns:a16="http://schemas.microsoft.com/office/drawing/2014/main" id="{031DA5AD-EEC3-A331-40DA-B2F443A06F03}"/>
              </a:ext>
            </a:extLst>
          </p:cNvPr>
          <p:cNvSpPr/>
          <p:nvPr/>
        </p:nvSpPr>
        <p:spPr>
          <a:xfrm>
            <a:off x="10995565" y="5962800"/>
            <a:ext cx="1147019" cy="519344"/>
          </a:xfrm>
          <a:prstGeom prst="roundRect">
            <a:avLst>
              <a:gd name="adj" fmla="val 28545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  <a:prstDash val="solid"/>
          </a:ln>
          <a:effectLst/>
        </p:spPr>
        <p:txBody>
          <a:bodyPr lIns="45720" tIns="45720" rIns="45720" bIns="45720" rtlCol="0" anchor="ctr" anchorCtr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Calibri" panose="020F0502020204030204" pitchFamily="34" charset="0"/>
                <a:cs typeface="Calibri" panose="020F0502020204030204" pitchFamily="34" charset="0"/>
              </a:rPr>
              <a:t>Adjudicator 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Calibri" panose="020F0502020204030204" pitchFamily="34" charset="0"/>
                <a:cs typeface="Calibri" panose="020F0502020204030204" pitchFamily="34" charset="0"/>
              </a:rPr>
              <a:t>sends the NIGO Communication from P360</a:t>
            </a:r>
          </a:p>
        </p:txBody>
      </p:sp>
      <p:sp>
        <p:nvSpPr>
          <p:cNvPr id="534" name="Rectangle: Rounded Corners 533">
            <a:extLst>
              <a:ext uri="{FF2B5EF4-FFF2-40B4-BE49-F238E27FC236}">
                <a16:creationId xmlns:a16="http://schemas.microsoft.com/office/drawing/2014/main" id="{1C1EC4A7-1EFD-B581-7813-A9A009FEAAFF}"/>
              </a:ext>
            </a:extLst>
          </p:cNvPr>
          <p:cNvSpPr/>
          <p:nvPr/>
        </p:nvSpPr>
        <p:spPr>
          <a:xfrm>
            <a:off x="9514971" y="4948571"/>
            <a:ext cx="1140560" cy="47450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rgbClr val="B455AA"/>
            </a:solidFill>
            <a:prstDash val="lgDashDot"/>
          </a:ln>
          <a:effectLst/>
        </p:spPr>
        <p:txBody>
          <a:bodyPr lIns="45720" tIns="45720" rIns="45720" bIns="4572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Calibri" panose="020F0502020204030204" pitchFamily="34" charset="0"/>
                <a:cs typeface="Calibri" panose="020F0502020204030204" pitchFamily="34" charset="0"/>
              </a:rPr>
              <a:t>Update Claims in P360 with approved information</a:t>
            </a:r>
          </a:p>
        </p:txBody>
      </p:sp>
      <p:cxnSp>
        <p:nvCxnSpPr>
          <p:cNvPr id="537" name="Connector: Elbow 536">
            <a:extLst>
              <a:ext uri="{FF2B5EF4-FFF2-40B4-BE49-F238E27FC236}">
                <a16:creationId xmlns:a16="http://schemas.microsoft.com/office/drawing/2014/main" id="{F39EA2B2-D963-B66D-F85D-61D5982C6FEE}"/>
              </a:ext>
            </a:extLst>
          </p:cNvPr>
          <p:cNvCxnSpPr>
            <a:cxnSpLocks/>
            <a:stCxn id="454" idx="3"/>
            <a:endCxn id="534" idx="1"/>
          </p:cNvCxnSpPr>
          <p:nvPr/>
        </p:nvCxnSpPr>
        <p:spPr>
          <a:xfrm>
            <a:off x="9200206" y="5185821"/>
            <a:ext cx="314765" cy="1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56" name="Rectangle: Rounded Corners 555">
            <a:extLst>
              <a:ext uri="{FF2B5EF4-FFF2-40B4-BE49-F238E27FC236}">
                <a16:creationId xmlns:a16="http://schemas.microsoft.com/office/drawing/2014/main" id="{B23E0A26-CCCB-5B6C-AE6C-47CA28146795}"/>
              </a:ext>
            </a:extLst>
          </p:cNvPr>
          <p:cNvSpPr/>
          <p:nvPr/>
        </p:nvSpPr>
        <p:spPr>
          <a:xfrm>
            <a:off x="4679270" y="2471393"/>
            <a:ext cx="1305513" cy="628406"/>
          </a:xfrm>
          <a:prstGeom prst="roundRect">
            <a:avLst/>
          </a:prstGeom>
          <a:solidFill>
            <a:srgbClr val="F0DDEE"/>
          </a:solidFill>
          <a:ln w="3175">
            <a:solidFill>
              <a:srgbClr val="B455AA"/>
            </a:solidFill>
            <a:prstDash val="lgDashDot"/>
          </a:ln>
          <a:effectLst/>
        </p:spPr>
        <p:txBody>
          <a:bodyPr lIns="45720" tIns="45720" rIns="45720" bIns="4572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Calibri" panose="020F0502020204030204" pitchFamily="34" charset="0"/>
                <a:cs typeface="Calibri" panose="020F0502020204030204" pitchFamily="34" charset="0"/>
              </a:rPr>
              <a:t>Refer repository (database ) of Group’s Policy Certificates</a:t>
            </a:r>
          </a:p>
        </p:txBody>
      </p:sp>
      <p:sp>
        <p:nvSpPr>
          <p:cNvPr id="203" name="Rectangle: Rounded Corners 202">
            <a:extLst>
              <a:ext uri="{FF2B5EF4-FFF2-40B4-BE49-F238E27FC236}">
                <a16:creationId xmlns:a16="http://schemas.microsoft.com/office/drawing/2014/main" id="{849311C0-BFEA-E59F-85C8-5CABBE4BD8D2}"/>
              </a:ext>
            </a:extLst>
          </p:cNvPr>
          <p:cNvSpPr/>
          <p:nvPr/>
        </p:nvSpPr>
        <p:spPr>
          <a:xfrm>
            <a:off x="11005817" y="4903116"/>
            <a:ext cx="1136767" cy="56541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  <a:prstDash val="solid"/>
          </a:ln>
          <a:effectLst/>
        </p:spPr>
        <p:txBody>
          <a:bodyPr lIns="45720" tIns="45720" rIns="45720" bIns="45720" rtlCol="0" anchor="ctr" anchorCtr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Calibri" panose="020F0502020204030204" pitchFamily="34" charset="0"/>
                <a:cs typeface="Calibri" panose="020F0502020204030204" pitchFamily="34" charset="0"/>
              </a:rPr>
              <a:t>Claim Adjudicator‘s Review &amp;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Calibri" panose="020F0502020204030204" pitchFamily="34" charset="0"/>
                <a:cs typeface="Calibri" panose="020F0502020204030204" pitchFamily="34" charset="0"/>
              </a:rPr>
              <a:t> Decision</a:t>
            </a:r>
          </a:p>
        </p:txBody>
      </p:sp>
      <p:cxnSp>
        <p:nvCxnSpPr>
          <p:cNvPr id="267" name="Connector: Elbow 266">
            <a:extLst>
              <a:ext uri="{FF2B5EF4-FFF2-40B4-BE49-F238E27FC236}">
                <a16:creationId xmlns:a16="http://schemas.microsoft.com/office/drawing/2014/main" id="{0E529AE8-40F8-35A1-FB97-C9E84DFAE9D7}"/>
              </a:ext>
            </a:extLst>
          </p:cNvPr>
          <p:cNvCxnSpPr>
            <a:cxnSpLocks/>
            <a:stCxn id="40" idx="3"/>
            <a:endCxn id="75" idx="1"/>
          </p:cNvCxnSpPr>
          <p:nvPr/>
        </p:nvCxnSpPr>
        <p:spPr>
          <a:xfrm>
            <a:off x="3534092" y="1393537"/>
            <a:ext cx="436434" cy="2572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prstDash val="soli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75" name="Graphic 274" descr="Male profile with solid fill">
            <a:extLst>
              <a:ext uri="{FF2B5EF4-FFF2-40B4-BE49-F238E27FC236}">
                <a16:creationId xmlns:a16="http://schemas.microsoft.com/office/drawing/2014/main" id="{532EF9D0-D324-CF84-5C6A-5DEB580C3D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17572" y="6166438"/>
            <a:ext cx="264644" cy="274320"/>
          </a:xfrm>
          <a:prstGeom prst="rect">
            <a:avLst/>
          </a:prstGeom>
        </p:spPr>
      </p:pic>
      <p:sp>
        <p:nvSpPr>
          <p:cNvPr id="485" name="Rectangle: Rounded Corners 484">
            <a:extLst>
              <a:ext uri="{FF2B5EF4-FFF2-40B4-BE49-F238E27FC236}">
                <a16:creationId xmlns:a16="http://schemas.microsoft.com/office/drawing/2014/main" id="{7DD943CC-C577-BDED-9DC4-1EAF1E9B8A2F}"/>
              </a:ext>
            </a:extLst>
          </p:cNvPr>
          <p:cNvSpPr/>
          <p:nvPr/>
        </p:nvSpPr>
        <p:spPr>
          <a:xfrm>
            <a:off x="2433086" y="2592244"/>
            <a:ext cx="1188720" cy="64008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rgbClr val="B455AA"/>
            </a:solidFill>
            <a:prstDash val="lgDashDot"/>
          </a:ln>
          <a:effectLst/>
        </p:spPr>
        <p:txBody>
          <a:bodyPr lIns="45720" tIns="45720" rIns="45720" bIns="4572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Capture Benefit Type (CI / ATB / HIP) &amp; assess data readiness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5527F2C6-BDE5-6ED8-3CB1-0AD102A05EC9}"/>
              </a:ext>
            </a:extLst>
          </p:cNvPr>
          <p:cNvCxnSpPr>
            <a:cxnSpLocks/>
            <a:stCxn id="482" idx="2"/>
            <a:endCxn id="107" idx="0"/>
          </p:cNvCxnSpPr>
          <p:nvPr/>
        </p:nvCxnSpPr>
        <p:spPr>
          <a:xfrm rot="16200000" flipH="1">
            <a:off x="6770415" y="4548292"/>
            <a:ext cx="743495" cy="2570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A0F6844-24CA-931E-4732-112E9404894D}"/>
              </a:ext>
            </a:extLst>
          </p:cNvPr>
          <p:cNvSpPr/>
          <p:nvPr/>
        </p:nvSpPr>
        <p:spPr>
          <a:xfrm>
            <a:off x="6253168" y="1119034"/>
            <a:ext cx="1307591" cy="56303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rgbClr val="B455AA"/>
            </a:solidFill>
            <a:prstDash val="lgDashDot"/>
          </a:ln>
          <a:effectLst/>
        </p:spPr>
        <p:txBody>
          <a:bodyPr lIns="45720" tIns="45720" rIns="45720" bIns="4572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Create/Update Claims ticket in QuickBase with transaction data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1C4824AA-FF25-2ED1-BCFA-50515D9804F7}"/>
              </a:ext>
            </a:extLst>
          </p:cNvPr>
          <p:cNvCxnSpPr>
            <a:cxnSpLocks/>
            <a:stCxn id="30" idx="2"/>
            <a:endCxn id="468" idx="0"/>
          </p:cNvCxnSpPr>
          <p:nvPr/>
        </p:nvCxnSpPr>
        <p:spPr>
          <a:xfrm rot="5400000">
            <a:off x="3416127" y="-877352"/>
            <a:ext cx="931421" cy="6050255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93" name="Rectangle: Rounded Corners 492">
            <a:extLst>
              <a:ext uri="{FF2B5EF4-FFF2-40B4-BE49-F238E27FC236}">
                <a16:creationId xmlns:a16="http://schemas.microsoft.com/office/drawing/2014/main" id="{2B3FAF38-1A96-CA1E-1B45-AD20B885FF69}"/>
              </a:ext>
            </a:extLst>
          </p:cNvPr>
          <p:cNvSpPr/>
          <p:nvPr/>
        </p:nvSpPr>
        <p:spPr>
          <a:xfrm>
            <a:off x="7903406" y="2557825"/>
            <a:ext cx="1280523" cy="592034"/>
          </a:xfrm>
          <a:prstGeom prst="roundRect">
            <a:avLst/>
          </a:prstGeom>
          <a:solidFill>
            <a:schemeClr val="bg1"/>
          </a:solidFill>
          <a:ln w="3175">
            <a:solidFill>
              <a:srgbClr val="B455AA"/>
            </a:solidFill>
            <a:prstDash val="lgDashDot"/>
          </a:ln>
          <a:effectLst/>
        </p:spPr>
        <p:txBody>
          <a:bodyPr lIns="45720" tIns="45720" rIns="45720" bIns="45720" rtlCol="0" anchor="ctr" anchorCtr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Submit policy revisions or new onboarding information (structured data) </a:t>
            </a:r>
          </a:p>
        </p:txBody>
      </p:sp>
      <p:sp>
        <p:nvSpPr>
          <p:cNvPr id="505" name="Rectangle: Rounded Corners 504">
            <a:extLst>
              <a:ext uri="{FF2B5EF4-FFF2-40B4-BE49-F238E27FC236}">
                <a16:creationId xmlns:a16="http://schemas.microsoft.com/office/drawing/2014/main" id="{544451E1-10FA-322D-AAA0-FB0DC01DD2F9}"/>
              </a:ext>
            </a:extLst>
          </p:cNvPr>
          <p:cNvSpPr/>
          <p:nvPr/>
        </p:nvSpPr>
        <p:spPr>
          <a:xfrm>
            <a:off x="8011487" y="5940957"/>
            <a:ext cx="1188719" cy="56303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rgbClr val="B455AA"/>
            </a:solidFill>
            <a:prstDash val="lgDashDot"/>
          </a:ln>
          <a:effectLst/>
        </p:spPr>
        <p:txBody>
          <a:bodyPr lIns="45720" tIns="45720" rIns="45720" bIns="4572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Calibri" panose="020F0502020204030204" pitchFamily="34" charset="0"/>
                <a:cs typeface="Calibri" panose="020F0502020204030204" pitchFamily="34" charset="0"/>
              </a:rPr>
              <a:t>Update claims ticket for awaiting additional information, in QB</a:t>
            </a:r>
          </a:p>
        </p:txBody>
      </p:sp>
      <p:pic>
        <p:nvPicPr>
          <p:cNvPr id="113" name="Graphic 112" descr="Male profile with solid fill">
            <a:extLst>
              <a:ext uri="{FF2B5EF4-FFF2-40B4-BE49-F238E27FC236}">
                <a16:creationId xmlns:a16="http://schemas.microsoft.com/office/drawing/2014/main" id="{C922185F-17A4-9134-B954-BC64963B36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09942" y="5199655"/>
            <a:ext cx="264644" cy="27432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BF852FD-DD57-012D-6D29-529FF15FB630}"/>
              </a:ext>
            </a:extLst>
          </p:cNvPr>
          <p:cNvSpPr/>
          <p:nvPr/>
        </p:nvSpPr>
        <p:spPr>
          <a:xfrm>
            <a:off x="9967883" y="35351"/>
            <a:ext cx="667539" cy="253916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t>LEGEND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3312ACF1-40F5-3EDB-0A26-B2673E0BE52D}"/>
              </a:ext>
            </a:extLst>
          </p:cNvPr>
          <p:cNvCxnSpPr>
            <a:cxnSpLocks/>
            <a:stCxn id="107" idx="2"/>
            <a:endCxn id="505" idx="1"/>
          </p:cNvCxnSpPr>
          <p:nvPr/>
        </p:nvCxnSpPr>
        <p:spPr>
          <a:xfrm rot="16200000" flipH="1">
            <a:off x="7191390" y="5402375"/>
            <a:ext cx="772154" cy="868040"/>
          </a:xfrm>
          <a:prstGeom prst="bentConnector2">
            <a:avLst/>
          </a:prstGeom>
          <a:ln w="317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: Elbow 447">
            <a:extLst>
              <a:ext uri="{FF2B5EF4-FFF2-40B4-BE49-F238E27FC236}">
                <a16:creationId xmlns:a16="http://schemas.microsoft.com/office/drawing/2014/main" id="{6D799C69-0CAC-D7F5-F7C8-E6FA10DC67D9}"/>
              </a:ext>
            </a:extLst>
          </p:cNvPr>
          <p:cNvCxnSpPr>
            <a:cxnSpLocks/>
            <a:stCxn id="468" idx="3"/>
            <a:endCxn id="485" idx="1"/>
          </p:cNvCxnSpPr>
          <p:nvPr/>
        </p:nvCxnSpPr>
        <p:spPr>
          <a:xfrm flipV="1">
            <a:off x="1451069" y="2912284"/>
            <a:ext cx="982017" cy="105247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54" name="Rectangle: Rounded Corners 453">
            <a:extLst>
              <a:ext uri="{FF2B5EF4-FFF2-40B4-BE49-F238E27FC236}">
                <a16:creationId xmlns:a16="http://schemas.microsoft.com/office/drawing/2014/main" id="{3A176FB4-3036-FDD9-2B93-ABA0451DC763}"/>
              </a:ext>
            </a:extLst>
          </p:cNvPr>
          <p:cNvSpPr/>
          <p:nvPr/>
        </p:nvSpPr>
        <p:spPr>
          <a:xfrm>
            <a:off x="8251461" y="4959110"/>
            <a:ext cx="948745" cy="45342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rgbClr val="B455AA"/>
            </a:solidFill>
            <a:prstDash val="lgDashDot"/>
          </a:ln>
          <a:effectLst/>
        </p:spPr>
        <p:txBody>
          <a:bodyPr lIns="45720" tIns="45720" rIns="45720" bIns="4572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Calibri" panose="020F0502020204030204" pitchFamily="34" charset="0"/>
                <a:cs typeface="Calibri" panose="020F0502020204030204" pitchFamily="34" charset="0"/>
              </a:rPr>
              <a:t>Close the claim ticket in QB</a:t>
            </a:r>
          </a:p>
        </p:txBody>
      </p:sp>
      <p:cxnSp>
        <p:nvCxnSpPr>
          <p:cNvPr id="456" name="Connector: Elbow 455">
            <a:extLst>
              <a:ext uri="{FF2B5EF4-FFF2-40B4-BE49-F238E27FC236}">
                <a16:creationId xmlns:a16="http://schemas.microsoft.com/office/drawing/2014/main" id="{A8761AFB-7E3B-5B94-153A-20AFC5ABCD03}"/>
              </a:ext>
            </a:extLst>
          </p:cNvPr>
          <p:cNvCxnSpPr>
            <a:cxnSpLocks/>
            <a:stCxn id="107" idx="3"/>
            <a:endCxn id="454" idx="1"/>
          </p:cNvCxnSpPr>
          <p:nvPr/>
        </p:nvCxnSpPr>
        <p:spPr>
          <a:xfrm flipV="1">
            <a:off x="7668312" y="5185821"/>
            <a:ext cx="583149" cy="1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94" name="TextBox 493">
            <a:extLst>
              <a:ext uri="{FF2B5EF4-FFF2-40B4-BE49-F238E27FC236}">
                <a16:creationId xmlns:a16="http://schemas.microsoft.com/office/drawing/2014/main" id="{24C60329-A307-A736-3880-72C4A31D7F28}"/>
              </a:ext>
            </a:extLst>
          </p:cNvPr>
          <p:cNvSpPr txBox="1"/>
          <p:nvPr/>
        </p:nvSpPr>
        <p:spPr>
          <a:xfrm>
            <a:off x="7823551" y="5122418"/>
            <a:ext cx="250784" cy="1384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IGO</a:t>
            </a:r>
          </a:p>
        </p:txBody>
      </p:sp>
      <p:sp>
        <p:nvSpPr>
          <p:cNvPr id="496" name="TextBox 495">
            <a:extLst>
              <a:ext uri="{FF2B5EF4-FFF2-40B4-BE49-F238E27FC236}">
                <a16:creationId xmlns:a16="http://schemas.microsoft.com/office/drawing/2014/main" id="{52D992DF-469A-77A7-FD5D-8EC191710CBC}"/>
              </a:ext>
            </a:extLst>
          </p:cNvPr>
          <p:cNvSpPr txBox="1"/>
          <p:nvPr/>
        </p:nvSpPr>
        <p:spPr>
          <a:xfrm>
            <a:off x="7273263" y="6156494"/>
            <a:ext cx="367172" cy="1384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NIGO</a:t>
            </a:r>
          </a:p>
        </p:txBody>
      </p: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CB69E97B-E479-11B9-7143-D956756A3790}"/>
              </a:ext>
            </a:extLst>
          </p:cNvPr>
          <p:cNvCxnSpPr>
            <a:cxnSpLocks/>
            <a:stCxn id="534" idx="3"/>
            <a:endCxn id="203" idx="1"/>
          </p:cNvCxnSpPr>
          <p:nvPr/>
        </p:nvCxnSpPr>
        <p:spPr>
          <a:xfrm flipV="1">
            <a:off x="10655531" y="5185821"/>
            <a:ext cx="350286" cy="1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53" name="Rectangle: Rounded Corners 452">
            <a:extLst>
              <a:ext uri="{FF2B5EF4-FFF2-40B4-BE49-F238E27FC236}">
                <a16:creationId xmlns:a16="http://schemas.microsoft.com/office/drawing/2014/main" id="{3DF16621-E9EB-3338-C171-AC36CDCBCFBC}"/>
              </a:ext>
            </a:extLst>
          </p:cNvPr>
          <p:cNvSpPr/>
          <p:nvPr/>
        </p:nvSpPr>
        <p:spPr>
          <a:xfrm>
            <a:off x="4597583" y="718527"/>
            <a:ext cx="612053" cy="242903"/>
          </a:xfrm>
          <a:prstGeom prst="round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P360, Compass</a:t>
            </a:r>
          </a:p>
        </p:txBody>
      </p:sp>
      <p:sp>
        <p:nvSpPr>
          <p:cNvPr id="457" name="Rectangle: Rounded Corners 456">
            <a:extLst>
              <a:ext uri="{FF2B5EF4-FFF2-40B4-BE49-F238E27FC236}">
                <a16:creationId xmlns:a16="http://schemas.microsoft.com/office/drawing/2014/main" id="{8B0634A8-AB20-3506-E310-A0D05997F85F}"/>
              </a:ext>
            </a:extLst>
          </p:cNvPr>
          <p:cNvSpPr/>
          <p:nvPr/>
        </p:nvSpPr>
        <p:spPr>
          <a:xfrm>
            <a:off x="2741161" y="884796"/>
            <a:ext cx="378979" cy="201176"/>
          </a:xfrm>
          <a:prstGeom prst="round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P360</a:t>
            </a:r>
          </a:p>
        </p:txBody>
      </p:sp>
      <p:sp>
        <p:nvSpPr>
          <p:cNvPr id="458" name="Rectangle: Rounded Corners 457">
            <a:extLst>
              <a:ext uri="{FF2B5EF4-FFF2-40B4-BE49-F238E27FC236}">
                <a16:creationId xmlns:a16="http://schemas.microsoft.com/office/drawing/2014/main" id="{FAA080E6-C18C-67E2-A026-9E5F435A9D1D}"/>
              </a:ext>
            </a:extLst>
          </p:cNvPr>
          <p:cNvSpPr/>
          <p:nvPr/>
        </p:nvSpPr>
        <p:spPr>
          <a:xfrm>
            <a:off x="11346403" y="5717839"/>
            <a:ext cx="378979" cy="201176"/>
          </a:xfrm>
          <a:prstGeom prst="round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P360</a:t>
            </a:r>
          </a:p>
        </p:txBody>
      </p:sp>
      <p:sp>
        <p:nvSpPr>
          <p:cNvPr id="459" name="Rectangle: Rounded Corners 458">
            <a:extLst>
              <a:ext uri="{FF2B5EF4-FFF2-40B4-BE49-F238E27FC236}">
                <a16:creationId xmlns:a16="http://schemas.microsoft.com/office/drawing/2014/main" id="{AC88BF1A-054D-91F6-36D9-C84C4D433422}"/>
              </a:ext>
            </a:extLst>
          </p:cNvPr>
          <p:cNvSpPr/>
          <p:nvPr/>
        </p:nvSpPr>
        <p:spPr>
          <a:xfrm>
            <a:off x="11346403" y="4665048"/>
            <a:ext cx="378979" cy="201176"/>
          </a:xfrm>
          <a:prstGeom prst="round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P360</a:t>
            </a:r>
          </a:p>
        </p:txBody>
      </p:sp>
      <p:sp>
        <p:nvSpPr>
          <p:cNvPr id="471" name="Rectangle: Rounded Corners 470">
            <a:extLst>
              <a:ext uri="{FF2B5EF4-FFF2-40B4-BE49-F238E27FC236}">
                <a16:creationId xmlns:a16="http://schemas.microsoft.com/office/drawing/2014/main" id="{3107962E-C038-3AD7-E57C-35DC91914E10}"/>
              </a:ext>
            </a:extLst>
          </p:cNvPr>
          <p:cNvSpPr/>
          <p:nvPr/>
        </p:nvSpPr>
        <p:spPr>
          <a:xfrm>
            <a:off x="10249056" y="4746041"/>
            <a:ext cx="378979" cy="201176"/>
          </a:xfrm>
          <a:prstGeom prst="round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P360</a:t>
            </a:r>
          </a:p>
        </p:txBody>
      </p:sp>
      <p:sp>
        <p:nvSpPr>
          <p:cNvPr id="480" name="Rectangle: Rounded Corners 479">
            <a:extLst>
              <a:ext uri="{FF2B5EF4-FFF2-40B4-BE49-F238E27FC236}">
                <a16:creationId xmlns:a16="http://schemas.microsoft.com/office/drawing/2014/main" id="{86D4B532-1F29-CE5E-CCF5-795A1F51CD94}"/>
              </a:ext>
            </a:extLst>
          </p:cNvPr>
          <p:cNvSpPr/>
          <p:nvPr/>
        </p:nvSpPr>
        <p:spPr>
          <a:xfrm>
            <a:off x="9457943" y="5906692"/>
            <a:ext cx="1254616" cy="63156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rgbClr val="B455AA"/>
            </a:solidFill>
            <a:prstDash val="lgDashDot"/>
          </a:ln>
          <a:effectLst/>
        </p:spPr>
        <p:txBody>
          <a:bodyPr lIns="45720" tIns="45720" rIns="45720" bIns="4572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Calibri" panose="020F0502020204030204" pitchFamily="34" charset="0"/>
                <a:cs typeface="Calibri" panose="020F0502020204030204" pitchFamily="34" charset="0"/>
              </a:rPr>
              <a:t>Update Claims in P360 with approved information </a:t>
            </a:r>
            <a:r>
              <a:rPr kumimoji="0" lang="en-US" sz="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Calibri" panose="020F0502020204030204" pitchFamily="34" charset="0"/>
                <a:cs typeface="Calibri" panose="020F0502020204030204" pitchFamily="34" charset="0"/>
              </a:rPr>
              <a:t>(if applicable)</a:t>
            </a:r>
          </a:p>
        </p:txBody>
      </p:sp>
      <p:cxnSp>
        <p:nvCxnSpPr>
          <p:cNvPr id="483" name="Connector: Elbow 482">
            <a:extLst>
              <a:ext uri="{FF2B5EF4-FFF2-40B4-BE49-F238E27FC236}">
                <a16:creationId xmlns:a16="http://schemas.microsoft.com/office/drawing/2014/main" id="{A8429DB7-646C-12EE-B108-D1DEAD14223E}"/>
              </a:ext>
            </a:extLst>
          </p:cNvPr>
          <p:cNvCxnSpPr>
            <a:cxnSpLocks/>
            <a:stCxn id="505" idx="3"/>
            <a:endCxn id="480" idx="1"/>
          </p:cNvCxnSpPr>
          <p:nvPr/>
        </p:nvCxnSpPr>
        <p:spPr>
          <a:xfrm>
            <a:off x="9200206" y="6222472"/>
            <a:ext cx="257737" cy="1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86" name="Connector: Elbow 485">
            <a:extLst>
              <a:ext uri="{FF2B5EF4-FFF2-40B4-BE49-F238E27FC236}">
                <a16:creationId xmlns:a16="http://schemas.microsoft.com/office/drawing/2014/main" id="{DE17FB99-A004-D805-BC40-E0931BE4B11D}"/>
              </a:ext>
            </a:extLst>
          </p:cNvPr>
          <p:cNvCxnSpPr>
            <a:cxnSpLocks/>
            <a:stCxn id="480" idx="3"/>
            <a:endCxn id="525" idx="1"/>
          </p:cNvCxnSpPr>
          <p:nvPr/>
        </p:nvCxnSpPr>
        <p:spPr>
          <a:xfrm flipV="1">
            <a:off x="10712559" y="6222472"/>
            <a:ext cx="283006" cy="1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87" name="Rectangle: Rounded Corners 486">
            <a:extLst>
              <a:ext uri="{FF2B5EF4-FFF2-40B4-BE49-F238E27FC236}">
                <a16:creationId xmlns:a16="http://schemas.microsoft.com/office/drawing/2014/main" id="{CDF44977-83F8-64DE-9496-FAB55BD985A7}"/>
              </a:ext>
            </a:extLst>
          </p:cNvPr>
          <p:cNvSpPr/>
          <p:nvPr/>
        </p:nvSpPr>
        <p:spPr>
          <a:xfrm>
            <a:off x="10280229" y="5685412"/>
            <a:ext cx="378979" cy="201176"/>
          </a:xfrm>
          <a:prstGeom prst="round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P360</a:t>
            </a:r>
          </a:p>
        </p:txBody>
      </p:sp>
      <p:pic>
        <p:nvPicPr>
          <p:cNvPr id="19" name="Graphic 18" descr="Male profile with solid fill">
            <a:extLst>
              <a:ext uri="{FF2B5EF4-FFF2-40B4-BE49-F238E27FC236}">
                <a16:creationId xmlns:a16="http://schemas.microsoft.com/office/drawing/2014/main" id="{BAC80DF0-70A0-9D4D-D39F-0A822FC4D4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13797" y="2879582"/>
            <a:ext cx="264644" cy="27432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27C89CD-DD67-4F57-C688-255DFF8E09E5}"/>
              </a:ext>
            </a:extLst>
          </p:cNvPr>
          <p:cNvSpPr/>
          <p:nvPr/>
        </p:nvSpPr>
        <p:spPr>
          <a:xfrm>
            <a:off x="3970776" y="501806"/>
            <a:ext cx="606789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RPA/API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73C1BB5-6F93-2515-B6B7-856FE2BAFF23}"/>
              </a:ext>
            </a:extLst>
          </p:cNvPr>
          <p:cNvSpPr/>
          <p:nvPr/>
        </p:nvSpPr>
        <p:spPr>
          <a:xfrm>
            <a:off x="6268715" y="631766"/>
            <a:ext cx="850715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QuickBase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CE13445D-3267-F7A1-1657-E83B3444EDE9}"/>
              </a:ext>
            </a:extLst>
          </p:cNvPr>
          <p:cNvSpPr/>
          <p:nvPr/>
        </p:nvSpPr>
        <p:spPr>
          <a:xfrm>
            <a:off x="2308271" y="3498755"/>
            <a:ext cx="1438351" cy="70408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rgbClr val="B455AA"/>
            </a:solidFill>
            <a:prstDash val="lgDashDot"/>
          </a:ln>
          <a:effectLst/>
        </p:spPr>
        <p:txBody>
          <a:bodyPr lIns="45720" tIns="45720" rIns="45720" bIns="4572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Transform unstructured records, check mandatory info for claimed/unclaimed benefits ,coverages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2B7AFEA-D5E4-3B54-11F0-3AF0B5BC5CEC}"/>
              </a:ext>
            </a:extLst>
          </p:cNvPr>
          <p:cNvSpPr/>
          <p:nvPr/>
        </p:nvSpPr>
        <p:spPr>
          <a:xfrm>
            <a:off x="4540934" y="3481589"/>
            <a:ext cx="1582187" cy="8252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rgbClr val="B455AA"/>
            </a:solidFill>
            <a:prstDash val="lgDashDot"/>
          </a:ln>
          <a:effectLst/>
        </p:spPr>
        <p:txBody>
          <a:bodyPr lIns="45720" tIns="45720" rIns="45720" bIns="4572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Verify claims against policy certificates — policy exclusions, covered coverage, definitions, exclusions, limits, eligibility, payability</a:t>
            </a:r>
          </a:p>
        </p:txBody>
      </p: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F74F5120-882B-F016-747F-F4369372A3AA}"/>
              </a:ext>
            </a:extLst>
          </p:cNvPr>
          <p:cNvCxnSpPr>
            <a:cxnSpLocks/>
          </p:cNvCxnSpPr>
          <p:nvPr/>
        </p:nvCxnSpPr>
        <p:spPr>
          <a:xfrm flipV="1">
            <a:off x="3753059" y="3750906"/>
            <a:ext cx="780695" cy="123404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47571CEF-78FC-D9A8-B805-BC6C8E32F25E}"/>
              </a:ext>
            </a:extLst>
          </p:cNvPr>
          <p:cNvCxnSpPr>
            <a:cxnSpLocks/>
            <a:stCxn id="49" idx="3"/>
            <a:endCxn id="482" idx="1"/>
          </p:cNvCxnSpPr>
          <p:nvPr/>
        </p:nvCxnSpPr>
        <p:spPr>
          <a:xfrm flipV="1">
            <a:off x="6123121" y="3876078"/>
            <a:ext cx="443765" cy="18149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: Elbow 454">
            <a:extLst>
              <a:ext uri="{FF2B5EF4-FFF2-40B4-BE49-F238E27FC236}">
                <a16:creationId xmlns:a16="http://schemas.microsoft.com/office/drawing/2014/main" id="{CB3B3D01-9CBE-4A19-6351-DE01C1F6B2D1}"/>
              </a:ext>
            </a:extLst>
          </p:cNvPr>
          <p:cNvCxnSpPr>
            <a:cxnSpLocks/>
            <a:stCxn id="485" idx="2"/>
            <a:endCxn id="47" idx="0"/>
          </p:cNvCxnSpPr>
          <p:nvPr/>
        </p:nvCxnSpPr>
        <p:spPr>
          <a:xfrm rot="16200000" flipH="1">
            <a:off x="2894231" y="3365538"/>
            <a:ext cx="266431" cy="1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63" name="Oval 462">
            <a:extLst>
              <a:ext uri="{FF2B5EF4-FFF2-40B4-BE49-F238E27FC236}">
                <a16:creationId xmlns:a16="http://schemas.microsoft.com/office/drawing/2014/main" id="{EA6E34CD-1F6B-7FCB-4B27-24640D8AB59A}"/>
              </a:ext>
            </a:extLst>
          </p:cNvPr>
          <p:cNvSpPr/>
          <p:nvPr/>
        </p:nvSpPr>
        <p:spPr>
          <a:xfrm>
            <a:off x="126477" y="1169894"/>
            <a:ext cx="201168" cy="2011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0</a:t>
            </a:r>
          </a:p>
        </p:txBody>
      </p:sp>
      <p:sp>
        <p:nvSpPr>
          <p:cNvPr id="465" name="Oval 464">
            <a:extLst>
              <a:ext uri="{FF2B5EF4-FFF2-40B4-BE49-F238E27FC236}">
                <a16:creationId xmlns:a16="http://schemas.microsoft.com/office/drawing/2014/main" id="{2F981264-8B6A-43B3-A799-16DFEB0DDC5F}"/>
              </a:ext>
            </a:extLst>
          </p:cNvPr>
          <p:cNvSpPr/>
          <p:nvPr/>
        </p:nvSpPr>
        <p:spPr>
          <a:xfrm>
            <a:off x="2169669" y="1043615"/>
            <a:ext cx="201168" cy="2011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1</a:t>
            </a:r>
          </a:p>
        </p:txBody>
      </p:sp>
      <p:sp>
        <p:nvSpPr>
          <p:cNvPr id="466" name="Oval 465">
            <a:extLst>
              <a:ext uri="{FF2B5EF4-FFF2-40B4-BE49-F238E27FC236}">
                <a16:creationId xmlns:a16="http://schemas.microsoft.com/office/drawing/2014/main" id="{4B98DCEE-4D70-17E1-0B33-69F79ACB3B08}"/>
              </a:ext>
            </a:extLst>
          </p:cNvPr>
          <p:cNvSpPr/>
          <p:nvPr/>
        </p:nvSpPr>
        <p:spPr>
          <a:xfrm>
            <a:off x="3954234" y="928394"/>
            <a:ext cx="201168" cy="2011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2</a:t>
            </a:r>
          </a:p>
        </p:txBody>
      </p:sp>
      <p:sp>
        <p:nvSpPr>
          <p:cNvPr id="469" name="Oval 468">
            <a:extLst>
              <a:ext uri="{FF2B5EF4-FFF2-40B4-BE49-F238E27FC236}">
                <a16:creationId xmlns:a16="http://schemas.microsoft.com/office/drawing/2014/main" id="{E6E0DE94-136C-8273-B557-8EF216D6D3B3}"/>
              </a:ext>
            </a:extLst>
          </p:cNvPr>
          <p:cNvSpPr/>
          <p:nvPr/>
        </p:nvSpPr>
        <p:spPr>
          <a:xfrm>
            <a:off x="6217237" y="1039794"/>
            <a:ext cx="201168" cy="2011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3</a:t>
            </a:r>
          </a:p>
        </p:txBody>
      </p:sp>
      <p:sp>
        <p:nvSpPr>
          <p:cNvPr id="470" name="Oval 469">
            <a:extLst>
              <a:ext uri="{FF2B5EF4-FFF2-40B4-BE49-F238E27FC236}">
                <a16:creationId xmlns:a16="http://schemas.microsoft.com/office/drawing/2014/main" id="{BFAAF7B3-4C36-DC97-5045-41F09E4060C7}"/>
              </a:ext>
            </a:extLst>
          </p:cNvPr>
          <p:cNvSpPr/>
          <p:nvPr/>
        </p:nvSpPr>
        <p:spPr>
          <a:xfrm>
            <a:off x="192522" y="2507354"/>
            <a:ext cx="201168" cy="2011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4</a:t>
            </a:r>
          </a:p>
        </p:txBody>
      </p:sp>
      <p:sp>
        <p:nvSpPr>
          <p:cNvPr id="472" name="Oval 471">
            <a:extLst>
              <a:ext uri="{FF2B5EF4-FFF2-40B4-BE49-F238E27FC236}">
                <a16:creationId xmlns:a16="http://schemas.microsoft.com/office/drawing/2014/main" id="{2BB93CE1-D372-27BC-B3BB-4B23B6325860}"/>
              </a:ext>
            </a:extLst>
          </p:cNvPr>
          <p:cNvSpPr/>
          <p:nvPr/>
        </p:nvSpPr>
        <p:spPr>
          <a:xfrm>
            <a:off x="2361409" y="2507354"/>
            <a:ext cx="201168" cy="2011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5</a:t>
            </a:r>
          </a:p>
        </p:txBody>
      </p:sp>
      <p:sp>
        <p:nvSpPr>
          <p:cNvPr id="490" name="Oval 489">
            <a:extLst>
              <a:ext uri="{FF2B5EF4-FFF2-40B4-BE49-F238E27FC236}">
                <a16:creationId xmlns:a16="http://schemas.microsoft.com/office/drawing/2014/main" id="{3F7FAC8E-72CF-DDED-E6BF-C09C6EF66749}"/>
              </a:ext>
            </a:extLst>
          </p:cNvPr>
          <p:cNvSpPr/>
          <p:nvPr/>
        </p:nvSpPr>
        <p:spPr>
          <a:xfrm>
            <a:off x="4492178" y="3387085"/>
            <a:ext cx="201168" cy="2011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7</a:t>
            </a:r>
          </a:p>
        </p:txBody>
      </p:sp>
      <p:sp>
        <p:nvSpPr>
          <p:cNvPr id="499" name="Rectangle: Rounded Corners 498">
            <a:extLst>
              <a:ext uri="{FF2B5EF4-FFF2-40B4-BE49-F238E27FC236}">
                <a16:creationId xmlns:a16="http://schemas.microsoft.com/office/drawing/2014/main" id="{FE1786E8-D510-42DE-2447-DDB5C5C7AC44}"/>
              </a:ext>
            </a:extLst>
          </p:cNvPr>
          <p:cNvSpPr/>
          <p:nvPr/>
        </p:nvSpPr>
        <p:spPr>
          <a:xfrm>
            <a:off x="11072291" y="362225"/>
            <a:ext cx="916850" cy="4572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rgbClr val="B455AA"/>
            </a:solidFill>
            <a:prstDash val="lgDashDot"/>
          </a:ln>
          <a:effectLst/>
        </p:spPr>
        <p:txBody>
          <a:bodyPr lIns="45720" tIns="45720" rIns="45720" bIns="4572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Calibri" panose="020F0502020204030204" pitchFamily="34" charset="0"/>
                <a:cs typeface="Calibri" panose="020F0502020204030204" pitchFamily="34" charset="0"/>
              </a:rPr>
              <a:t>Automation</a:t>
            </a:r>
          </a:p>
        </p:txBody>
      </p:sp>
      <p:sp>
        <p:nvSpPr>
          <p:cNvPr id="500" name="Rectangle: Rounded Corners 499">
            <a:extLst>
              <a:ext uri="{FF2B5EF4-FFF2-40B4-BE49-F238E27FC236}">
                <a16:creationId xmlns:a16="http://schemas.microsoft.com/office/drawing/2014/main" id="{93C665F9-1888-7EB5-B0DE-9E39BB665914}"/>
              </a:ext>
            </a:extLst>
          </p:cNvPr>
          <p:cNvSpPr/>
          <p:nvPr/>
        </p:nvSpPr>
        <p:spPr>
          <a:xfrm>
            <a:off x="10003785" y="941516"/>
            <a:ext cx="914400" cy="457200"/>
          </a:xfrm>
          <a:prstGeom prst="round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 w="0"/>
                <a:solidFill>
                  <a:srgbClr val="FFFFFF"/>
                </a:solidFill>
                <a:effectLst/>
                <a:uLnTx/>
                <a:uFillTx/>
                <a:latin typeface="Graphik"/>
                <a:ea typeface="Calibri" panose="020F0502020204030204" pitchFamily="34" charset="0"/>
                <a:cs typeface="Calibri" panose="020F0502020204030204" pitchFamily="34" charset="0"/>
              </a:rPr>
              <a:t>Client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 w="0"/>
                <a:solidFill>
                  <a:srgbClr val="FFFFFF"/>
                </a:solidFill>
                <a:effectLst/>
                <a:uLnTx/>
                <a:uFillTx/>
                <a:latin typeface="Graphik"/>
                <a:ea typeface="Calibri" panose="020F0502020204030204" pitchFamily="34" charset="0"/>
                <a:cs typeface="Calibri" panose="020F0502020204030204" pitchFamily="34" charset="0"/>
              </a:rPr>
              <a:t>Systems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95545675-6CA3-D524-1656-50839CA51222}"/>
              </a:ext>
            </a:extLst>
          </p:cNvPr>
          <p:cNvSpPr/>
          <p:nvPr/>
        </p:nvSpPr>
        <p:spPr>
          <a:xfrm>
            <a:off x="8153884" y="4866841"/>
            <a:ext cx="201168" cy="2011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9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5D427825-C667-373B-4322-AEF04BB5FC72}"/>
              </a:ext>
            </a:extLst>
          </p:cNvPr>
          <p:cNvSpPr/>
          <p:nvPr/>
        </p:nvSpPr>
        <p:spPr>
          <a:xfrm>
            <a:off x="9461704" y="4845534"/>
            <a:ext cx="201168" cy="2011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10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0D1CF7F4-8590-B579-F3FF-4B60BB466EB2}"/>
              </a:ext>
            </a:extLst>
          </p:cNvPr>
          <p:cNvSpPr/>
          <p:nvPr/>
        </p:nvSpPr>
        <p:spPr>
          <a:xfrm>
            <a:off x="10919596" y="4801412"/>
            <a:ext cx="201168" cy="2011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11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DB820603-B35D-2E5C-2DAD-5FA527567522}"/>
              </a:ext>
            </a:extLst>
          </p:cNvPr>
          <p:cNvSpPr/>
          <p:nvPr/>
        </p:nvSpPr>
        <p:spPr>
          <a:xfrm>
            <a:off x="7935885" y="5850760"/>
            <a:ext cx="201168" cy="2011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12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320BABD9-4BA6-524E-1433-ADB13C7D304E}"/>
              </a:ext>
            </a:extLst>
          </p:cNvPr>
          <p:cNvSpPr/>
          <p:nvPr/>
        </p:nvSpPr>
        <p:spPr>
          <a:xfrm>
            <a:off x="9434978" y="5829876"/>
            <a:ext cx="201168" cy="2011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13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66BA3116-2B4F-0371-CFBF-639F06F61B9D}"/>
              </a:ext>
            </a:extLst>
          </p:cNvPr>
          <p:cNvSpPr/>
          <p:nvPr/>
        </p:nvSpPr>
        <p:spPr>
          <a:xfrm>
            <a:off x="10981536" y="5899769"/>
            <a:ext cx="201168" cy="2011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14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BBA906B6-91F8-E839-F287-088779585E65}"/>
              </a:ext>
            </a:extLst>
          </p:cNvPr>
          <p:cNvSpPr/>
          <p:nvPr/>
        </p:nvSpPr>
        <p:spPr>
          <a:xfrm>
            <a:off x="7926114" y="4531326"/>
            <a:ext cx="850715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QuickBase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E2E23CAE-33F3-C60A-334D-AE25292A0A70}"/>
              </a:ext>
            </a:extLst>
          </p:cNvPr>
          <p:cNvSpPr/>
          <p:nvPr/>
        </p:nvSpPr>
        <p:spPr>
          <a:xfrm>
            <a:off x="9492190" y="4529806"/>
            <a:ext cx="724318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RPA/API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477" name="Oval 476">
            <a:extLst>
              <a:ext uri="{FF2B5EF4-FFF2-40B4-BE49-F238E27FC236}">
                <a16:creationId xmlns:a16="http://schemas.microsoft.com/office/drawing/2014/main" id="{826AAA09-FE97-2D00-43C4-2D2789748017}"/>
              </a:ext>
            </a:extLst>
          </p:cNvPr>
          <p:cNvSpPr/>
          <p:nvPr/>
        </p:nvSpPr>
        <p:spPr>
          <a:xfrm>
            <a:off x="2233134" y="3431421"/>
            <a:ext cx="201168" cy="2011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6</a:t>
            </a:r>
          </a:p>
        </p:txBody>
      </p:sp>
      <p:sp>
        <p:nvSpPr>
          <p:cNvPr id="43" name="Arrow: Up 42">
            <a:extLst>
              <a:ext uri="{FF2B5EF4-FFF2-40B4-BE49-F238E27FC236}">
                <a16:creationId xmlns:a16="http://schemas.microsoft.com/office/drawing/2014/main" id="{10BC6334-E363-1814-8924-D727267C184D}"/>
              </a:ext>
            </a:extLst>
          </p:cNvPr>
          <p:cNvSpPr/>
          <p:nvPr/>
        </p:nvSpPr>
        <p:spPr>
          <a:xfrm>
            <a:off x="4935943" y="3172141"/>
            <a:ext cx="129020" cy="240416"/>
          </a:xfrm>
          <a:prstGeom prst="upArrow">
            <a:avLst/>
          </a:prstGeom>
          <a:solidFill>
            <a:schemeClr val="bg1"/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44" name="Arrow: Up 43">
            <a:extLst>
              <a:ext uri="{FF2B5EF4-FFF2-40B4-BE49-F238E27FC236}">
                <a16:creationId xmlns:a16="http://schemas.microsoft.com/office/drawing/2014/main" id="{67BE3274-6B66-A0BD-5952-C1C8A932FF60}"/>
              </a:ext>
            </a:extLst>
          </p:cNvPr>
          <p:cNvSpPr/>
          <p:nvPr/>
        </p:nvSpPr>
        <p:spPr>
          <a:xfrm>
            <a:off x="5610856" y="3172141"/>
            <a:ext cx="129020" cy="240416"/>
          </a:xfrm>
          <a:prstGeom prst="upArrow">
            <a:avLst/>
          </a:prstGeom>
          <a:solidFill>
            <a:schemeClr val="bg1"/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45" name="Arrow: Up 44">
            <a:extLst>
              <a:ext uri="{FF2B5EF4-FFF2-40B4-BE49-F238E27FC236}">
                <a16:creationId xmlns:a16="http://schemas.microsoft.com/office/drawing/2014/main" id="{03E39A15-9B7E-115B-2211-6B0EF8826325}"/>
              </a:ext>
            </a:extLst>
          </p:cNvPr>
          <p:cNvSpPr/>
          <p:nvPr/>
        </p:nvSpPr>
        <p:spPr>
          <a:xfrm rot="16200000">
            <a:off x="7338579" y="2666131"/>
            <a:ext cx="129020" cy="425911"/>
          </a:xfrm>
          <a:prstGeom prst="upArrow">
            <a:avLst/>
          </a:prstGeom>
          <a:solidFill>
            <a:schemeClr val="bg1"/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50" name="Arrow: Up 49">
            <a:extLst>
              <a:ext uri="{FF2B5EF4-FFF2-40B4-BE49-F238E27FC236}">
                <a16:creationId xmlns:a16="http://schemas.microsoft.com/office/drawing/2014/main" id="{11FB0020-0532-A50D-08FF-4AAFF7C21D70}"/>
              </a:ext>
            </a:extLst>
          </p:cNvPr>
          <p:cNvSpPr/>
          <p:nvPr/>
        </p:nvSpPr>
        <p:spPr>
          <a:xfrm rot="16200000">
            <a:off x="6577871" y="2666131"/>
            <a:ext cx="129020" cy="425911"/>
          </a:xfrm>
          <a:prstGeom prst="upArrow">
            <a:avLst/>
          </a:prstGeom>
          <a:solidFill>
            <a:schemeClr val="bg1"/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3FB706E7-F64A-9A96-FE91-4274EE58DCA8}"/>
              </a:ext>
            </a:extLst>
          </p:cNvPr>
          <p:cNvSpPr/>
          <p:nvPr/>
        </p:nvSpPr>
        <p:spPr>
          <a:xfrm>
            <a:off x="6505220" y="3518414"/>
            <a:ext cx="201168" cy="2011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8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0FCC7A1-BBFC-42A3-61C1-2194961C6DD3}"/>
              </a:ext>
            </a:extLst>
          </p:cNvPr>
          <p:cNvSpPr/>
          <p:nvPr/>
        </p:nvSpPr>
        <p:spPr>
          <a:xfrm>
            <a:off x="11078300" y="941516"/>
            <a:ext cx="904833" cy="4572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txBody>
          <a:bodyPr lIns="91440"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Calibri" panose="020F0502020204030204" pitchFamily="34" charset="0"/>
                <a:cs typeface="Calibri" panose="020F0502020204030204" pitchFamily="34" charset="0"/>
              </a:rPr>
              <a:t>No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Calibri" panose="020F0502020204030204" pitchFamily="34" charset="0"/>
                <a:cs typeface="Calibri" panose="020F0502020204030204" pitchFamily="34" charset="0"/>
              </a:rPr>
              <a:t>Change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1F1A8DE-E8BF-7859-A2A8-95D55D10E149}"/>
              </a:ext>
            </a:extLst>
          </p:cNvPr>
          <p:cNvSpPr/>
          <p:nvPr/>
        </p:nvSpPr>
        <p:spPr>
          <a:xfrm>
            <a:off x="10001607" y="1588068"/>
            <a:ext cx="2011680" cy="4572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rgbClr val="B455AA"/>
            </a:solidFill>
            <a:prstDash val="lgDashDot"/>
          </a:ln>
          <a:effectLst/>
        </p:spPr>
        <p:txBody>
          <a:bodyPr lIns="45720" tIns="45720" rIns="45720" bIns="45720" rtlCol="0" anchor="ctr" anchorCtr="0"/>
          <a:lstStyle/>
          <a:p>
            <a:pPr marL="27432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Calibri" panose="020F0502020204030204" pitchFamily="34" charset="0"/>
                <a:cs typeface="Calibri" panose="020F0502020204030204" pitchFamily="34" charset="0"/>
              </a:rPr>
              <a:t>Gen AI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A443C45-A9E4-4D46-A539-6F3AA3BD5D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9266" y="2443692"/>
            <a:ext cx="245037" cy="226086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93C32F6-0605-8206-C48B-B6448F6B08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7701" y="3317214"/>
            <a:ext cx="245037" cy="22608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C5C9538-0B8A-18A1-EA15-67CFC93307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6262" y="3372907"/>
            <a:ext cx="245037" cy="22608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53461A62-3B92-A014-3B2F-371C9F3BDA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4100" y="1710048"/>
            <a:ext cx="266858" cy="24622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176A284-AAB7-67F8-3D8B-C2A05DAAEC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6887" y="2507120"/>
            <a:ext cx="245037" cy="226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393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F495A-B4BB-7282-7D31-F340B4F7D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8CCC75-344F-DD83-7DC5-28C518D8707D}"/>
              </a:ext>
            </a:extLst>
          </p:cNvPr>
          <p:cNvSpPr/>
          <p:nvPr/>
        </p:nvSpPr>
        <p:spPr>
          <a:xfrm>
            <a:off x="0" y="1"/>
            <a:ext cx="12191996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4" name="Picture 13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2111D390-748D-FD66-95B5-F7BC74CD0F5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482516"/>
            <a:ext cx="192024" cy="20232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1AB84CA-5988-41FE-C2ED-18683E2923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19" y="93518"/>
            <a:ext cx="8364682" cy="6670964"/>
          </a:xfrm>
          <a:prstGeom prst="rect">
            <a:avLst/>
          </a:prstGeom>
          <a:effectLst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FDE1268-3945-55E0-E737-7DC8EE282792}"/>
              </a:ext>
            </a:extLst>
          </p:cNvPr>
          <p:cNvSpPr txBox="1"/>
          <p:nvPr/>
        </p:nvSpPr>
        <p:spPr>
          <a:xfrm>
            <a:off x="8685604" y="1610572"/>
            <a:ext cx="3412877" cy="1569660"/>
          </a:xfrm>
          <a:prstGeom prst="rect">
            <a:avLst/>
          </a:prstGeom>
          <a:noFill/>
        </p:spPr>
        <p:txBody>
          <a:bodyPr wrap="square" lIns="45720" tIns="45720" rIns="45720" bIns="45720" rtlCol="0" anchor="ctr">
            <a:spAutoFit/>
          </a:bodyPr>
          <a:lstStyle/>
          <a:p>
            <a:pPr defTabSz="228600">
              <a:spcAft>
                <a:spcPts val="1200"/>
              </a:spcAft>
              <a:defRPr/>
            </a:pPr>
            <a:r>
              <a:rPr lang="en-US" sz="1400" b="1" dirty="0">
                <a:solidFill>
                  <a:srgbClr val="FFFFFF"/>
                </a:solidFill>
                <a:latin typeface="Graphik"/>
              </a:rPr>
              <a:t>       What you need to do</a:t>
            </a:r>
          </a:p>
          <a:p>
            <a:endParaRPr lang="en-US" sz="1200" dirty="0">
              <a:solidFill>
                <a:srgbClr val="FFFFFF"/>
              </a:solidFill>
              <a:latin typeface="Graphik"/>
            </a:endParaRPr>
          </a:p>
          <a:p>
            <a:r>
              <a:rPr lang="en-US" sz="1200" b="1" dirty="0">
                <a:solidFill>
                  <a:srgbClr val="FFFFFF"/>
                </a:solidFill>
                <a:latin typeface="Graphik"/>
              </a:rPr>
              <a:t>Log In to QuickBase: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200" dirty="0">
              <a:solidFill>
                <a:srgbClr val="FFFFFF"/>
              </a:solidFill>
              <a:latin typeface="Graphik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FFFFFF"/>
                </a:solidFill>
                <a:latin typeface="Graphik"/>
              </a:rPr>
              <a:t>Log in to QuickBase using your Prudential email and password to securely access the system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6601225-0668-93C2-367C-E4797C2C2C09}"/>
              </a:ext>
            </a:extLst>
          </p:cNvPr>
          <p:cNvGrpSpPr/>
          <p:nvPr/>
        </p:nvGrpSpPr>
        <p:grpSpPr>
          <a:xfrm>
            <a:off x="5375998" y="3925188"/>
            <a:ext cx="720000" cy="720000"/>
            <a:chOff x="13338894" y="1587234"/>
            <a:chExt cx="720000" cy="72000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BC94A0F-9E89-F57D-2259-2FF115DE5A4A}"/>
                </a:ext>
              </a:extLst>
            </p:cNvPr>
            <p:cNvSpPr/>
            <p:nvPr/>
          </p:nvSpPr>
          <p:spPr>
            <a:xfrm flipV="1">
              <a:off x="13338894" y="1587234"/>
              <a:ext cx="720000" cy="720000"/>
            </a:xfrm>
            <a:prstGeom prst="ellipse">
              <a:avLst/>
            </a:prstGeom>
            <a:solidFill>
              <a:schemeClr val="bg1"/>
            </a:solidFill>
            <a:ln w="22225" cap="flat" cmpd="sng" algn="ctr">
              <a:solidFill>
                <a:srgbClr val="7500C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</a:endParaRPr>
            </a:p>
          </p:txBody>
        </p:sp>
        <p:grpSp>
          <p:nvGrpSpPr>
            <p:cNvPr id="11" name="Group 104">
              <a:extLst>
                <a:ext uri="{FF2B5EF4-FFF2-40B4-BE49-F238E27FC236}">
                  <a16:creationId xmlns:a16="http://schemas.microsoft.com/office/drawing/2014/main" id="{B4FC36CA-7235-543A-3941-6D1AADD0F9F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524907" y="1698240"/>
              <a:ext cx="347973" cy="523184"/>
              <a:chOff x="1443" y="2997"/>
              <a:chExt cx="284" cy="427"/>
            </a:xfrm>
            <a:solidFill>
              <a:srgbClr val="7500C0"/>
            </a:solidFill>
          </p:grpSpPr>
          <p:sp>
            <p:nvSpPr>
              <p:cNvPr id="12" name="Freeform 105">
                <a:extLst>
                  <a:ext uri="{FF2B5EF4-FFF2-40B4-BE49-F238E27FC236}">
                    <a16:creationId xmlns:a16="http://schemas.microsoft.com/office/drawing/2014/main" id="{48F9D1EA-C3EB-D213-6559-D6C3E56318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62" y="3104"/>
                <a:ext cx="261" cy="320"/>
              </a:xfrm>
              <a:custGeom>
                <a:avLst/>
                <a:gdLst>
                  <a:gd name="T0" fmla="*/ 155 w 176"/>
                  <a:gd name="T1" fmla="*/ 216 h 216"/>
                  <a:gd name="T2" fmla="*/ 59 w 176"/>
                  <a:gd name="T3" fmla="*/ 216 h 216"/>
                  <a:gd name="T4" fmla="*/ 54 w 176"/>
                  <a:gd name="T5" fmla="*/ 213 h 216"/>
                  <a:gd name="T6" fmla="*/ 6 w 176"/>
                  <a:gd name="T7" fmla="*/ 141 h 216"/>
                  <a:gd name="T8" fmla="*/ 4 w 176"/>
                  <a:gd name="T9" fmla="*/ 116 h 216"/>
                  <a:gd name="T10" fmla="*/ 17 w 176"/>
                  <a:gd name="T11" fmla="*/ 108 h 216"/>
                  <a:gd name="T12" fmla="*/ 59 w 176"/>
                  <a:gd name="T13" fmla="*/ 137 h 216"/>
                  <a:gd name="T14" fmla="*/ 59 w 176"/>
                  <a:gd name="T15" fmla="*/ 24 h 216"/>
                  <a:gd name="T16" fmla="*/ 83 w 176"/>
                  <a:gd name="T17" fmla="*/ 0 h 216"/>
                  <a:gd name="T18" fmla="*/ 107 w 176"/>
                  <a:gd name="T19" fmla="*/ 24 h 216"/>
                  <a:gd name="T20" fmla="*/ 107 w 176"/>
                  <a:gd name="T21" fmla="*/ 92 h 216"/>
                  <a:gd name="T22" fmla="*/ 156 w 176"/>
                  <a:gd name="T23" fmla="*/ 108 h 216"/>
                  <a:gd name="T24" fmla="*/ 173 w 176"/>
                  <a:gd name="T25" fmla="*/ 145 h 216"/>
                  <a:gd name="T26" fmla="*/ 161 w 176"/>
                  <a:gd name="T27" fmla="*/ 211 h 216"/>
                  <a:gd name="T28" fmla="*/ 155 w 176"/>
                  <a:gd name="T29" fmla="*/ 216 h 216"/>
                  <a:gd name="T30" fmla="*/ 62 w 176"/>
                  <a:gd name="T31" fmla="*/ 204 h 216"/>
                  <a:gd name="T32" fmla="*/ 150 w 176"/>
                  <a:gd name="T33" fmla="*/ 204 h 216"/>
                  <a:gd name="T34" fmla="*/ 161 w 176"/>
                  <a:gd name="T35" fmla="*/ 143 h 216"/>
                  <a:gd name="T36" fmla="*/ 152 w 176"/>
                  <a:gd name="T37" fmla="*/ 120 h 216"/>
                  <a:gd name="T38" fmla="*/ 99 w 176"/>
                  <a:gd name="T39" fmla="*/ 102 h 216"/>
                  <a:gd name="T40" fmla="*/ 95 w 176"/>
                  <a:gd name="T41" fmla="*/ 96 h 216"/>
                  <a:gd name="T42" fmla="*/ 95 w 176"/>
                  <a:gd name="T43" fmla="*/ 24 h 216"/>
                  <a:gd name="T44" fmla="*/ 83 w 176"/>
                  <a:gd name="T45" fmla="*/ 12 h 216"/>
                  <a:gd name="T46" fmla="*/ 71 w 176"/>
                  <a:gd name="T47" fmla="*/ 24 h 216"/>
                  <a:gd name="T48" fmla="*/ 71 w 176"/>
                  <a:gd name="T49" fmla="*/ 156 h 216"/>
                  <a:gd name="T50" fmla="*/ 67 w 176"/>
                  <a:gd name="T51" fmla="*/ 162 h 216"/>
                  <a:gd name="T52" fmla="*/ 60 w 176"/>
                  <a:gd name="T53" fmla="*/ 159 h 216"/>
                  <a:gd name="T54" fmla="*/ 17 w 176"/>
                  <a:gd name="T55" fmla="*/ 120 h 216"/>
                  <a:gd name="T56" fmla="*/ 14 w 176"/>
                  <a:gd name="T57" fmla="*/ 121 h 216"/>
                  <a:gd name="T58" fmla="*/ 16 w 176"/>
                  <a:gd name="T59" fmla="*/ 135 h 216"/>
                  <a:gd name="T60" fmla="*/ 62 w 176"/>
                  <a:gd name="T61" fmla="*/ 204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76" h="216">
                    <a:moveTo>
                      <a:pt x="155" y="216"/>
                    </a:moveTo>
                    <a:cubicBezTo>
                      <a:pt x="59" y="216"/>
                      <a:pt x="59" y="216"/>
                      <a:pt x="59" y="216"/>
                    </a:cubicBezTo>
                    <a:cubicBezTo>
                      <a:pt x="57" y="216"/>
                      <a:pt x="55" y="215"/>
                      <a:pt x="54" y="213"/>
                    </a:cubicBezTo>
                    <a:cubicBezTo>
                      <a:pt x="6" y="141"/>
                      <a:pt x="6" y="141"/>
                      <a:pt x="6" y="141"/>
                    </a:cubicBezTo>
                    <a:cubicBezTo>
                      <a:pt x="2" y="135"/>
                      <a:pt x="0" y="124"/>
                      <a:pt x="4" y="116"/>
                    </a:cubicBezTo>
                    <a:cubicBezTo>
                      <a:pt x="6" y="111"/>
                      <a:pt x="11" y="108"/>
                      <a:pt x="17" y="108"/>
                    </a:cubicBezTo>
                    <a:cubicBezTo>
                      <a:pt x="30" y="108"/>
                      <a:pt x="42" y="113"/>
                      <a:pt x="59" y="137"/>
                    </a:cubicBezTo>
                    <a:cubicBezTo>
                      <a:pt x="59" y="24"/>
                      <a:pt x="59" y="24"/>
                      <a:pt x="59" y="24"/>
                    </a:cubicBezTo>
                    <a:cubicBezTo>
                      <a:pt x="59" y="11"/>
                      <a:pt x="70" y="0"/>
                      <a:pt x="83" y="0"/>
                    </a:cubicBezTo>
                    <a:cubicBezTo>
                      <a:pt x="96" y="0"/>
                      <a:pt x="107" y="11"/>
                      <a:pt x="107" y="24"/>
                    </a:cubicBezTo>
                    <a:cubicBezTo>
                      <a:pt x="107" y="92"/>
                      <a:pt x="107" y="92"/>
                      <a:pt x="107" y="92"/>
                    </a:cubicBezTo>
                    <a:cubicBezTo>
                      <a:pt x="156" y="108"/>
                      <a:pt x="156" y="108"/>
                      <a:pt x="156" y="108"/>
                    </a:cubicBezTo>
                    <a:cubicBezTo>
                      <a:pt x="172" y="113"/>
                      <a:pt x="176" y="131"/>
                      <a:pt x="173" y="145"/>
                    </a:cubicBezTo>
                    <a:cubicBezTo>
                      <a:pt x="161" y="211"/>
                      <a:pt x="161" y="211"/>
                      <a:pt x="161" y="211"/>
                    </a:cubicBezTo>
                    <a:cubicBezTo>
                      <a:pt x="161" y="214"/>
                      <a:pt x="158" y="216"/>
                      <a:pt x="155" y="216"/>
                    </a:cubicBezTo>
                    <a:close/>
                    <a:moveTo>
                      <a:pt x="62" y="204"/>
                    </a:moveTo>
                    <a:cubicBezTo>
                      <a:pt x="150" y="204"/>
                      <a:pt x="150" y="204"/>
                      <a:pt x="150" y="204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3" y="134"/>
                      <a:pt x="161" y="123"/>
                      <a:pt x="152" y="120"/>
                    </a:cubicBezTo>
                    <a:cubicBezTo>
                      <a:pt x="99" y="102"/>
                      <a:pt x="99" y="102"/>
                      <a:pt x="99" y="102"/>
                    </a:cubicBezTo>
                    <a:cubicBezTo>
                      <a:pt x="97" y="101"/>
                      <a:pt x="95" y="99"/>
                      <a:pt x="95" y="96"/>
                    </a:cubicBezTo>
                    <a:cubicBezTo>
                      <a:pt x="95" y="24"/>
                      <a:pt x="95" y="24"/>
                      <a:pt x="95" y="24"/>
                    </a:cubicBezTo>
                    <a:cubicBezTo>
                      <a:pt x="95" y="17"/>
                      <a:pt x="90" y="12"/>
                      <a:pt x="83" y="12"/>
                    </a:cubicBezTo>
                    <a:cubicBezTo>
                      <a:pt x="77" y="12"/>
                      <a:pt x="71" y="18"/>
                      <a:pt x="71" y="24"/>
                    </a:cubicBezTo>
                    <a:cubicBezTo>
                      <a:pt x="71" y="156"/>
                      <a:pt x="71" y="156"/>
                      <a:pt x="71" y="156"/>
                    </a:cubicBezTo>
                    <a:cubicBezTo>
                      <a:pt x="71" y="159"/>
                      <a:pt x="69" y="161"/>
                      <a:pt x="67" y="162"/>
                    </a:cubicBezTo>
                    <a:cubicBezTo>
                      <a:pt x="64" y="163"/>
                      <a:pt x="62" y="162"/>
                      <a:pt x="60" y="159"/>
                    </a:cubicBezTo>
                    <a:cubicBezTo>
                      <a:pt x="37" y="123"/>
                      <a:pt x="26" y="120"/>
                      <a:pt x="17" y="120"/>
                    </a:cubicBezTo>
                    <a:cubicBezTo>
                      <a:pt x="15" y="120"/>
                      <a:pt x="15" y="121"/>
                      <a:pt x="14" y="121"/>
                    </a:cubicBezTo>
                    <a:cubicBezTo>
                      <a:pt x="13" y="124"/>
                      <a:pt x="14" y="131"/>
                      <a:pt x="16" y="135"/>
                    </a:cubicBezTo>
                    <a:lnTo>
                      <a:pt x="62" y="20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/>
                </a:endParaRPr>
              </a:p>
            </p:txBody>
          </p:sp>
          <p:sp>
            <p:nvSpPr>
              <p:cNvPr id="13" name="Freeform 106">
                <a:extLst>
                  <a:ext uri="{FF2B5EF4-FFF2-40B4-BE49-F238E27FC236}">
                    <a16:creationId xmlns:a16="http://schemas.microsoft.com/office/drawing/2014/main" id="{0BA45B1A-CB84-09AB-9D06-937DD29029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6" y="3122"/>
                <a:ext cx="71" cy="17"/>
              </a:xfrm>
              <a:custGeom>
                <a:avLst/>
                <a:gdLst>
                  <a:gd name="T0" fmla="*/ 42 w 48"/>
                  <a:gd name="T1" fmla="*/ 12 h 12"/>
                  <a:gd name="T2" fmla="*/ 6 w 48"/>
                  <a:gd name="T3" fmla="*/ 12 h 12"/>
                  <a:gd name="T4" fmla="*/ 0 w 48"/>
                  <a:gd name="T5" fmla="*/ 6 h 12"/>
                  <a:gd name="T6" fmla="*/ 6 w 48"/>
                  <a:gd name="T7" fmla="*/ 0 h 12"/>
                  <a:gd name="T8" fmla="*/ 42 w 48"/>
                  <a:gd name="T9" fmla="*/ 0 h 12"/>
                  <a:gd name="T10" fmla="*/ 48 w 48"/>
                  <a:gd name="T11" fmla="*/ 6 h 12"/>
                  <a:gd name="T12" fmla="*/ 42 w 48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12">
                    <a:moveTo>
                      <a:pt x="42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6" y="0"/>
                      <a:pt x="48" y="3"/>
                      <a:pt x="48" y="6"/>
                    </a:cubicBezTo>
                    <a:cubicBezTo>
                      <a:pt x="48" y="9"/>
                      <a:pt x="46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/>
                </a:endParaRPr>
              </a:p>
            </p:txBody>
          </p:sp>
          <p:sp>
            <p:nvSpPr>
              <p:cNvPr id="19" name="Freeform 107">
                <a:extLst>
                  <a:ext uri="{FF2B5EF4-FFF2-40B4-BE49-F238E27FC236}">
                    <a16:creationId xmlns:a16="http://schemas.microsoft.com/office/drawing/2014/main" id="{11FF38AE-4547-FB6F-C84E-D93CC98702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8" y="3031"/>
                <a:ext cx="55" cy="55"/>
              </a:xfrm>
              <a:custGeom>
                <a:avLst/>
                <a:gdLst>
                  <a:gd name="T0" fmla="*/ 6 w 37"/>
                  <a:gd name="T1" fmla="*/ 37 h 37"/>
                  <a:gd name="T2" fmla="*/ 2 w 37"/>
                  <a:gd name="T3" fmla="*/ 35 h 37"/>
                  <a:gd name="T4" fmla="*/ 2 w 37"/>
                  <a:gd name="T5" fmla="*/ 27 h 37"/>
                  <a:gd name="T6" fmla="*/ 26 w 37"/>
                  <a:gd name="T7" fmla="*/ 3 h 37"/>
                  <a:gd name="T8" fmla="*/ 34 w 37"/>
                  <a:gd name="T9" fmla="*/ 3 h 37"/>
                  <a:gd name="T10" fmla="*/ 34 w 37"/>
                  <a:gd name="T11" fmla="*/ 11 h 37"/>
                  <a:gd name="T12" fmla="*/ 10 w 37"/>
                  <a:gd name="T13" fmla="*/ 35 h 37"/>
                  <a:gd name="T14" fmla="*/ 6 w 37"/>
                  <a:gd name="T15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7" h="37">
                    <a:moveTo>
                      <a:pt x="6" y="37"/>
                    </a:moveTo>
                    <a:cubicBezTo>
                      <a:pt x="5" y="37"/>
                      <a:pt x="3" y="36"/>
                      <a:pt x="2" y="35"/>
                    </a:cubicBezTo>
                    <a:cubicBezTo>
                      <a:pt x="0" y="33"/>
                      <a:pt x="0" y="29"/>
                      <a:pt x="2" y="27"/>
                    </a:cubicBezTo>
                    <a:cubicBezTo>
                      <a:pt x="26" y="3"/>
                      <a:pt x="26" y="3"/>
                      <a:pt x="26" y="3"/>
                    </a:cubicBezTo>
                    <a:cubicBezTo>
                      <a:pt x="28" y="0"/>
                      <a:pt x="32" y="0"/>
                      <a:pt x="34" y="3"/>
                    </a:cubicBezTo>
                    <a:cubicBezTo>
                      <a:pt x="37" y="5"/>
                      <a:pt x="37" y="9"/>
                      <a:pt x="34" y="11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9" y="36"/>
                      <a:pt x="8" y="37"/>
                      <a:pt x="6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/>
                </a:endParaRPr>
              </a:p>
            </p:txBody>
          </p:sp>
          <p:sp>
            <p:nvSpPr>
              <p:cNvPr id="21" name="Freeform 108">
                <a:extLst>
                  <a:ext uri="{FF2B5EF4-FFF2-40B4-BE49-F238E27FC236}">
                    <a16:creationId xmlns:a16="http://schemas.microsoft.com/office/drawing/2014/main" id="{10F430AD-29B4-5978-4A13-1ED4BDCF03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5" y="2997"/>
                <a:ext cx="18" cy="71"/>
              </a:xfrm>
              <a:custGeom>
                <a:avLst/>
                <a:gdLst>
                  <a:gd name="T0" fmla="*/ 6 w 12"/>
                  <a:gd name="T1" fmla="*/ 48 h 48"/>
                  <a:gd name="T2" fmla="*/ 0 w 12"/>
                  <a:gd name="T3" fmla="*/ 42 h 48"/>
                  <a:gd name="T4" fmla="*/ 0 w 12"/>
                  <a:gd name="T5" fmla="*/ 6 h 48"/>
                  <a:gd name="T6" fmla="*/ 6 w 12"/>
                  <a:gd name="T7" fmla="*/ 0 h 48"/>
                  <a:gd name="T8" fmla="*/ 12 w 12"/>
                  <a:gd name="T9" fmla="*/ 6 h 48"/>
                  <a:gd name="T10" fmla="*/ 12 w 12"/>
                  <a:gd name="T11" fmla="*/ 42 h 48"/>
                  <a:gd name="T12" fmla="*/ 6 w 12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48">
                    <a:moveTo>
                      <a:pt x="6" y="48"/>
                    </a:moveTo>
                    <a:cubicBezTo>
                      <a:pt x="3" y="48"/>
                      <a:pt x="0" y="45"/>
                      <a:pt x="0" y="42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0" y="0"/>
                      <a:pt x="12" y="3"/>
                      <a:pt x="12" y="6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2" y="45"/>
                      <a:pt x="10" y="48"/>
                      <a:pt x="6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/>
                </a:endParaRPr>
              </a:p>
            </p:txBody>
          </p:sp>
          <p:sp>
            <p:nvSpPr>
              <p:cNvPr id="25" name="Freeform 109">
                <a:extLst>
                  <a:ext uri="{FF2B5EF4-FFF2-40B4-BE49-F238E27FC236}">
                    <a16:creationId xmlns:a16="http://schemas.microsoft.com/office/drawing/2014/main" id="{0CDAAD90-6B0A-FCD1-E6C3-3BA789A6A9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8" y="3031"/>
                <a:ext cx="55" cy="55"/>
              </a:xfrm>
              <a:custGeom>
                <a:avLst/>
                <a:gdLst>
                  <a:gd name="T0" fmla="*/ 30 w 37"/>
                  <a:gd name="T1" fmla="*/ 37 h 37"/>
                  <a:gd name="T2" fmla="*/ 26 w 37"/>
                  <a:gd name="T3" fmla="*/ 35 h 37"/>
                  <a:gd name="T4" fmla="*/ 2 w 37"/>
                  <a:gd name="T5" fmla="*/ 11 h 37"/>
                  <a:gd name="T6" fmla="*/ 2 w 37"/>
                  <a:gd name="T7" fmla="*/ 3 h 37"/>
                  <a:gd name="T8" fmla="*/ 10 w 37"/>
                  <a:gd name="T9" fmla="*/ 3 h 37"/>
                  <a:gd name="T10" fmla="*/ 34 w 37"/>
                  <a:gd name="T11" fmla="*/ 27 h 37"/>
                  <a:gd name="T12" fmla="*/ 34 w 37"/>
                  <a:gd name="T13" fmla="*/ 35 h 37"/>
                  <a:gd name="T14" fmla="*/ 30 w 37"/>
                  <a:gd name="T15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7" h="37">
                    <a:moveTo>
                      <a:pt x="30" y="37"/>
                    </a:moveTo>
                    <a:cubicBezTo>
                      <a:pt x="29" y="37"/>
                      <a:pt x="27" y="36"/>
                      <a:pt x="26" y="35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0" y="9"/>
                      <a:pt x="0" y="5"/>
                      <a:pt x="2" y="3"/>
                    </a:cubicBezTo>
                    <a:cubicBezTo>
                      <a:pt x="4" y="0"/>
                      <a:pt x="8" y="0"/>
                      <a:pt x="10" y="3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7" y="29"/>
                      <a:pt x="37" y="33"/>
                      <a:pt x="34" y="35"/>
                    </a:cubicBezTo>
                    <a:cubicBezTo>
                      <a:pt x="33" y="36"/>
                      <a:pt x="32" y="37"/>
                      <a:pt x="30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/>
                </a:endParaRPr>
              </a:p>
            </p:txBody>
          </p:sp>
          <p:sp>
            <p:nvSpPr>
              <p:cNvPr id="27" name="Freeform 110">
                <a:extLst>
                  <a:ext uri="{FF2B5EF4-FFF2-40B4-BE49-F238E27FC236}">
                    <a16:creationId xmlns:a16="http://schemas.microsoft.com/office/drawing/2014/main" id="{63F15113-82B0-8E4B-052D-A13507EF99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3" y="3122"/>
                <a:ext cx="71" cy="17"/>
              </a:xfrm>
              <a:custGeom>
                <a:avLst/>
                <a:gdLst>
                  <a:gd name="T0" fmla="*/ 42 w 48"/>
                  <a:gd name="T1" fmla="*/ 12 h 12"/>
                  <a:gd name="T2" fmla="*/ 6 w 48"/>
                  <a:gd name="T3" fmla="*/ 12 h 12"/>
                  <a:gd name="T4" fmla="*/ 0 w 48"/>
                  <a:gd name="T5" fmla="*/ 6 h 12"/>
                  <a:gd name="T6" fmla="*/ 6 w 48"/>
                  <a:gd name="T7" fmla="*/ 0 h 12"/>
                  <a:gd name="T8" fmla="*/ 42 w 48"/>
                  <a:gd name="T9" fmla="*/ 0 h 12"/>
                  <a:gd name="T10" fmla="*/ 48 w 48"/>
                  <a:gd name="T11" fmla="*/ 6 h 12"/>
                  <a:gd name="T12" fmla="*/ 42 w 48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12">
                    <a:moveTo>
                      <a:pt x="42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6" y="0"/>
                      <a:pt x="48" y="3"/>
                      <a:pt x="48" y="6"/>
                    </a:cubicBezTo>
                    <a:cubicBezTo>
                      <a:pt x="48" y="9"/>
                      <a:pt x="46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/>
                </a:endParaRPr>
              </a:p>
            </p:txBody>
          </p:sp>
        </p:grpSp>
      </p:grp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6C6E088-5100-0E03-23CA-86FDA2867B4E}"/>
              </a:ext>
            </a:extLst>
          </p:cNvPr>
          <p:cNvSpPr/>
          <p:nvPr/>
        </p:nvSpPr>
        <p:spPr>
          <a:xfrm>
            <a:off x="8685604" y="3335738"/>
            <a:ext cx="3412877" cy="157489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tIns="45720" rIns="45720" bIns="45720" rtlCol="0" anchor="ctr">
            <a:spAutoFit/>
          </a:bodyPr>
          <a:lstStyle/>
          <a:p>
            <a:pPr algn="ctr" defTabSz="228600">
              <a:spcAft>
                <a:spcPts val="1200"/>
              </a:spcAft>
              <a:defRPr/>
            </a:pPr>
            <a:r>
              <a:rPr lang="en-US" sz="1200" b="1" dirty="0">
                <a:solidFill>
                  <a:srgbClr val="7500C0"/>
                </a:solidFill>
                <a:latin typeface="Graphik"/>
              </a:rPr>
              <a:t>What the system handles                                               in the background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50" dirty="0">
                <a:solidFill>
                  <a:schemeClr val="tx1"/>
                </a:solidFill>
                <a:latin typeface="Graphik" panose="020B0503030202060203" pitchFamily="34" charset="0"/>
              </a:rPr>
              <a:t>The QuickBase platform uses Single Sign-On (SSO), so your Prudential credentials automatically authenticate you and provide direct access to the Claims application, and no additional login is required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E6089EE-41DB-5BBC-89A2-2D17320698E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767185" y="3406597"/>
            <a:ext cx="300413" cy="300410"/>
            <a:chOff x="3438" y="437"/>
            <a:chExt cx="428" cy="428"/>
          </a:xfrm>
          <a:solidFill>
            <a:srgbClr val="7500C0"/>
          </a:solidFill>
        </p:grpSpPr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id="{3864EDF8-3BFC-3763-CBF7-6D8EE4B9BD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8" y="439"/>
              <a:ext cx="427" cy="426"/>
            </a:xfrm>
            <a:custGeom>
              <a:avLst/>
              <a:gdLst>
                <a:gd name="T0" fmla="*/ 126 w 288"/>
                <a:gd name="T1" fmla="*/ 288 h 288"/>
                <a:gd name="T2" fmla="*/ 120 w 288"/>
                <a:gd name="T3" fmla="*/ 247 h 288"/>
                <a:gd name="T4" fmla="*/ 67 w 288"/>
                <a:gd name="T5" fmla="*/ 262 h 288"/>
                <a:gd name="T6" fmla="*/ 25 w 288"/>
                <a:gd name="T7" fmla="*/ 229 h 288"/>
                <a:gd name="T8" fmla="*/ 25 w 288"/>
                <a:gd name="T9" fmla="*/ 220 h 288"/>
                <a:gd name="T10" fmla="*/ 40 w 288"/>
                <a:gd name="T11" fmla="*/ 168 h 288"/>
                <a:gd name="T12" fmla="*/ 0 w 288"/>
                <a:gd name="T13" fmla="*/ 162 h 288"/>
                <a:gd name="T14" fmla="*/ 6 w 288"/>
                <a:gd name="T15" fmla="*/ 120 h 288"/>
                <a:gd name="T16" fmla="*/ 49 w 288"/>
                <a:gd name="T17" fmla="*/ 92 h 288"/>
                <a:gd name="T18" fmla="*/ 23 w 288"/>
                <a:gd name="T19" fmla="*/ 63 h 288"/>
                <a:gd name="T20" fmla="*/ 59 w 288"/>
                <a:gd name="T21" fmla="*/ 25 h 288"/>
                <a:gd name="T22" fmla="*/ 92 w 288"/>
                <a:gd name="T23" fmla="*/ 49 h 288"/>
                <a:gd name="T24" fmla="*/ 120 w 288"/>
                <a:gd name="T25" fmla="*/ 6 h 288"/>
                <a:gd name="T26" fmla="*/ 162 w 288"/>
                <a:gd name="T27" fmla="*/ 0 h 288"/>
                <a:gd name="T28" fmla="*/ 168 w 288"/>
                <a:gd name="T29" fmla="*/ 40 h 288"/>
                <a:gd name="T30" fmla="*/ 202 w 288"/>
                <a:gd name="T31" fmla="*/ 60 h 288"/>
                <a:gd name="T32" fmla="*/ 160 w 288"/>
                <a:gd name="T33" fmla="*/ 50 h 288"/>
                <a:gd name="T34" fmla="*/ 156 w 288"/>
                <a:gd name="T35" fmla="*/ 12 h 288"/>
                <a:gd name="T36" fmla="*/ 132 w 288"/>
                <a:gd name="T37" fmla="*/ 45 h 288"/>
                <a:gd name="T38" fmla="*/ 94 w 288"/>
                <a:gd name="T39" fmla="*/ 62 h 288"/>
                <a:gd name="T40" fmla="*/ 63 w 288"/>
                <a:gd name="T41" fmla="*/ 38 h 288"/>
                <a:gd name="T42" fmla="*/ 61 w 288"/>
                <a:gd name="T43" fmla="*/ 86 h 288"/>
                <a:gd name="T44" fmla="*/ 51 w 288"/>
                <a:gd name="T45" fmla="*/ 127 h 288"/>
                <a:gd name="T46" fmla="*/ 12 w 288"/>
                <a:gd name="T47" fmla="*/ 132 h 288"/>
                <a:gd name="T48" fmla="*/ 45 w 288"/>
                <a:gd name="T49" fmla="*/ 156 h 288"/>
                <a:gd name="T50" fmla="*/ 62 w 288"/>
                <a:gd name="T51" fmla="*/ 194 h 288"/>
                <a:gd name="T52" fmla="*/ 38 w 288"/>
                <a:gd name="T53" fmla="*/ 224 h 288"/>
                <a:gd name="T54" fmla="*/ 87 w 288"/>
                <a:gd name="T55" fmla="*/ 226 h 288"/>
                <a:gd name="T56" fmla="*/ 127 w 288"/>
                <a:gd name="T57" fmla="*/ 237 h 288"/>
                <a:gd name="T58" fmla="*/ 132 w 288"/>
                <a:gd name="T59" fmla="*/ 276 h 288"/>
                <a:gd name="T60" fmla="*/ 156 w 288"/>
                <a:gd name="T61" fmla="*/ 243 h 288"/>
                <a:gd name="T62" fmla="*/ 194 w 288"/>
                <a:gd name="T63" fmla="*/ 226 h 288"/>
                <a:gd name="T64" fmla="*/ 224 w 288"/>
                <a:gd name="T65" fmla="*/ 250 h 288"/>
                <a:gd name="T66" fmla="*/ 227 w 288"/>
                <a:gd name="T67" fmla="*/ 201 h 288"/>
                <a:gd name="T68" fmla="*/ 237 w 288"/>
                <a:gd name="T69" fmla="*/ 160 h 288"/>
                <a:gd name="T70" fmla="*/ 276 w 288"/>
                <a:gd name="T71" fmla="*/ 156 h 288"/>
                <a:gd name="T72" fmla="*/ 243 w 288"/>
                <a:gd name="T73" fmla="*/ 132 h 288"/>
                <a:gd name="T74" fmla="*/ 231 w 288"/>
                <a:gd name="T75" fmla="*/ 107 h 288"/>
                <a:gd name="T76" fmla="*/ 243 w 288"/>
                <a:gd name="T77" fmla="*/ 103 h 288"/>
                <a:gd name="T78" fmla="*/ 282 w 288"/>
                <a:gd name="T79" fmla="*/ 120 h 288"/>
                <a:gd name="T80" fmla="*/ 288 w 288"/>
                <a:gd name="T81" fmla="*/ 162 h 288"/>
                <a:gd name="T82" fmla="*/ 248 w 288"/>
                <a:gd name="T83" fmla="*/ 168 h 288"/>
                <a:gd name="T84" fmla="*/ 263 w 288"/>
                <a:gd name="T85" fmla="*/ 220 h 288"/>
                <a:gd name="T86" fmla="*/ 229 w 288"/>
                <a:gd name="T87" fmla="*/ 262 h 288"/>
                <a:gd name="T88" fmla="*/ 196 w 288"/>
                <a:gd name="T89" fmla="*/ 238 h 288"/>
                <a:gd name="T90" fmla="*/ 168 w 288"/>
                <a:gd name="T91" fmla="*/ 282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88" h="288">
                  <a:moveTo>
                    <a:pt x="162" y="288"/>
                  </a:moveTo>
                  <a:cubicBezTo>
                    <a:pt x="126" y="288"/>
                    <a:pt x="126" y="288"/>
                    <a:pt x="126" y="288"/>
                  </a:cubicBezTo>
                  <a:cubicBezTo>
                    <a:pt x="123" y="288"/>
                    <a:pt x="120" y="285"/>
                    <a:pt x="120" y="282"/>
                  </a:cubicBezTo>
                  <a:cubicBezTo>
                    <a:pt x="120" y="247"/>
                    <a:pt x="120" y="247"/>
                    <a:pt x="120" y="247"/>
                  </a:cubicBezTo>
                  <a:cubicBezTo>
                    <a:pt x="110" y="245"/>
                    <a:pt x="100" y="242"/>
                    <a:pt x="92" y="238"/>
                  </a:cubicBezTo>
                  <a:cubicBezTo>
                    <a:pt x="67" y="262"/>
                    <a:pt x="67" y="262"/>
                    <a:pt x="67" y="262"/>
                  </a:cubicBezTo>
                  <a:cubicBezTo>
                    <a:pt x="65" y="265"/>
                    <a:pt x="61" y="265"/>
                    <a:pt x="59" y="262"/>
                  </a:cubicBezTo>
                  <a:cubicBezTo>
                    <a:pt x="25" y="229"/>
                    <a:pt x="25" y="229"/>
                    <a:pt x="25" y="229"/>
                  </a:cubicBezTo>
                  <a:cubicBezTo>
                    <a:pt x="24" y="227"/>
                    <a:pt x="23" y="226"/>
                    <a:pt x="23" y="224"/>
                  </a:cubicBezTo>
                  <a:cubicBezTo>
                    <a:pt x="23" y="223"/>
                    <a:pt x="24" y="221"/>
                    <a:pt x="25" y="220"/>
                  </a:cubicBezTo>
                  <a:cubicBezTo>
                    <a:pt x="49" y="196"/>
                    <a:pt x="49" y="196"/>
                    <a:pt x="49" y="196"/>
                  </a:cubicBezTo>
                  <a:cubicBezTo>
                    <a:pt x="46" y="188"/>
                    <a:pt x="43" y="177"/>
                    <a:pt x="40" y="168"/>
                  </a:cubicBezTo>
                  <a:cubicBezTo>
                    <a:pt x="6" y="168"/>
                    <a:pt x="6" y="168"/>
                    <a:pt x="6" y="168"/>
                  </a:cubicBezTo>
                  <a:cubicBezTo>
                    <a:pt x="3" y="168"/>
                    <a:pt x="0" y="165"/>
                    <a:pt x="0" y="162"/>
                  </a:cubicBezTo>
                  <a:cubicBezTo>
                    <a:pt x="0" y="126"/>
                    <a:pt x="0" y="126"/>
                    <a:pt x="0" y="126"/>
                  </a:cubicBezTo>
                  <a:cubicBezTo>
                    <a:pt x="0" y="122"/>
                    <a:pt x="3" y="120"/>
                    <a:pt x="6" y="120"/>
                  </a:cubicBezTo>
                  <a:cubicBezTo>
                    <a:pt x="40" y="120"/>
                    <a:pt x="40" y="120"/>
                    <a:pt x="40" y="120"/>
                  </a:cubicBezTo>
                  <a:cubicBezTo>
                    <a:pt x="43" y="110"/>
                    <a:pt x="46" y="100"/>
                    <a:pt x="49" y="92"/>
                  </a:cubicBezTo>
                  <a:cubicBezTo>
                    <a:pt x="25" y="67"/>
                    <a:pt x="25" y="67"/>
                    <a:pt x="25" y="67"/>
                  </a:cubicBezTo>
                  <a:cubicBezTo>
                    <a:pt x="24" y="66"/>
                    <a:pt x="23" y="65"/>
                    <a:pt x="23" y="63"/>
                  </a:cubicBezTo>
                  <a:cubicBezTo>
                    <a:pt x="23" y="61"/>
                    <a:pt x="24" y="60"/>
                    <a:pt x="25" y="59"/>
                  </a:cubicBezTo>
                  <a:cubicBezTo>
                    <a:pt x="59" y="25"/>
                    <a:pt x="59" y="25"/>
                    <a:pt x="59" y="25"/>
                  </a:cubicBezTo>
                  <a:cubicBezTo>
                    <a:pt x="61" y="23"/>
                    <a:pt x="65" y="23"/>
                    <a:pt x="67" y="25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100" y="45"/>
                    <a:pt x="110" y="42"/>
                    <a:pt x="120" y="40"/>
                  </a:cubicBezTo>
                  <a:cubicBezTo>
                    <a:pt x="120" y="6"/>
                    <a:pt x="120" y="6"/>
                    <a:pt x="120" y="6"/>
                  </a:cubicBezTo>
                  <a:cubicBezTo>
                    <a:pt x="120" y="2"/>
                    <a:pt x="123" y="0"/>
                    <a:pt x="126" y="0"/>
                  </a:cubicBezTo>
                  <a:cubicBezTo>
                    <a:pt x="162" y="0"/>
                    <a:pt x="162" y="0"/>
                    <a:pt x="162" y="0"/>
                  </a:cubicBezTo>
                  <a:cubicBezTo>
                    <a:pt x="165" y="0"/>
                    <a:pt x="168" y="2"/>
                    <a:pt x="168" y="6"/>
                  </a:cubicBezTo>
                  <a:cubicBezTo>
                    <a:pt x="168" y="40"/>
                    <a:pt x="168" y="40"/>
                    <a:pt x="168" y="40"/>
                  </a:cubicBezTo>
                  <a:cubicBezTo>
                    <a:pt x="179" y="43"/>
                    <a:pt x="192" y="47"/>
                    <a:pt x="200" y="52"/>
                  </a:cubicBezTo>
                  <a:cubicBezTo>
                    <a:pt x="203" y="53"/>
                    <a:pt x="204" y="57"/>
                    <a:pt x="202" y="60"/>
                  </a:cubicBezTo>
                  <a:cubicBezTo>
                    <a:pt x="200" y="63"/>
                    <a:pt x="197" y="63"/>
                    <a:pt x="194" y="62"/>
                  </a:cubicBezTo>
                  <a:cubicBezTo>
                    <a:pt x="186" y="57"/>
                    <a:pt x="171" y="53"/>
                    <a:pt x="160" y="50"/>
                  </a:cubicBezTo>
                  <a:cubicBezTo>
                    <a:pt x="158" y="50"/>
                    <a:pt x="156" y="47"/>
                    <a:pt x="156" y="45"/>
                  </a:cubicBezTo>
                  <a:cubicBezTo>
                    <a:pt x="156" y="12"/>
                    <a:pt x="156" y="12"/>
                    <a:pt x="156" y="12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7"/>
                    <a:pt x="130" y="50"/>
                    <a:pt x="127" y="50"/>
                  </a:cubicBezTo>
                  <a:cubicBezTo>
                    <a:pt x="117" y="53"/>
                    <a:pt x="102" y="57"/>
                    <a:pt x="94" y="62"/>
                  </a:cubicBezTo>
                  <a:cubicBezTo>
                    <a:pt x="92" y="63"/>
                    <a:pt x="89" y="63"/>
                    <a:pt x="87" y="61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61" y="86"/>
                    <a:pt x="61" y="86"/>
                    <a:pt x="61" y="86"/>
                  </a:cubicBezTo>
                  <a:cubicBezTo>
                    <a:pt x="63" y="88"/>
                    <a:pt x="63" y="91"/>
                    <a:pt x="62" y="94"/>
                  </a:cubicBezTo>
                  <a:cubicBezTo>
                    <a:pt x="57" y="103"/>
                    <a:pt x="52" y="120"/>
                    <a:pt x="51" y="127"/>
                  </a:cubicBezTo>
                  <a:cubicBezTo>
                    <a:pt x="50" y="130"/>
                    <a:pt x="48" y="132"/>
                    <a:pt x="45" y="132"/>
                  </a:cubicBezTo>
                  <a:cubicBezTo>
                    <a:pt x="12" y="132"/>
                    <a:pt x="12" y="132"/>
                    <a:pt x="12" y="132"/>
                  </a:cubicBezTo>
                  <a:cubicBezTo>
                    <a:pt x="12" y="156"/>
                    <a:pt x="12" y="156"/>
                    <a:pt x="12" y="156"/>
                  </a:cubicBezTo>
                  <a:cubicBezTo>
                    <a:pt x="45" y="156"/>
                    <a:pt x="45" y="156"/>
                    <a:pt x="45" y="156"/>
                  </a:cubicBezTo>
                  <a:cubicBezTo>
                    <a:pt x="48" y="156"/>
                    <a:pt x="50" y="158"/>
                    <a:pt x="51" y="160"/>
                  </a:cubicBezTo>
                  <a:cubicBezTo>
                    <a:pt x="52" y="167"/>
                    <a:pt x="57" y="185"/>
                    <a:pt x="62" y="194"/>
                  </a:cubicBezTo>
                  <a:cubicBezTo>
                    <a:pt x="63" y="196"/>
                    <a:pt x="63" y="199"/>
                    <a:pt x="61" y="201"/>
                  </a:cubicBezTo>
                  <a:cubicBezTo>
                    <a:pt x="38" y="224"/>
                    <a:pt x="38" y="224"/>
                    <a:pt x="38" y="224"/>
                  </a:cubicBezTo>
                  <a:cubicBezTo>
                    <a:pt x="63" y="250"/>
                    <a:pt x="63" y="250"/>
                    <a:pt x="63" y="250"/>
                  </a:cubicBezTo>
                  <a:cubicBezTo>
                    <a:pt x="87" y="226"/>
                    <a:pt x="87" y="226"/>
                    <a:pt x="87" y="226"/>
                  </a:cubicBezTo>
                  <a:cubicBezTo>
                    <a:pt x="88" y="224"/>
                    <a:pt x="92" y="224"/>
                    <a:pt x="94" y="226"/>
                  </a:cubicBezTo>
                  <a:cubicBezTo>
                    <a:pt x="103" y="231"/>
                    <a:pt x="121" y="235"/>
                    <a:pt x="127" y="237"/>
                  </a:cubicBezTo>
                  <a:cubicBezTo>
                    <a:pt x="130" y="238"/>
                    <a:pt x="132" y="240"/>
                    <a:pt x="132" y="243"/>
                  </a:cubicBezTo>
                  <a:cubicBezTo>
                    <a:pt x="132" y="276"/>
                    <a:pt x="132" y="276"/>
                    <a:pt x="132" y="276"/>
                  </a:cubicBezTo>
                  <a:cubicBezTo>
                    <a:pt x="156" y="276"/>
                    <a:pt x="156" y="276"/>
                    <a:pt x="156" y="276"/>
                  </a:cubicBezTo>
                  <a:cubicBezTo>
                    <a:pt x="156" y="243"/>
                    <a:pt x="156" y="243"/>
                    <a:pt x="156" y="243"/>
                  </a:cubicBezTo>
                  <a:cubicBezTo>
                    <a:pt x="156" y="240"/>
                    <a:pt x="158" y="238"/>
                    <a:pt x="160" y="237"/>
                  </a:cubicBezTo>
                  <a:cubicBezTo>
                    <a:pt x="167" y="235"/>
                    <a:pt x="185" y="231"/>
                    <a:pt x="194" y="226"/>
                  </a:cubicBezTo>
                  <a:cubicBezTo>
                    <a:pt x="196" y="224"/>
                    <a:pt x="199" y="224"/>
                    <a:pt x="201" y="226"/>
                  </a:cubicBezTo>
                  <a:cubicBezTo>
                    <a:pt x="224" y="250"/>
                    <a:pt x="224" y="250"/>
                    <a:pt x="224" y="250"/>
                  </a:cubicBezTo>
                  <a:cubicBezTo>
                    <a:pt x="250" y="224"/>
                    <a:pt x="250" y="224"/>
                    <a:pt x="250" y="224"/>
                  </a:cubicBezTo>
                  <a:cubicBezTo>
                    <a:pt x="227" y="201"/>
                    <a:pt x="227" y="201"/>
                    <a:pt x="227" y="201"/>
                  </a:cubicBezTo>
                  <a:cubicBezTo>
                    <a:pt x="225" y="199"/>
                    <a:pt x="224" y="196"/>
                    <a:pt x="226" y="194"/>
                  </a:cubicBezTo>
                  <a:cubicBezTo>
                    <a:pt x="231" y="185"/>
                    <a:pt x="235" y="167"/>
                    <a:pt x="237" y="160"/>
                  </a:cubicBezTo>
                  <a:cubicBezTo>
                    <a:pt x="238" y="158"/>
                    <a:pt x="240" y="156"/>
                    <a:pt x="243" y="156"/>
                  </a:cubicBezTo>
                  <a:cubicBezTo>
                    <a:pt x="276" y="156"/>
                    <a:pt x="276" y="156"/>
                    <a:pt x="276" y="156"/>
                  </a:cubicBezTo>
                  <a:cubicBezTo>
                    <a:pt x="276" y="132"/>
                    <a:pt x="276" y="132"/>
                    <a:pt x="276" y="132"/>
                  </a:cubicBezTo>
                  <a:cubicBezTo>
                    <a:pt x="243" y="132"/>
                    <a:pt x="243" y="132"/>
                    <a:pt x="243" y="132"/>
                  </a:cubicBezTo>
                  <a:cubicBezTo>
                    <a:pt x="240" y="132"/>
                    <a:pt x="238" y="130"/>
                    <a:pt x="237" y="127"/>
                  </a:cubicBezTo>
                  <a:cubicBezTo>
                    <a:pt x="236" y="121"/>
                    <a:pt x="234" y="114"/>
                    <a:pt x="231" y="107"/>
                  </a:cubicBezTo>
                  <a:cubicBezTo>
                    <a:pt x="230" y="103"/>
                    <a:pt x="232" y="100"/>
                    <a:pt x="235" y="99"/>
                  </a:cubicBezTo>
                  <a:cubicBezTo>
                    <a:pt x="238" y="98"/>
                    <a:pt x="242" y="100"/>
                    <a:pt x="243" y="103"/>
                  </a:cubicBezTo>
                  <a:cubicBezTo>
                    <a:pt x="245" y="108"/>
                    <a:pt x="246" y="114"/>
                    <a:pt x="248" y="120"/>
                  </a:cubicBezTo>
                  <a:cubicBezTo>
                    <a:pt x="282" y="120"/>
                    <a:pt x="282" y="120"/>
                    <a:pt x="282" y="120"/>
                  </a:cubicBezTo>
                  <a:cubicBezTo>
                    <a:pt x="285" y="120"/>
                    <a:pt x="288" y="122"/>
                    <a:pt x="288" y="126"/>
                  </a:cubicBezTo>
                  <a:cubicBezTo>
                    <a:pt x="288" y="162"/>
                    <a:pt x="288" y="162"/>
                    <a:pt x="288" y="162"/>
                  </a:cubicBezTo>
                  <a:cubicBezTo>
                    <a:pt x="288" y="165"/>
                    <a:pt x="285" y="168"/>
                    <a:pt x="282" y="168"/>
                  </a:cubicBezTo>
                  <a:cubicBezTo>
                    <a:pt x="248" y="168"/>
                    <a:pt x="248" y="168"/>
                    <a:pt x="248" y="168"/>
                  </a:cubicBezTo>
                  <a:cubicBezTo>
                    <a:pt x="245" y="177"/>
                    <a:pt x="242" y="188"/>
                    <a:pt x="238" y="196"/>
                  </a:cubicBezTo>
                  <a:cubicBezTo>
                    <a:pt x="263" y="220"/>
                    <a:pt x="263" y="220"/>
                    <a:pt x="263" y="220"/>
                  </a:cubicBezTo>
                  <a:cubicBezTo>
                    <a:pt x="265" y="222"/>
                    <a:pt x="265" y="226"/>
                    <a:pt x="263" y="229"/>
                  </a:cubicBezTo>
                  <a:cubicBezTo>
                    <a:pt x="229" y="262"/>
                    <a:pt x="229" y="262"/>
                    <a:pt x="229" y="262"/>
                  </a:cubicBezTo>
                  <a:cubicBezTo>
                    <a:pt x="226" y="265"/>
                    <a:pt x="223" y="265"/>
                    <a:pt x="220" y="262"/>
                  </a:cubicBezTo>
                  <a:cubicBezTo>
                    <a:pt x="196" y="238"/>
                    <a:pt x="196" y="238"/>
                    <a:pt x="196" y="238"/>
                  </a:cubicBezTo>
                  <a:cubicBezTo>
                    <a:pt x="188" y="242"/>
                    <a:pt x="177" y="245"/>
                    <a:pt x="168" y="247"/>
                  </a:cubicBezTo>
                  <a:cubicBezTo>
                    <a:pt x="168" y="282"/>
                    <a:pt x="168" y="282"/>
                    <a:pt x="168" y="282"/>
                  </a:cubicBezTo>
                  <a:cubicBezTo>
                    <a:pt x="168" y="285"/>
                    <a:pt x="165" y="288"/>
                    <a:pt x="162" y="2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</a:endParaRPr>
            </a:p>
          </p:txBody>
        </p:sp>
        <p:sp>
          <p:nvSpPr>
            <p:cNvPr id="40" name="Freeform 35">
              <a:extLst>
                <a:ext uri="{FF2B5EF4-FFF2-40B4-BE49-F238E27FC236}">
                  <a16:creationId xmlns:a16="http://schemas.microsoft.com/office/drawing/2014/main" id="{571DF0F8-11C2-449A-7CE3-43022DC951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7" y="437"/>
              <a:ext cx="299" cy="265"/>
            </a:xfrm>
            <a:custGeom>
              <a:avLst/>
              <a:gdLst>
                <a:gd name="T0" fmla="*/ 61 w 202"/>
                <a:gd name="T1" fmla="*/ 179 h 179"/>
                <a:gd name="T2" fmla="*/ 56 w 202"/>
                <a:gd name="T3" fmla="*/ 177 h 179"/>
                <a:gd name="T4" fmla="*/ 3 w 202"/>
                <a:gd name="T5" fmla="*/ 124 h 179"/>
                <a:gd name="T6" fmla="*/ 3 w 202"/>
                <a:gd name="T7" fmla="*/ 115 h 179"/>
                <a:gd name="T8" fmla="*/ 11 w 202"/>
                <a:gd name="T9" fmla="*/ 115 h 179"/>
                <a:gd name="T10" fmla="*/ 60 w 202"/>
                <a:gd name="T11" fmla="*/ 164 h 179"/>
                <a:gd name="T12" fmla="*/ 190 w 202"/>
                <a:gd name="T13" fmla="*/ 3 h 179"/>
                <a:gd name="T14" fmla="*/ 199 w 202"/>
                <a:gd name="T15" fmla="*/ 2 h 179"/>
                <a:gd name="T16" fmla="*/ 200 w 202"/>
                <a:gd name="T17" fmla="*/ 10 h 179"/>
                <a:gd name="T18" fmla="*/ 65 w 202"/>
                <a:gd name="T19" fmla="*/ 177 h 179"/>
                <a:gd name="T20" fmla="*/ 61 w 202"/>
                <a:gd name="T21" fmla="*/ 179 h 179"/>
                <a:gd name="T22" fmla="*/ 61 w 202"/>
                <a:gd name="T23" fmla="*/ 179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2" h="179">
                  <a:moveTo>
                    <a:pt x="61" y="179"/>
                  </a:moveTo>
                  <a:cubicBezTo>
                    <a:pt x="59" y="179"/>
                    <a:pt x="57" y="179"/>
                    <a:pt x="56" y="177"/>
                  </a:cubicBezTo>
                  <a:cubicBezTo>
                    <a:pt x="3" y="124"/>
                    <a:pt x="3" y="124"/>
                    <a:pt x="3" y="124"/>
                  </a:cubicBezTo>
                  <a:cubicBezTo>
                    <a:pt x="0" y="121"/>
                    <a:pt x="0" y="118"/>
                    <a:pt x="3" y="115"/>
                  </a:cubicBezTo>
                  <a:cubicBezTo>
                    <a:pt x="5" y="113"/>
                    <a:pt x="9" y="113"/>
                    <a:pt x="11" y="115"/>
                  </a:cubicBezTo>
                  <a:cubicBezTo>
                    <a:pt x="60" y="164"/>
                    <a:pt x="60" y="164"/>
                    <a:pt x="60" y="164"/>
                  </a:cubicBezTo>
                  <a:cubicBezTo>
                    <a:pt x="190" y="3"/>
                    <a:pt x="190" y="3"/>
                    <a:pt x="190" y="3"/>
                  </a:cubicBezTo>
                  <a:cubicBezTo>
                    <a:pt x="192" y="0"/>
                    <a:pt x="196" y="0"/>
                    <a:pt x="199" y="2"/>
                  </a:cubicBezTo>
                  <a:cubicBezTo>
                    <a:pt x="201" y="4"/>
                    <a:pt x="202" y="8"/>
                    <a:pt x="200" y="10"/>
                  </a:cubicBezTo>
                  <a:cubicBezTo>
                    <a:pt x="65" y="177"/>
                    <a:pt x="65" y="177"/>
                    <a:pt x="65" y="177"/>
                  </a:cubicBezTo>
                  <a:cubicBezTo>
                    <a:pt x="64" y="178"/>
                    <a:pt x="63" y="179"/>
                    <a:pt x="61" y="179"/>
                  </a:cubicBezTo>
                  <a:cubicBezTo>
                    <a:pt x="61" y="179"/>
                    <a:pt x="61" y="179"/>
                    <a:pt x="61" y="17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</a:endParaRPr>
            </a:p>
          </p:txBody>
        </p:sp>
      </p:grpSp>
      <p:pic>
        <p:nvPicPr>
          <p:cNvPr id="42" name="Graphic 41" descr="User with solid fill">
            <a:extLst>
              <a:ext uri="{FF2B5EF4-FFF2-40B4-BE49-F238E27FC236}">
                <a16:creationId xmlns:a16="http://schemas.microsoft.com/office/drawing/2014/main" id="{5CA1C473-3178-7B6B-E683-106E46D7DE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66786" y="1578856"/>
            <a:ext cx="426575" cy="426575"/>
          </a:xfrm>
          <a:prstGeom prst="rect">
            <a:avLst/>
          </a:prstGeom>
        </p:spPr>
      </p:pic>
      <p:sp>
        <p:nvSpPr>
          <p:cNvPr id="45" name="Arrow: Left 44">
            <a:hlinkClick r:id="rId6" action="ppaction://hlinksldjump"/>
            <a:extLst>
              <a:ext uri="{FF2B5EF4-FFF2-40B4-BE49-F238E27FC236}">
                <a16:creationId xmlns:a16="http://schemas.microsoft.com/office/drawing/2014/main" id="{D2C14E42-7766-D5EC-0EE0-4DC766A0717A}"/>
              </a:ext>
            </a:extLst>
          </p:cNvPr>
          <p:cNvSpPr/>
          <p:nvPr/>
        </p:nvSpPr>
        <p:spPr>
          <a:xfrm>
            <a:off x="11506534" y="193325"/>
            <a:ext cx="475048" cy="319931"/>
          </a:xfrm>
          <a:prstGeom prst="leftArrow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7837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FDC0A-ED71-7E60-3B5C-8F5E87759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AF65A7-E0AA-EC76-84B8-AFE5C03B63B8}"/>
              </a:ext>
            </a:extLst>
          </p:cNvPr>
          <p:cNvSpPr/>
          <p:nvPr/>
        </p:nvSpPr>
        <p:spPr>
          <a:xfrm>
            <a:off x="0" y="1"/>
            <a:ext cx="12191996" cy="6858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69F8A31-87DA-87BD-3EEF-95BBC4A8BF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26" y="100629"/>
            <a:ext cx="12032184" cy="4416214"/>
          </a:xfrm>
          <a:prstGeom prst="rect">
            <a:avLst/>
          </a:prstGeom>
        </p:spPr>
      </p:pic>
      <p:pic>
        <p:nvPicPr>
          <p:cNvPr id="14" name="Picture 13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5DAE8A02-1803-57FE-342E-E3B8ACBA658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482516"/>
            <a:ext cx="192024" cy="2023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9E65504-D17C-3631-AAC8-23AD26F15266}"/>
              </a:ext>
            </a:extLst>
          </p:cNvPr>
          <p:cNvSpPr txBox="1"/>
          <p:nvPr/>
        </p:nvSpPr>
        <p:spPr>
          <a:xfrm>
            <a:off x="573024" y="4593932"/>
            <a:ext cx="6254327" cy="2058591"/>
          </a:xfrm>
          <a:prstGeom prst="rect">
            <a:avLst/>
          </a:prstGeom>
          <a:noFill/>
        </p:spPr>
        <p:txBody>
          <a:bodyPr wrap="square" lIns="0" tIns="0" rIns="0" bIns="0" numCol="1" rtlCol="0" anchor="ctr">
            <a:noAutofit/>
          </a:bodyPr>
          <a:lstStyle/>
          <a:p>
            <a:pPr defTabSz="228600">
              <a:spcAft>
                <a:spcPts val="1200"/>
              </a:spcAft>
              <a:defRPr/>
            </a:pPr>
            <a:r>
              <a:rPr lang="en-US" sz="1400" b="1" dirty="0">
                <a:solidFill>
                  <a:srgbClr val="FFFFFF"/>
                </a:solidFill>
                <a:latin typeface="Graphik"/>
              </a:rPr>
              <a:t>What you need to do</a:t>
            </a:r>
          </a:p>
          <a:p>
            <a:pPr defTabSz="228600">
              <a:spcAft>
                <a:spcPts val="1200"/>
              </a:spcAft>
              <a:defRPr/>
            </a:pPr>
            <a:r>
              <a:rPr lang="en-US" sz="1200" b="1" dirty="0">
                <a:solidFill>
                  <a:srgbClr val="FFFFFF"/>
                </a:solidFill>
                <a:latin typeface="Graphik"/>
              </a:rPr>
              <a:t>Access Your Action Centre &amp; Get Work: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FFFFFF"/>
                </a:solidFill>
                <a:latin typeface="Graphik"/>
              </a:rPr>
              <a:t>After logging in, you land on the Dashboard, which serves as your action center, displaying open items, the “Get Work” option, and a detailed view of cases where you can take action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FFFFFF"/>
                </a:solidFill>
                <a:latin typeface="Graphik"/>
              </a:rPr>
              <a:t>To begin processing, click “Get Work”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FFFFFF"/>
                </a:solidFill>
                <a:latin typeface="Graphik"/>
              </a:rPr>
              <a:t>If a case is available for you, QuickBase will directly take you into that case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FFFFFF"/>
                </a:solidFill>
                <a:latin typeface="Graphik"/>
              </a:rPr>
              <a:t>If no case is available, the system will inform you accordingly</a:t>
            </a:r>
            <a:endParaRPr lang="en-US" sz="1200" b="1" dirty="0">
              <a:solidFill>
                <a:srgbClr val="FFFFFF"/>
              </a:solidFill>
              <a:latin typeface="Graphik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FAE1E1B-5F99-353F-54CF-CC27FF2A3E9C}"/>
              </a:ext>
            </a:extLst>
          </p:cNvPr>
          <p:cNvSpPr/>
          <p:nvPr/>
        </p:nvSpPr>
        <p:spPr>
          <a:xfrm>
            <a:off x="7086604" y="4684299"/>
            <a:ext cx="4873336" cy="208567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>
            <a:spAutoFit/>
          </a:bodyPr>
          <a:lstStyle/>
          <a:p>
            <a:pPr algn="ctr" defTabSz="228600">
              <a:spcAft>
                <a:spcPts val="1200"/>
              </a:spcAft>
              <a:defRPr/>
            </a:pPr>
            <a:r>
              <a:rPr lang="en-US" sz="1200" b="1" dirty="0">
                <a:solidFill>
                  <a:srgbClr val="7500C0"/>
                </a:solidFill>
                <a:latin typeface="Graphik"/>
              </a:rPr>
              <a:t>What the system handles in the background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50" dirty="0">
                <a:solidFill>
                  <a:schemeClr val="tx1"/>
                </a:solidFill>
                <a:latin typeface="Graphik" panose="020B0503030202060203" pitchFamily="34" charset="0"/>
              </a:rPr>
              <a:t>QuickBase applies a controlled, rules-based pull allocation model to decide which case you receive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50" dirty="0">
                <a:solidFill>
                  <a:schemeClr val="tx1"/>
                </a:solidFill>
                <a:latin typeface="Graphik" panose="020B0503030202060203" pitchFamily="34" charset="0"/>
              </a:rPr>
              <a:t>Cases are made allocation-ready and are assigned when you click Get Work, based on a rules-driven logic that considers: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dirty="0">
                <a:solidFill>
                  <a:schemeClr val="tx1"/>
                </a:solidFill>
                <a:latin typeface="Graphik" panose="020B0503030202060203" pitchFamily="34" charset="0"/>
              </a:rPr>
              <a:t>Group restrictions (onshore/offshore routing)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dirty="0">
                <a:solidFill>
                  <a:schemeClr val="tx1"/>
                </a:solidFill>
                <a:latin typeface="Graphik" panose="020B0503030202060203" pitchFamily="34" charset="0"/>
              </a:rPr>
              <a:t>Examiner priorities (group, product, channel)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dirty="0">
                <a:solidFill>
                  <a:schemeClr val="tx1"/>
                </a:solidFill>
                <a:latin typeface="Graphik" panose="020B0503030202060203" pitchFamily="34" charset="0"/>
              </a:rPr>
              <a:t>Product mapping and appeal handling configurations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dirty="0">
                <a:solidFill>
                  <a:schemeClr val="tx1"/>
                </a:solidFill>
                <a:latin typeface="Graphik" panose="020B0503030202060203" pitchFamily="34" charset="0"/>
              </a:rPr>
              <a:t>Aging, with FIFO applied within the same aging bucket to ensure the right cases are assigned in the correct order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DD3CF96-DEDD-9B75-8C12-8C0A1129C5BF}"/>
              </a:ext>
            </a:extLst>
          </p:cNvPr>
          <p:cNvGrpSpPr/>
          <p:nvPr/>
        </p:nvGrpSpPr>
        <p:grpSpPr>
          <a:xfrm>
            <a:off x="9719398" y="2497500"/>
            <a:ext cx="720000" cy="720000"/>
            <a:chOff x="13338894" y="1587234"/>
            <a:chExt cx="720000" cy="72000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63F840C-6A78-6F85-21E7-70C1C8A90906}"/>
                </a:ext>
              </a:extLst>
            </p:cNvPr>
            <p:cNvSpPr/>
            <p:nvPr/>
          </p:nvSpPr>
          <p:spPr>
            <a:xfrm flipV="1">
              <a:off x="13338894" y="1587234"/>
              <a:ext cx="720000" cy="720000"/>
            </a:xfrm>
            <a:prstGeom prst="ellipse">
              <a:avLst/>
            </a:prstGeom>
            <a:solidFill>
              <a:schemeClr val="bg1"/>
            </a:solidFill>
            <a:ln w="22225" cap="flat" cmpd="sng" algn="ctr">
              <a:solidFill>
                <a:srgbClr val="7500C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</a:endParaRPr>
            </a:p>
          </p:txBody>
        </p:sp>
        <p:grpSp>
          <p:nvGrpSpPr>
            <p:cNvPr id="15" name="Group 104">
              <a:extLst>
                <a:ext uri="{FF2B5EF4-FFF2-40B4-BE49-F238E27FC236}">
                  <a16:creationId xmlns:a16="http://schemas.microsoft.com/office/drawing/2014/main" id="{A041F76E-F1D0-ADE1-A004-F46F8CC5C69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524907" y="1698240"/>
              <a:ext cx="347973" cy="523184"/>
              <a:chOff x="1443" y="2997"/>
              <a:chExt cx="284" cy="427"/>
            </a:xfrm>
            <a:solidFill>
              <a:srgbClr val="7500C0"/>
            </a:solidFill>
          </p:grpSpPr>
          <p:sp>
            <p:nvSpPr>
              <p:cNvPr id="16" name="Freeform 105">
                <a:extLst>
                  <a:ext uri="{FF2B5EF4-FFF2-40B4-BE49-F238E27FC236}">
                    <a16:creationId xmlns:a16="http://schemas.microsoft.com/office/drawing/2014/main" id="{CCF311B0-4627-919B-C08A-F4927AA19D7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62" y="3104"/>
                <a:ext cx="261" cy="320"/>
              </a:xfrm>
              <a:custGeom>
                <a:avLst/>
                <a:gdLst>
                  <a:gd name="T0" fmla="*/ 155 w 176"/>
                  <a:gd name="T1" fmla="*/ 216 h 216"/>
                  <a:gd name="T2" fmla="*/ 59 w 176"/>
                  <a:gd name="T3" fmla="*/ 216 h 216"/>
                  <a:gd name="T4" fmla="*/ 54 w 176"/>
                  <a:gd name="T5" fmla="*/ 213 h 216"/>
                  <a:gd name="T6" fmla="*/ 6 w 176"/>
                  <a:gd name="T7" fmla="*/ 141 h 216"/>
                  <a:gd name="T8" fmla="*/ 4 w 176"/>
                  <a:gd name="T9" fmla="*/ 116 h 216"/>
                  <a:gd name="T10" fmla="*/ 17 w 176"/>
                  <a:gd name="T11" fmla="*/ 108 h 216"/>
                  <a:gd name="T12" fmla="*/ 59 w 176"/>
                  <a:gd name="T13" fmla="*/ 137 h 216"/>
                  <a:gd name="T14" fmla="*/ 59 w 176"/>
                  <a:gd name="T15" fmla="*/ 24 h 216"/>
                  <a:gd name="T16" fmla="*/ 83 w 176"/>
                  <a:gd name="T17" fmla="*/ 0 h 216"/>
                  <a:gd name="T18" fmla="*/ 107 w 176"/>
                  <a:gd name="T19" fmla="*/ 24 h 216"/>
                  <a:gd name="T20" fmla="*/ 107 w 176"/>
                  <a:gd name="T21" fmla="*/ 92 h 216"/>
                  <a:gd name="T22" fmla="*/ 156 w 176"/>
                  <a:gd name="T23" fmla="*/ 108 h 216"/>
                  <a:gd name="T24" fmla="*/ 173 w 176"/>
                  <a:gd name="T25" fmla="*/ 145 h 216"/>
                  <a:gd name="T26" fmla="*/ 161 w 176"/>
                  <a:gd name="T27" fmla="*/ 211 h 216"/>
                  <a:gd name="T28" fmla="*/ 155 w 176"/>
                  <a:gd name="T29" fmla="*/ 216 h 216"/>
                  <a:gd name="T30" fmla="*/ 62 w 176"/>
                  <a:gd name="T31" fmla="*/ 204 h 216"/>
                  <a:gd name="T32" fmla="*/ 150 w 176"/>
                  <a:gd name="T33" fmla="*/ 204 h 216"/>
                  <a:gd name="T34" fmla="*/ 161 w 176"/>
                  <a:gd name="T35" fmla="*/ 143 h 216"/>
                  <a:gd name="T36" fmla="*/ 152 w 176"/>
                  <a:gd name="T37" fmla="*/ 120 h 216"/>
                  <a:gd name="T38" fmla="*/ 99 w 176"/>
                  <a:gd name="T39" fmla="*/ 102 h 216"/>
                  <a:gd name="T40" fmla="*/ 95 w 176"/>
                  <a:gd name="T41" fmla="*/ 96 h 216"/>
                  <a:gd name="T42" fmla="*/ 95 w 176"/>
                  <a:gd name="T43" fmla="*/ 24 h 216"/>
                  <a:gd name="T44" fmla="*/ 83 w 176"/>
                  <a:gd name="T45" fmla="*/ 12 h 216"/>
                  <a:gd name="T46" fmla="*/ 71 w 176"/>
                  <a:gd name="T47" fmla="*/ 24 h 216"/>
                  <a:gd name="T48" fmla="*/ 71 w 176"/>
                  <a:gd name="T49" fmla="*/ 156 h 216"/>
                  <a:gd name="T50" fmla="*/ 67 w 176"/>
                  <a:gd name="T51" fmla="*/ 162 h 216"/>
                  <a:gd name="T52" fmla="*/ 60 w 176"/>
                  <a:gd name="T53" fmla="*/ 159 h 216"/>
                  <a:gd name="T54" fmla="*/ 17 w 176"/>
                  <a:gd name="T55" fmla="*/ 120 h 216"/>
                  <a:gd name="T56" fmla="*/ 14 w 176"/>
                  <a:gd name="T57" fmla="*/ 121 h 216"/>
                  <a:gd name="T58" fmla="*/ 16 w 176"/>
                  <a:gd name="T59" fmla="*/ 135 h 216"/>
                  <a:gd name="T60" fmla="*/ 62 w 176"/>
                  <a:gd name="T61" fmla="*/ 204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76" h="216">
                    <a:moveTo>
                      <a:pt x="155" y="216"/>
                    </a:moveTo>
                    <a:cubicBezTo>
                      <a:pt x="59" y="216"/>
                      <a:pt x="59" y="216"/>
                      <a:pt x="59" y="216"/>
                    </a:cubicBezTo>
                    <a:cubicBezTo>
                      <a:pt x="57" y="216"/>
                      <a:pt x="55" y="215"/>
                      <a:pt x="54" y="213"/>
                    </a:cubicBezTo>
                    <a:cubicBezTo>
                      <a:pt x="6" y="141"/>
                      <a:pt x="6" y="141"/>
                      <a:pt x="6" y="141"/>
                    </a:cubicBezTo>
                    <a:cubicBezTo>
                      <a:pt x="2" y="135"/>
                      <a:pt x="0" y="124"/>
                      <a:pt x="4" y="116"/>
                    </a:cubicBezTo>
                    <a:cubicBezTo>
                      <a:pt x="6" y="111"/>
                      <a:pt x="11" y="108"/>
                      <a:pt x="17" y="108"/>
                    </a:cubicBezTo>
                    <a:cubicBezTo>
                      <a:pt x="30" y="108"/>
                      <a:pt x="42" y="113"/>
                      <a:pt x="59" y="137"/>
                    </a:cubicBezTo>
                    <a:cubicBezTo>
                      <a:pt x="59" y="24"/>
                      <a:pt x="59" y="24"/>
                      <a:pt x="59" y="24"/>
                    </a:cubicBezTo>
                    <a:cubicBezTo>
                      <a:pt x="59" y="11"/>
                      <a:pt x="70" y="0"/>
                      <a:pt x="83" y="0"/>
                    </a:cubicBezTo>
                    <a:cubicBezTo>
                      <a:pt x="96" y="0"/>
                      <a:pt x="107" y="11"/>
                      <a:pt x="107" y="24"/>
                    </a:cubicBezTo>
                    <a:cubicBezTo>
                      <a:pt x="107" y="92"/>
                      <a:pt x="107" y="92"/>
                      <a:pt x="107" y="92"/>
                    </a:cubicBezTo>
                    <a:cubicBezTo>
                      <a:pt x="156" y="108"/>
                      <a:pt x="156" y="108"/>
                      <a:pt x="156" y="108"/>
                    </a:cubicBezTo>
                    <a:cubicBezTo>
                      <a:pt x="172" y="113"/>
                      <a:pt x="176" y="131"/>
                      <a:pt x="173" y="145"/>
                    </a:cubicBezTo>
                    <a:cubicBezTo>
                      <a:pt x="161" y="211"/>
                      <a:pt x="161" y="211"/>
                      <a:pt x="161" y="211"/>
                    </a:cubicBezTo>
                    <a:cubicBezTo>
                      <a:pt x="161" y="214"/>
                      <a:pt x="158" y="216"/>
                      <a:pt x="155" y="216"/>
                    </a:cubicBezTo>
                    <a:close/>
                    <a:moveTo>
                      <a:pt x="62" y="204"/>
                    </a:moveTo>
                    <a:cubicBezTo>
                      <a:pt x="150" y="204"/>
                      <a:pt x="150" y="204"/>
                      <a:pt x="150" y="204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3" y="134"/>
                      <a:pt x="161" y="123"/>
                      <a:pt x="152" y="120"/>
                    </a:cubicBezTo>
                    <a:cubicBezTo>
                      <a:pt x="99" y="102"/>
                      <a:pt x="99" y="102"/>
                      <a:pt x="99" y="102"/>
                    </a:cubicBezTo>
                    <a:cubicBezTo>
                      <a:pt x="97" y="101"/>
                      <a:pt x="95" y="99"/>
                      <a:pt x="95" y="96"/>
                    </a:cubicBezTo>
                    <a:cubicBezTo>
                      <a:pt x="95" y="24"/>
                      <a:pt x="95" y="24"/>
                      <a:pt x="95" y="24"/>
                    </a:cubicBezTo>
                    <a:cubicBezTo>
                      <a:pt x="95" y="17"/>
                      <a:pt x="90" y="12"/>
                      <a:pt x="83" y="12"/>
                    </a:cubicBezTo>
                    <a:cubicBezTo>
                      <a:pt x="77" y="12"/>
                      <a:pt x="71" y="18"/>
                      <a:pt x="71" y="24"/>
                    </a:cubicBezTo>
                    <a:cubicBezTo>
                      <a:pt x="71" y="156"/>
                      <a:pt x="71" y="156"/>
                      <a:pt x="71" y="156"/>
                    </a:cubicBezTo>
                    <a:cubicBezTo>
                      <a:pt x="71" y="159"/>
                      <a:pt x="69" y="161"/>
                      <a:pt x="67" y="162"/>
                    </a:cubicBezTo>
                    <a:cubicBezTo>
                      <a:pt x="64" y="163"/>
                      <a:pt x="62" y="162"/>
                      <a:pt x="60" y="159"/>
                    </a:cubicBezTo>
                    <a:cubicBezTo>
                      <a:pt x="37" y="123"/>
                      <a:pt x="26" y="120"/>
                      <a:pt x="17" y="120"/>
                    </a:cubicBezTo>
                    <a:cubicBezTo>
                      <a:pt x="15" y="120"/>
                      <a:pt x="15" y="121"/>
                      <a:pt x="14" y="121"/>
                    </a:cubicBezTo>
                    <a:cubicBezTo>
                      <a:pt x="13" y="124"/>
                      <a:pt x="14" y="131"/>
                      <a:pt x="16" y="135"/>
                    </a:cubicBezTo>
                    <a:lnTo>
                      <a:pt x="62" y="20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/>
                </a:endParaRPr>
              </a:p>
            </p:txBody>
          </p:sp>
          <p:sp>
            <p:nvSpPr>
              <p:cNvPr id="17" name="Freeform 106">
                <a:extLst>
                  <a:ext uri="{FF2B5EF4-FFF2-40B4-BE49-F238E27FC236}">
                    <a16:creationId xmlns:a16="http://schemas.microsoft.com/office/drawing/2014/main" id="{8208AF45-D423-A2A3-CF97-BE226FDDDF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6" y="3122"/>
                <a:ext cx="71" cy="17"/>
              </a:xfrm>
              <a:custGeom>
                <a:avLst/>
                <a:gdLst>
                  <a:gd name="T0" fmla="*/ 42 w 48"/>
                  <a:gd name="T1" fmla="*/ 12 h 12"/>
                  <a:gd name="T2" fmla="*/ 6 w 48"/>
                  <a:gd name="T3" fmla="*/ 12 h 12"/>
                  <a:gd name="T4" fmla="*/ 0 w 48"/>
                  <a:gd name="T5" fmla="*/ 6 h 12"/>
                  <a:gd name="T6" fmla="*/ 6 w 48"/>
                  <a:gd name="T7" fmla="*/ 0 h 12"/>
                  <a:gd name="T8" fmla="*/ 42 w 48"/>
                  <a:gd name="T9" fmla="*/ 0 h 12"/>
                  <a:gd name="T10" fmla="*/ 48 w 48"/>
                  <a:gd name="T11" fmla="*/ 6 h 12"/>
                  <a:gd name="T12" fmla="*/ 42 w 48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12">
                    <a:moveTo>
                      <a:pt x="42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6" y="0"/>
                      <a:pt x="48" y="3"/>
                      <a:pt x="48" y="6"/>
                    </a:cubicBezTo>
                    <a:cubicBezTo>
                      <a:pt x="48" y="9"/>
                      <a:pt x="46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/>
                </a:endParaRPr>
              </a:p>
            </p:txBody>
          </p:sp>
          <p:sp>
            <p:nvSpPr>
              <p:cNvPr id="18" name="Freeform 107">
                <a:extLst>
                  <a:ext uri="{FF2B5EF4-FFF2-40B4-BE49-F238E27FC236}">
                    <a16:creationId xmlns:a16="http://schemas.microsoft.com/office/drawing/2014/main" id="{76C67B36-9DA8-E3A3-22DA-775E9A3648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8" y="3031"/>
                <a:ext cx="55" cy="55"/>
              </a:xfrm>
              <a:custGeom>
                <a:avLst/>
                <a:gdLst>
                  <a:gd name="T0" fmla="*/ 6 w 37"/>
                  <a:gd name="T1" fmla="*/ 37 h 37"/>
                  <a:gd name="T2" fmla="*/ 2 w 37"/>
                  <a:gd name="T3" fmla="*/ 35 h 37"/>
                  <a:gd name="T4" fmla="*/ 2 w 37"/>
                  <a:gd name="T5" fmla="*/ 27 h 37"/>
                  <a:gd name="T6" fmla="*/ 26 w 37"/>
                  <a:gd name="T7" fmla="*/ 3 h 37"/>
                  <a:gd name="T8" fmla="*/ 34 w 37"/>
                  <a:gd name="T9" fmla="*/ 3 h 37"/>
                  <a:gd name="T10" fmla="*/ 34 w 37"/>
                  <a:gd name="T11" fmla="*/ 11 h 37"/>
                  <a:gd name="T12" fmla="*/ 10 w 37"/>
                  <a:gd name="T13" fmla="*/ 35 h 37"/>
                  <a:gd name="T14" fmla="*/ 6 w 37"/>
                  <a:gd name="T15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7" h="37">
                    <a:moveTo>
                      <a:pt x="6" y="37"/>
                    </a:moveTo>
                    <a:cubicBezTo>
                      <a:pt x="5" y="37"/>
                      <a:pt x="3" y="36"/>
                      <a:pt x="2" y="35"/>
                    </a:cubicBezTo>
                    <a:cubicBezTo>
                      <a:pt x="0" y="33"/>
                      <a:pt x="0" y="29"/>
                      <a:pt x="2" y="27"/>
                    </a:cubicBezTo>
                    <a:cubicBezTo>
                      <a:pt x="26" y="3"/>
                      <a:pt x="26" y="3"/>
                      <a:pt x="26" y="3"/>
                    </a:cubicBezTo>
                    <a:cubicBezTo>
                      <a:pt x="28" y="0"/>
                      <a:pt x="32" y="0"/>
                      <a:pt x="34" y="3"/>
                    </a:cubicBezTo>
                    <a:cubicBezTo>
                      <a:pt x="37" y="5"/>
                      <a:pt x="37" y="9"/>
                      <a:pt x="34" y="11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9" y="36"/>
                      <a:pt x="8" y="37"/>
                      <a:pt x="6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/>
                </a:endParaRPr>
              </a:p>
            </p:txBody>
          </p:sp>
          <p:sp>
            <p:nvSpPr>
              <p:cNvPr id="20" name="Freeform 108">
                <a:extLst>
                  <a:ext uri="{FF2B5EF4-FFF2-40B4-BE49-F238E27FC236}">
                    <a16:creationId xmlns:a16="http://schemas.microsoft.com/office/drawing/2014/main" id="{C83A02B0-D997-CF38-169A-CD4E466FA9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5" y="2997"/>
                <a:ext cx="18" cy="71"/>
              </a:xfrm>
              <a:custGeom>
                <a:avLst/>
                <a:gdLst>
                  <a:gd name="T0" fmla="*/ 6 w 12"/>
                  <a:gd name="T1" fmla="*/ 48 h 48"/>
                  <a:gd name="T2" fmla="*/ 0 w 12"/>
                  <a:gd name="T3" fmla="*/ 42 h 48"/>
                  <a:gd name="T4" fmla="*/ 0 w 12"/>
                  <a:gd name="T5" fmla="*/ 6 h 48"/>
                  <a:gd name="T6" fmla="*/ 6 w 12"/>
                  <a:gd name="T7" fmla="*/ 0 h 48"/>
                  <a:gd name="T8" fmla="*/ 12 w 12"/>
                  <a:gd name="T9" fmla="*/ 6 h 48"/>
                  <a:gd name="T10" fmla="*/ 12 w 12"/>
                  <a:gd name="T11" fmla="*/ 42 h 48"/>
                  <a:gd name="T12" fmla="*/ 6 w 12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48">
                    <a:moveTo>
                      <a:pt x="6" y="48"/>
                    </a:moveTo>
                    <a:cubicBezTo>
                      <a:pt x="3" y="48"/>
                      <a:pt x="0" y="45"/>
                      <a:pt x="0" y="42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0" y="0"/>
                      <a:pt x="12" y="3"/>
                      <a:pt x="12" y="6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2" y="45"/>
                      <a:pt x="10" y="48"/>
                      <a:pt x="6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/>
                </a:endParaRPr>
              </a:p>
            </p:txBody>
          </p:sp>
          <p:sp>
            <p:nvSpPr>
              <p:cNvPr id="22" name="Freeform 109">
                <a:extLst>
                  <a:ext uri="{FF2B5EF4-FFF2-40B4-BE49-F238E27FC236}">
                    <a16:creationId xmlns:a16="http://schemas.microsoft.com/office/drawing/2014/main" id="{84A4CF09-832A-8E2D-40D6-D14AAC4B3A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8" y="3031"/>
                <a:ext cx="55" cy="55"/>
              </a:xfrm>
              <a:custGeom>
                <a:avLst/>
                <a:gdLst>
                  <a:gd name="T0" fmla="*/ 30 w 37"/>
                  <a:gd name="T1" fmla="*/ 37 h 37"/>
                  <a:gd name="T2" fmla="*/ 26 w 37"/>
                  <a:gd name="T3" fmla="*/ 35 h 37"/>
                  <a:gd name="T4" fmla="*/ 2 w 37"/>
                  <a:gd name="T5" fmla="*/ 11 h 37"/>
                  <a:gd name="T6" fmla="*/ 2 w 37"/>
                  <a:gd name="T7" fmla="*/ 3 h 37"/>
                  <a:gd name="T8" fmla="*/ 10 w 37"/>
                  <a:gd name="T9" fmla="*/ 3 h 37"/>
                  <a:gd name="T10" fmla="*/ 34 w 37"/>
                  <a:gd name="T11" fmla="*/ 27 h 37"/>
                  <a:gd name="T12" fmla="*/ 34 w 37"/>
                  <a:gd name="T13" fmla="*/ 35 h 37"/>
                  <a:gd name="T14" fmla="*/ 30 w 37"/>
                  <a:gd name="T15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7" h="37">
                    <a:moveTo>
                      <a:pt x="30" y="37"/>
                    </a:moveTo>
                    <a:cubicBezTo>
                      <a:pt x="29" y="37"/>
                      <a:pt x="27" y="36"/>
                      <a:pt x="26" y="35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0" y="9"/>
                      <a:pt x="0" y="5"/>
                      <a:pt x="2" y="3"/>
                    </a:cubicBezTo>
                    <a:cubicBezTo>
                      <a:pt x="4" y="0"/>
                      <a:pt x="8" y="0"/>
                      <a:pt x="10" y="3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7" y="29"/>
                      <a:pt x="37" y="33"/>
                      <a:pt x="34" y="35"/>
                    </a:cubicBezTo>
                    <a:cubicBezTo>
                      <a:pt x="33" y="36"/>
                      <a:pt x="32" y="37"/>
                      <a:pt x="30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/>
                </a:endParaRPr>
              </a:p>
            </p:txBody>
          </p:sp>
          <p:sp>
            <p:nvSpPr>
              <p:cNvPr id="23" name="Freeform 110">
                <a:extLst>
                  <a:ext uri="{FF2B5EF4-FFF2-40B4-BE49-F238E27FC236}">
                    <a16:creationId xmlns:a16="http://schemas.microsoft.com/office/drawing/2014/main" id="{8BC2E677-CF7F-1C0F-9EA9-BC0F6CA328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3" y="3122"/>
                <a:ext cx="71" cy="17"/>
              </a:xfrm>
              <a:custGeom>
                <a:avLst/>
                <a:gdLst>
                  <a:gd name="T0" fmla="*/ 42 w 48"/>
                  <a:gd name="T1" fmla="*/ 12 h 12"/>
                  <a:gd name="T2" fmla="*/ 6 w 48"/>
                  <a:gd name="T3" fmla="*/ 12 h 12"/>
                  <a:gd name="T4" fmla="*/ 0 w 48"/>
                  <a:gd name="T5" fmla="*/ 6 h 12"/>
                  <a:gd name="T6" fmla="*/ 6 w 48"/>
                  <a:gd name="T7" fmla="*/ 0 h 12"/>
                  <a:gd name="T8" fmla="*/ 42 w 48"/>
                  <a:gd name="T9" fmla="*/ 0 h 12"/>
                  <a:gd name="T10" fmla="*/ 48 w 48"/>
                  <a:gd name="T11" fmla="*/ 6 h 12"/>
                  <a:gd name="T12" fmla="*/ 42 w 48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12">
                    <a:moveTo>
                      <a:pt x="42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6" y="0"/>
                      <a:pt x="48" y="3"/>
                      <a:pt x="48" y="6"/>
                    </a:cubicBezTo>
                    <a:cubicBezTo>
                      <a:pt x="48" y="9"/>
                      <a:pt x="46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/>
                </a:endParaRPr>
              </a:p>
            </p:txBody>
          </p:sp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A32CE31-97E4-30D2-EF89-3C3D43FE9BB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229332" y="4757416"/>
            <a:ext cx="300413" cy="300410"/>
            <a:chOff x="3438" y="437"/>
            <a:chExt cx="428" cy="428"/>
          </a:xfrm>
          <a:solidFill>
            <a:srgbClr val="7500C0"/>
          </a:solidFill>
        </p:grpSpPr>
        <p:sp>
          <p:nvSpPr>
            <p:cNvPr id="30" name="Freeform 34">
              <a:extLst>
                <a:ext uri="{FF2B5EF4-FFF2-40B4-BE49-F238E27FC236}">
                  <a16:creationId xmlns:a16="http://schemas.microsoft.com/office/drawing/2014/main" id="{0C374292-6B0E-0168-8C11-B2C7D211E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8" y="439"/>
              <a:ext cx="427" cy="426"/>
            </a:xfrm>
            <a:custGeom>
              <a:avLst/>
              <a:gdLst>
                <a:gd name="T0" fmla="*/ 126 w 288"/>
                <a:gd name="T1" fmla="*/ 288 h 288"/>
                <a:gd name="T2" fmla="*/ 120 w 288"/>
                <a:gd name="T3" fmla="*/ 247 h 288"/>
                <a:gd name="T4" fmla="*/ 67 w 288"/>
                <a:gd name="T5" fmla="*/ 262 h 288"/>
                <a:gd name="T6" fmla="*/ 25 w 288"/>
                <a:gd name="T7" fmla="*/ 229 h 288"/>
                <a:gd name="T8" fmla="*/ 25 w 288"/>
                <a:gd name="T9" fmla="*/ 220 h 288"/>
                <a:gd name="T10" fmla="*/ 40 w 288"/>
                <a:gd name="T11" fmla="*/ 168 h 288"/>
                <a:gd name="T12" fmla="*/ 0 w 288"/>
                <a:gd name="T13" fmla="*/ 162 h 288"/>
                <a:gd name="T14" fmla="*/ 6 w 288"/>
                <a:gd name="T15" fmla="*/ 120 h 288"/>
                <a:gd name="T16" fmla="*/ 49 w 288"/>
                <a:gd name="T17" fmla="*/ 92 h 288"/>
                <a:gd name="T18" fmla="*/ 23 w 288"/>
                <a:gd name="T19" fmla="*/ 63 h 288"/>
                <a:gd name="T20" fmla="*/ 59 w 288"/>
                <a:gd name="T21" fmla="*/ 25 h 288"/>
                <a:gd name="T22" fmla="*/ 92 w 288"/>
                <a:gd name="T23" fmla="*/ 49 h 288"/>
                <a:gd name="T24" fmla="*/ 120 w 288"/>
                <a:gd name="T25" fmla="*/ 6 h 288"/>
                <a:gd name="T26" fmla="*/ 162 w 288"/>
                <a:gd name="T27" fmla="*/ 0 h 288"/>
                <a:gd name="T28" fmla="*/ 168 w 288"/>
                <a:gd name="T29" fmla="*/ 40 h 288"/>
                <a:gd name="T30" fmla="*/ 202 w 288"/>
                <a:gd name="T31" fmla="*/ 60 h 288"/>
                <a:gd name="T32" fmla="*/ 160 w 288"/>
                <a:gd name="T33" fmla="*/ 50 h 288"/>
                <a:gd name="T34" fmla="*/ 156 w 288"/>
                <a:gd name="T35" fmla="*/ 12 h 288"/>
                <a:gd name="T36" fmla="*/ 132 w 288"/>
                <a:gd name="T37" fmla="*/ 45 h 288"/>
                <a:gd name="T38" fmla="*/ 94 w 288"/>
                <a:gd name="T39" fmla="*/ 62 h 288"/>
                <a:gd name="T40" fmla="*/ 63 w 288"/>
                <a:gd name="T41" fmla="*/ 38 h 288"/>
                <a:gd name="T42" fmla="*/ 61 w 288"/>
                <a:gd name="T43" fmla="*/ 86 h 288"/>
                <a:gd name="T44" fmla="*/ 51 w 288"/>
                <a:gd name="T45" fmla="*/ 127 h 288"/>
                <a:gd name="T46" fmla="*/ 12 w 288"/>
                <a:gd name="T47" fmla="*/ 132 h 288"/>
                <a:gd name="T48" fmla="*/ 45 w 288"/>
                <a:gd name="T49" fmla="*/ 156 h 288"/>
                <a:gd name="T50" fmla="*/ 62 w 288"/>
                <a:gd name="T51" fmla="*/ 194 h 288"/>
                <a:gd name="T52" fmla="*/ 38 w 288"/>
                <a:gd name="T53" fmla="*/ 224 h 288"/>
                <a:gd name="T54" fmla="*/ 87 w 288"/>
                <a:gd name="T55" fmla="*/ 226 h 288"/>
                <a:gd name="T56" fmla="*/ 127 w 288"/>
                <a:gd name="T57" fmla="*/ 237 h 288"/>
                <a:gd name="T58" fmla="*/ 132 w 288"/>
                <a:gd name="T59" fmla="*/ 276 h 288"/>
                <a:gd name="T60" fmla="*/ 156 w 288"/>
                <a:gd name="T61" fmla="*/ 243 h 288"/>
                <a:gd name="T62" fmla="*/ 194 w 288"/>
                <a:gd name="T63" fmla="*/ 226 h 288"/>
                <a:gd name="T64" fmla="*/ 224 w 288"/>
                <a:gd name="T65" fmla="*/ 250 h 288"/>
                <a:gd name="T66" fmla="*/ 227 w 288"/>
                <a:gd name="T67" fmla="*/ 201 h 288"/>
                <a:gd name="T68" fmla="*/ 237 w 288"/>
                <a:gd name="T69" fmla="*/ 160 h 288"/>
                <a:gd name="T70" fmla="*/ 276 w 288"/>
                <a:gd name="T71" fmla="*/ 156 h 288"/>
                <a:gd name="T72" fmla="*/ 243 w 288"/>
                <a:gd name="T73" fmla="*/ 132 h 288"/>
                <a:gd name="T74" fmla="*/ 231 w 288"/>
                <a:gd name="T75" fmla="*/ 107 h 288"/>
                <a:gd name="T76" fmla="*/ 243 w 288"/>
                <a:gd name="T77" fmla="*/ 103 h 288"/>
                <a:gd name="T78" fmla="*/ 282 w 288"/>
                <a:gd name="T79" fmla="*/ 120 h 288"/>
                <a:gd name="T80" fmla="*/ 288 w 288"/>
                <a:gd name="T81" fmla="*/ 162 h 288"/>
                <a:gd name="T82" fmla="*/ 248 w 288"/>
                <a:gd name="T83" fmla="*/ 168 h 288"/>
                <a:gd name="T84" fmla="*/ 263 w 288"/>
                <a:gd name="T85" fmla="*/ 220 h 288"/>
                <a:gd name="T86" fmla="*/ 229 w 288"/>
                <a:gd name="T87" fmla="*/ 262 h 288"/>
                <a:gd name="T88" fmla="*/ 196 w 288"/>
                <a:gd name="T89" fmla="*/ 238 h 288"/>
                <a:gd name="T90" fmla="*/ 168 w 288"/>
                <a:gd name="T91" fmla="*/ 282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88" h="288">
                  <a:moveTo>
                    <a:pt x="162" y="288"/>
                  </a:moveTo>
                  <a:cubicBezTo>
                    <a:pt x="126" y="288"/>
                    <a:pt x="126" y="288"/>
                    <a:pt x="126" y="288"/>
                  </a:cubicBezTo>
                  <a:cubicBezTo>
                    <a:pt x="123" y="288"/>
                    <a:pt x="120" y="285"/>
                    <a:pt x="120" y="282"/>
                  </a:cubicBezTo>
                  <a:cubicBezTo>
                    <a:pt x="120" y="247"/>
                    <a:pt x="120" y="247"/>
                    <a:pt x="120" y="247"/>
                  </a:cubicBezTo>
                  <a:cubicBezTo>
                    <a:pt x="110" y="245"/>
                    <a:pt x="100" y="242"/>
                    <a:pt x="92" y="238"/>
                  </a:cubicBezTo>
                  <a:cubicBezTo>
                    <a:pt x="67" y="262"/>
                    <a:pt x="67" y="262"/>
                    <a:pt x="67" y="262"/>
                  </a:cubicBezTo>
                  <a:cubicBezTo>
                    <a:pt x="65" y="265"/>
                    <a:pt x="61" y="265"/>
                    <a:pt x="59" y="262"/>
                  </a:cubicBezTo>
                  <a:cubicBezTo>
                    <a:pt x="25" y="229"/>
                    <a:pt x="25" y="229"/>
                    <a:pt x="25" y="229"/>
                  </a:cubicBezTo>
                  <a:cubicBezTo>
                    <a:pt x="24" y="227"/>
                    <a:pt x="23" y="226"/>
                    <a:pt x="23" y="224"/>
                  </a:cubicBezTo>
                  <a:cubicBezTo>
                    <a:pt x="23" y="223"/>
                    <a:pt x="24" y="221"/>
                    <a:pt x="25" y="220"/>
                  </a:cubicBezTo>
                  <a:cubicBezTo>
                    <a:pt x="49" y="196"/>
                    <a:pt x="49" y="196"/>
                    <a:pt x="49" y="196"/>
                  </a:cubicBezTo>
                  <a:cubicBezTo>
                    <a:pt x="46" y="188"/>
                    <a:pt x="43" y="177"/>
                    <a:pt x="40" y="168"/>
                  </a:cubicBezTo>
                  <a:cubicBezTo>
                    <a:pt x="6" y="168"/>
                    <a:pt x="6" y="168"/>
                    <a:pt x="6" y="168"/>
                  </a:cubicBezTo>
                  <a:cubicBezTo>
                    <a:pt x="3" y="168"/>
                    <a:pt x="0" y="165"/>
                    <a:pt x="0" y="162"/>
                  </a:cubicBezTo>
                  <a:cubicBezTo>
                    <a:pt x="0" y="126"/>
                    <a:pt x="0" y="126"/>
                    <a:pt x="0" y="126"/>
                  </a:cubicBezTo>
                  <a:cubicBezTo>
                    <a:pt x="0" y="122"/>
                    <a:pt x="3" y="120"/>
                    <a:pt x="6" y="120"/>
                  </a:cubicBezTo>
                  <a:cubicBezTo>
                    <a:pt x="40" y="120"/>
                    <a:pt x="40" y="120"/>
                    <a:pt x="40" y="120"/>
                  </a:cubicBezTo>
                  <a:cubicBezTo>
                    <a:pt x="43" y="110"/>
                    <a:pt x="46" y="100"/>
                    <a:pt x="49" y="92"/>
                  </a:cubicBezTo>
                  <a:cubicBezTo>
                    <a:pt x="25" y="67"/>
                    <a:pt x="25" y="67"/>
                    <a:pt x="25" y="67"/>
                  </a:cubicBezTo>
                  <a:cubicBezTo>
                    <a:pt x="24" y="66"/>
                    <a:pt x="23" y="65"/>
                    <a:pt x="23" y="63"/>
                  </a:cubicBezTo>
                  <a:cubicBezTo>
                    <a:pt x="23" y="61"/>
                    <a:pt x="24" y="60"/>
                    <a:pt x="25" y="59"/>
                  </a:cubicBezTo>
                  <a:cubicBezTo>
                    <a:pt x="59" y="25"/>
                    <a:pt x="59" y="25"/>
                    <a:pt x="59" y="25"/>
                  </a:cubicBezTo>
                  <a:cubicBezTo>
                    <a:pt x="61" y="23"/>
                    <a:pt x="65" y="23"/>
                    <a:pt x="67" y="25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100" y="45"/>
                    <a:pt x="110" y="42"/>
                    <a:pt x="120" y="40"/>
                  </a:cubicBezTo>
                  <a:cubicBezTo>
                    <a:pt x="120" y="6"/>
                    <a:pt x="120" y="6"/>
                    <a:pt x="120" y="6"/>
                  </a:cubicBezTo>
                  <a:cubicBezTo>
                    <a:pt x="120" y="2"/>
                    <a:pt x="123" y="0"/>
                    <a:pt x="126" y="0"/>
                  </a:cubicBezTo>
                  <a:cubicBezTo>
                    <a:pt x="162" y="0"/>
                    <a:pt x="162" y="0"/>
                    <a:pt x="162" y="0"/>
                  </a:cubicBezTo>
                  <a:cubicBezTo>
                    <a:pt x="165" y="0"/>
                    <a:pt x="168" y="2"/>
                    <a:pt x="168" y="6"/>
                  </a:cubicBezTo>
                  <a:cubicBezTo>
                    <a:pt x="168" y="40"/>
                    <a:pt x="168" y="40"/>
                    <a:pt x="168" y="40"/>
                  </a:cubicBezTo>
                  <a:cubicBezTo>
                    <a:pt x="179" y="43"/>
                    <a:pt x="192" y="47"/>
                    <a:pt x="200" y="52"/>
                  </a:cubicBezTo>
                  <a:cubicBezTo>
                    <a:pt x="203" y="53"/>
                    <a:pt x="204" y="57"/>
                    <a:pt x="202" y="60"/>
                  </a:cubicBezTo>
                  <a:cubicBezTo>
                    <a:pt x="200" y="63"/>
                    <a:pt x="197" y="63"/>
                    <a:pt x="194" y="62"/>
                  </a:cubicBezTo>
                  <a:cubicBezTo>
                    <a:pt x="186" y="57"/>
                    <a:pt x="171" y="53"/>
                    <a:pt x="160" y="50"/>
                  </a:cubicBezTo>
                  <a:cubicBezTo>
                    <a:pt x="158" y="50"/>
                    <a:pt x="156" y="47"/>
                    <a:pt x="156" y="45"/>
                  </a:cubicBezTo>
                  <a:cubicBezTo>
                    <a:pt x="156" y="12"/>
                    <a:pt x="156" y="12"/>
                    <a:pt x="156" y="12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7"/>
                    <a:pt x="130" y="50"/>
                    <a:pt x="127" y="50"/>
                  </a:cubicBezTo>
                  <a:cubicBezTo>
                    <a:pt x="117" y="53"/>
                    <a:pt x="102" y="57"/>
                    <a:pt x="94" y="62"/>
                  </a:cubicBezTo>
                  <a:cubicBezTo>
                    <a:pt x="92" y="63"/>
                    <a:pt x="89" y="63"/>
                    <a:pt x="87" y="61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61" y="86"/>
                    <a:pt x="61" y="86"/>
                    <a:pt x="61" y="86"/>
                  </a:cubicBezTo>
                  <a:cubicBezTo>
                    <a:pt x="63" y="88"/>
                    <a:pt x="63" y="91"/>
                    <a:pt x="62" y="94"/>
                  </a:cubicBezTo>
                  <a:cubicBezTo>
                    <a:pt x="57" y="103"/>
                    <a:pt x="52" y="120"/>
                    <a:pt x="51" y="127"/>
                  </a:cubicBezTo>
                  <a:cubicBezTo>
                    <a:pt x="50" y="130"/>
                    <a:pt x="48" y="132"/>
                    <a:pt x="45" y="132"/>
                  </a:cubicBezTo>
                  <a:cubicBezTo>
                    <a:pt x="12" y="132"/>
                    <a:pt x="12" y="132"/>
                    <a:pt x="12" y="132"/>
                  </a:cubicBezTo>
                  <a:cubicBezTo>
                    <a:pt x="12" y="156"/>
                    <a:pt x="12" y="156"/>
                    <a:pt x="12" y="156"/>
                  </a:cubicBezTo>
                  <a:cubicBezTo>
                    <a:pt x="45" y="156"/>
                    <a:pt x="45" y="156"/>
                    <a:pt x="45" y="156"/>
                  </a:cubicBezTo>
                  <a:cubicBezTo>
                    <a:pt x="48" y="156"/>
                    <a:pt x="50" y="158"/>
                    <a:pt x="51" y="160"/>
                  </a:cubicBezTo>
                  <a:cubicBezTo>
                    <a:pt x="52" y="167"/>
                    <a:pt x="57" y="185"/>
                    <a:pt x="62" y="194"/>
                  </a:cubicBezTo>
                  <a:cubicBezTo>
                    <a:pt x="63" y="196"/>
                    <a:pt x="63" y="199"/>
                    <a:pt x="61" y="201"/>
                  </a:cubicBezTo>
                  <a:cubicBezTo>
                    <a:pt x="38" y="224"/>
                    <a:pt x="38" y="224"/>
                    <a:pt x="38" y="224"/>
                  </a:cubicBezTo>
                  <a:cubicBezTo>
                    <a:pt x="63" y="250"/>
                    <a:pt x="63" y="250"/>
                    <a:pt x="63" y="250"/>
                  </a:cubicBezTo>
                  <a:cubicBezTo>
                    <a:pt x="87" y="226"/>
                    <a:pt x="87" y="226"/>
                    <a:pt x="87" y="226"/>
                  </a:cubicBezTo>
                  <a:cubicBezTo>
                    <a:pt x="88" y="224"/>
                    <a:pt x="92" y="224"/>
                    <a:pt x="94" y="226"/>
                  </a:cubicBezTo>
                  <a:cubicBezTo>
                    <a:pt x="103" y="231"/>
                    <a:pt x="121" y="235"/>
                    <a:pt x="127" y="237"/>
                  </a:cubicBezTo>
                  <a:cubicBezTo>
                    <a:pt x="130" y="238"/>
                    <a:pt x="132" y="240"/>
                    <a:pt x="132" y="243"/>
                  </a:cubicBezTo>
                  <a:cubicBezTo>
                    <a:pt x="132" y="276"/>
                    <a:pt x="132" y="276"/>
                    <a:pt x="132" y="276"/>
                  </a:cubicBezTo>
                  <a:cubicBezTo>
                    <a:pt x="156" y="276"/>
                    <a:pt x="156" y="276"/>
                    <a:pt x="156" y="276"/>
                  </a:cubicBezTo>
                  <a:cubicBezTo>
                    <a:pt x="156" y="243"/>
                    <a:pt x="156" y="243"/>
                    <a:pt x="156" y="243"/>
                  </a:cubicBezTo>
                  <a:cubicBezTo>
                    <a:pt x="156" y="240"/>
                    <a:pt x="158" y="238"/>
                    <a:pt x="160" y="237"/>
                  </a:cubicBezTo>
                  <a:cubicBezTo>
                    <a:pt x="167" y="235"/>
                    <a:pt x="185" y="231"/>
                    <a:pt x="194" y="226"/>
                  </a:cubicBezTo>
                  <a:cubicBezTo>
                    <a:pt x="196" y="224"/>
                    <a:pt x="199" y="224"/>
                    <a:pt x="201" y="226"/>
                  </a:cubicBezTo>
                  <a:cubicBezTo>
                    <a:pt x="224" y="250"/>
                    <a:pt x="224" y="250"/>
                    <a:pt x="224" y="250"/>
                  </a:cubicBezTo>
                  <a:cubicBezTo>
                    <a:pt x="250" y="224"/>
                    <a:pt x="250" y="224"/>
                    <a:pt x="250" y="224"/>
                  </a:cubicBezTo>
                  <a:cubicBezTo>
                    <a:pt x="227" y="201"/>
                    <a:pt x="227" y="201"/>
                    <a:pt x="227" y="201"/>
                  </a:cubicBezTo>
                  <a:cubicBezTo>
                    <a:pt x="225" y="199"/>
                    <a:pt x="224" y="196"/>
                    <a:pt x="226" y="194"/>
                  </a:cubicBezTo>
                  <a:cubicBezTo>
                    <a:pt x="231" y="185"/>
                    <a:pt x="235" y="167"/>
                    <a:pt x="237" y="160"/>
                  </a:cubicBezTo>
                  <a:cubicBezTo>
                    <a:pt x="238" y="158"/>
                    <a:pt x="240" y="156"/>
                    <a:pt x="243" y="156"/>
                  </a:cubicBezTo>
                  <a:cubicBezTo>
                    <a:pt x="276" y="156"/>
                    <a:pt x="276" y="156"/>
                    <a:pt x="276" y="156"/>
                  </a:cubicBezTo>
                  <a:cubicBezTo>
                    <a:pt x="276" y="132"/>
                    <a:pt x="276" y="132"/>
                    <a:pt x="276" y="132"/>
                  </a:cubicBezTo>
                  <a:cubicBezTo>
                    <a:pt x="243" y="132"/>
                    <a:pt x="243" y="132"/>
                    <a:pt x="243" y="132"/>
                  </a:cubicBezTo>
                  <a:cubicBezTo>
                    <a:pt x="240" y="132"/>
                    <a:pt x="238" y="130"/>
                    <a:pt x="237" y="127"/>
                  </a:cubicBezTo>
                  <a:cubicBezTo>
                    <a:pt x="236" y="121"/>
                    <a:pt x="234" y="114"/>
                    <a:pt x="231" y="107"/>
                  </a:cubicBezTo>
                  <a:cubicBezTo>
                    <a:pt x="230" y="103"/>
                    <a:pt x="232" y="100"/>
                    <a:pt x="235" y="99"/>
                  </a:cubicBezTo>
                  <a:cubicBezTo>
                    <a:pt x="238" y="98"/>
                    <a:pt x="242" y="100"/>
                    <a:pt x="243" y="103"/>
                  </a:cubicBezTo>
                  <a:cubicBezTo>
                    <a:pt x="245" y="108"/>
                    <a:pt x="246" y="114"/>
                    <a:pt x="248" y="120"/>
                  </a:cubicBezTo>
                  <a:cubicBezTo>
                    <a:pt x="282" y="120"/>
                    <a:pt x="282" y="120"/>
                    <a:pt x="282" y="120"/>
                  </a:cubicBezTo>
                  <a:cubicBezTo>
                    <a:pt x="285" y="120"/>
                    <a:pt x="288" y="122"/>
                    <a:pt x="288" y="126"/>
                  </a:cubicBezTo>
                  <a:cubicBezTo>
                    <a:pt x="288" y="162"/>
                    <a:pt x="288" y="162"/>
                    <a:pt x="288" y="162"/>
                  </a:cubicBezTo>
                  <a:cubicBezTo>
                    <a:pt x="288" y="165"/>
                    <a:pt x="285" y="168"/>
                    <a:pt x="282" y="168"/>
                  </a:cubicBezTo>
                  <a:cubicBezTo>
                    <a:pt x="248" y="168"/>
                    <a:pt x="248" y="168"/>
                    <a:pt x="248" y="168"/>
                  </a:cubicBezTo>
                  <a:cubicBezTo>
                    <a:pt x="245" y="177"/>
                    <a:pt x="242" y="188"/>
                    <a:pt x="238" y="196"/>
                  </a:cubicBezTo>
                  <a:cubicBezTo>
                    <a:pt x="263" y="220"/>
                    <a:pt x="263" y="220"/>
                    <a:pt x="263" y="220"/>
                  </a:cubicBezTo>
                  <a:cubicBezTo>
                    <a:pt x="265" y="222"/>
                    <a:pt x="265" y="226"/>
                    <a:pt x="263" y="229"/>
                  </a:cubicBezTo>
                  <a:cubicBezTo>
                    <a:pt x="229" y="262"/>
                    <a:pt x="229" y="262"/>
                    <a:pt x="229" y="262"/>
                  </a:cubicBezTo>
                  <a:cubicBezTo>
                    <a:pt x="226" y="265"/>
                    <a:pt x="223" y="265"/>
                    <a:pt x="220" y="262"/>
                  </a:cubicBezTo>
                  <a:cubicBezTo>
                    <a:pt x="196" y="238"/>
                    <a:pt x="196" y="238"/>
                    <a:pt x="196" y="238"/>
                  </a:cubicBezTo>
                  <a:cubicBezTo>
                    <a:pt x="188" y="242"/>
                    <a:pt x="177" y="245"/>
                    <a:pt x="168" y="247"/>
                  </a:cubicBezTo>
                  <a:cubicBezTo>
                    <a:pt x="168" y="282"/>
                    <a:pt x="168" y="282"/>
                    <a:pt x="168" y="282"/>
                  </a:cubicBezTo>
                  <a:cubicBezTo>
                    <a:pt x="168" y="285"/>
                    <a:pt x="165" y="288"/>
                    <a:pt x="162" y="2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</a:endParaRPr>
            </a:p>
          </p:txBody>
        </p:sp>
        <p:sp>
          <p:nvSpPr>
            <p:cNvPr id="31" name="Freeform 35">
              <a:extLst>
                <a:ext uri="{FF2B5EF4-FFF2-40B4-BE49-F238E27FC236}">
                  <a16:creationId xmlns:a16="http://schemas.microsoft.com/office/drawing/2014/main" id="{519258DA-B128-D83A-EFDF-CCDEEF990F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7" y="437"/>
              <a:ext cx="299" cy="265"/>
            </a:xfrm>
            <a:custGeom>
              <a:avLst/>
              <a:gdLst>
                <a:gd name="T0" fmla="*/ 61 w 202"/>
                <a:gd name="T1" fmla="*/ 179 h 179"/>
                <a:gd name="T2" fmla="*/ 56 w 202"/>
                <a:gd name="T3" fmla="*/ 177 h 179"/>
                <a:gd name="T4" fmla="*/ 3 w 202"/>
                <a:gd name="T5" fmla="*/ 124 h 179"/>
                <a:gd name="T6" fmla="*/ 3 w 202"/>
                <a:gd name="T7" fmla="*/ 115 h 179"/>
                <a:gd name="T8" fmla="*/ 11 w 202"/>
                <a:gd name="T9" fmla="*/ 115 h 179"/>
                <a:gd name="T10" fmla="*/ 60 w 202"/>
                <a:gd name="T11" fmla="*/ 164 h 179"/>
                <a:gd name="T12" fmla="*/ 190 w 202"/>
                <a:gd name="T13" fmla="*/ 3 h 179"/>
                <a:gd name="T14" fmla="*/ 199 w 202"/>
                <a:gd name="T15" fmla="*/ 2 h 179"/>
                <a:gd name="T16" fmla="*/ 200 w 202"/>
                <a:gd name="T17" fmla="*/ 10 h 179"/>
                <a:gd name="T18" fmla="*/ 65 w 202"/>
                <a:gd name="T19" fmla="*/ 177 h 179"/>
                <a:gd name="T20" fmla="*/ 61 w 202"/>
                <a:gd name="T21" fmla="*/ 179 h 179"/>
                <a:gd name="T22" fmla="*/ 61 w 202"/>
                <a:gd name="T23" fmla="*/ 179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2" h="179">
                  <a:moveTo>
                    <a:pt x="61" y="179"/>
                  </a:moveTo>
                  <a:cubicBezTo>
                    <a:pt x="59" y="179"/>
                    <a:pt x="57" y="179"/>
                    <a:pt x="56" y="177"/>
                  </a:cubicBezTo>
                  <a:cubicBezTo>
                    <a:pt x="3" y="124"/>
                    <a:pt x="3" y="124"/>
                    <a:pt x="3" y="124"/>
                  </a:cubicBezTo>
                  <a:cubicBezTo>
                    <a:pt x="0" y="121"/>
                    <a:pt x="0" y="118"/>
                    <a:pt x="3" y="115"/>
                  </a:cubicBezTo>
                  <a:cubicBezTo>
                    <a:pt x="5" y="113"/>
                    <a:pt x="9" y="113"/>
                    <a:pt x="11" y="115"/>
                  </a:cubicBezTo>
                  <a:cubicBezTo>
                    <a:pt x="60" y="164"/>
                    <a:pt x="60" y="164"/>
                    <a:pt x="60" y="164"/>
                  </a:cubicBezTo>
                  <a:cubicBezTo>
                    <a:pt x="190" y="3"/>
                    <a:pt x="190" y="3"/>
                    <a:pt x="190" y="3"/>
                  </a:cubicBezTo>
                  <a:cubicBezTo>
                    <a:pt x="192" y="0"/>
                    <a:pt x="196" y="0"/>
                    <a:pt x="199" y="2"/>
                  </a:cubicBezTo>
                  <a:cubicBezTo>
                    <a:pt x="201" y="4"/>
                    <a:pt x="202" y="8"/>
                    <a:pt x="200" y="10"/>
                  </a:cubicBezTo>
                  <a:cubicBezTo>
                    <a:pt x="65" y="177"/>
                    <a:pt x="65" y="177"/>
                    <a:pt x="65" y="177"/>
                  </a:cubicBezTo>
                  <a:cubicBezTo>
                    <a:pt x="64" y="178"/>
                    <a:pt x="63" y="179"/>
                    <a:pt x="61" y="179"/>
                  </a:cubicBezTo>
                  <a:cubicBezTo>
                    <a:pt x="61" y="179"/>
                    <a:pt x="61" y="179"/>
                    <a:pt x="61" y="17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</a:endParaRPr>
            </a:p>
          </p:txBody>
        </p:sp>
      </p:grpSp>
      <p:pic>
        <p:nvPicPr>
          <p:cNvPr id="32" name="Graphic 31" descr="User with solid fill">
            <a:extLst>
              <a:ext uri="{FF2B5EF4-FFF2-40B4-BE49-F238E27FC236}">
                <a16:creationId xmlns:a16="http://schemas.microsoft.com/office/drawing/2014/main" id="{08D302F7-56BF-924C-5FE4-0A9BB9CDA9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225" y="4631251"/>
            <a:ext cx="426575" cy="426575"/>
          </a:xfrm>
          <a:prstGeom prst="rect">
            <a:avLst/>
          </a:prstGeom>
        </p:spPr>
      </p:pic>
      <p:sp>
        <p:nvSpPr>
          <p:cNvPr id="34" name="Arrow: Left 33">
            <a:hlinkClick r:id="rId7" action="ppaction://hlinksldjump"/>
            <a:extLst>
              <a:ext uri="{FF2B5EF4-FFF2-40B4-BE49-F238E27FC236}">
                <a16:creationId xmlns:a16="http://schemas.microsoft.com/office/drawing/2014/main" id="{79858581-3F3B-B26F-8C68-CBD95752F45F}"/>
              </a:ext>
            </a:extLst>
          </p:cNvPr>
          <p:cNvSpPr/>
          <p:nvPr/>
        </p:nvSpPr>
        <p:spPr>
          <a:xfrm>
            <a:off x="11506534" y="193325"/>
            <a:ext cx="475048" cy="319931"/>
          </a:xfrm>
          <a:prstGeom prst="lef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9066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F6774-A440-C598-ED70-706FA02B4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3ED561-E0AC-7436-D3E5-3431981198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"/>
            <a:ext cx="12191996" cy="6858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2D128F-021F-05DB-4CF0-0A1D535154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48" y="107662"/>
            <a:ext cx="12018304" cy="4495000"/>
          </a:xfrm>
          <a:prstGeom prst="rect">
            <a:avLst/>
          </a:prstGeom>
        </p:spPr>
      </p:pic>
      <p:pic>
        <p:nvPicPr>
          <p:cNvPr id="14" name="Picture 13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FB5A961A-8499-8AF7-9389-737B56A5D9A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482516"/>
            <a:ext cx="192024" cy="2023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59A13C-157F-A780-1D4D-3226BB05A061}"/>
              </a:ext>
            </a:extLst>
          </p:cNvPr>
          <p:cNvSpPr txBox="1"/>
          <p:nvPr/>
        </p:nvSpPr>
        <p:spPr>
          <a:xfrm>
            <a:off x="573025" y="4594054"/>
            <a:ext cx="5734257" cy="2138540"/>
          </a:xfrm>
          <a:prstGeom prst="rect">
            <a:avLst/>
          </a:prstGeom>
          <a:noFill/>
        </p:spPr>
        <p:txBody>
          <a:bodyPr wrap="square" lIns="0" tIns="0" rIns="0" bIns="0" numCol="1" rtlCol="0" anchor="ctr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What you need to do</a:t>
            </a:r>
          </a:p>
          <a:p>
            <a:pPr defTabSz="228600">
              <a:spcAft>
                <a:spcPts val="1200"/>
              </a:spcAft>
              <a:defRPr/>
            </a:pPr>
            <a:r>
              <a:rPr lang="en-US" sz="1200" b="1" dirty="0">
                <a:solidFill>
                  <a:srgbClr val="FFFFFF"/>
                </a:solidFill>
                <a:latin typeface="Graphik"/>
              </a:rPr>
              <a:t>Access Claim Case: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In the Claim Case assigned to you, you will be able to see: 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FFFFFF"/>
                </a:solidFill>
                <a:latin typeface="Graphik"/>
              </a:rPr>
              <a:t>The case stages, with all completed stages marked and the current stage “Review Claim Outcome” shown as In Progress.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FFFFFF"/>
                </a:solidFill>
                <a:latin typeface="Graphik"/>
              </a:rPr>
              <a:t>Key claim information under the Case Overview section, including case &amp; claim details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FFFFFF"/>
                </a:solidFill>
                <a:latin typeface="Graphik"/>
              </a:rPr>
              <a:t>Click on the “Claim Details”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5E88DE7-2569-3098-2F35-852EFD467036}"/>
              </a:ext>
            </a:extLst>
          </p:cNvPr>
          <p:cNvSpPr/>
          <p:nvPr/>
        </p:nvSpPr>
        <p:spPr>
          <a:xfrm>
            <a:off x="6645508" y="4697841"/>
            <a:ext cx="5360670" cy="205859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tIns="45720" rIns="45720" bIns="45720" rtlCol="0" anchor="ctr">
            <a:spAutoFit/>
          </a:bodyPr>
          <a:lstStyle/>
          <a:p>
            <a:pPr lvl="0" algn="ctr" defTabSz="228600">
              <a:spcAft>
                <a:spcPts val="1200"/>
              </a:spcAft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500C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What the system </a:t>
            </a:r>
            <a:r>
              <a:rPr lang="en-US" sz="1200" b="1" dirty="0">
                <a:solidFill>
                  <a:srgbClr val="7500C0"/>
                </a:solidFill>
                <a:latin typeface="Graphik"/>
              </a:rPr>
              <a:t>handles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500C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in the background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50" dirty="0">
                <a:solidFill>
                  <a:prstClr val="black"/>
                </a:solidFill>
                <a:latin typeface="Graphik" panose="020B0503030202060203" pitchFamily="34" charset="0"/>
              </a:rPr>
              <a:t>The claimant submitted the claim in the Claims System, which was captured by our system along with the claim information &amp; submitted  documents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50" dirty="0">
                <a:solidFill>
                  <a:prstClr val="black"/>
                </a:solidFill>
                <a:latin typeface="Graphik" panose="020B0503030202060203" pitchFamily="34" charset="0"/>
              </a:rPr>
              <a:t>A Claim Case was created in QuickBase for the claim to track progress &amp; assignment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50" dirty="0">
                <a:solidFill>
                  <a:prstClr val="black"/>
                </a:solidFill>
                <a:latin typeface="Graphik" panose="020B0503030202060203" pitchFamily="34" charset="0"/>
              </a:rPr>
              <a:t>The submitted documents are reviewed for adequacy, classified, and the key information is extracted for validation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50" dirty="0">
                <a:solidFill>
                  <a:prstClr val="black"/>
                </a:solidFill>
                <a:latin typeface="Graphik" panose="020B0503030202060203" pitchFamily="34" charset="0"/>
              </a:rPr>
              <a:t>The medical records are reviewed against the policy certificate to identify any missing information and to recommend the appropriate claim outcome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50" dirty="0">
                <a:solidFill>
                  <a:prstClr val="black"/>
                </a:solidFill>
                <a:latin typeface="Graphik" panose="020B0503030202060203" pitchFamily="34" charset="0"/>
              </a:rPr>
              <a:t>Once a case is “review ready” it is then assigned to you based on the configured allocation rules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+mn-cs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9204253-278A-AF0F-B80B-A851253069E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761737" y="4809371"/>
            <a:ext cx="300413" cy="300410"/>
            <a:chOff x="3438" y="437"/>
            <a:chExt cx="428" cy="428"/>
          </a:xfrm>
          <a:solidFill>
            <a:srgbClr val="7500C0"/>
          </a:solidFill>
        </p:grpSpPr>
        <p:sp>
          <p:nvSpPr>
            <p:cNvPr id="30" name="Freeform 34">
              <a:extLst>
                <a:ext uri="{FF2B5EF4-FFF2-40B4-BE49-F238E27FC236}">
                  <a16:creationId xmlns:a16="http://schemas.microsoft.com/office/drawing/2014/main" id="{FC972EA9-B80C-A192-1016-2FD93C04FA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8" y="439"/>
              <a:ext cx="427" cy="426"/>
            </a:xfrm>
            <a:custGeom>
              <a:avLst/>
              <a:gdLst>
                <a:gd name="T0" fmla="*/ 126 w 288"/>
                <a:gd name="T1" fmla="*/ 288 h 288"/>
                <a:gd name="T2" fmla="*/ 120 w 288"/>
                <a:gd name="T3" fmla="*/ 247 h 288"/>
                <a:gd name="T4" fmla="*/ 67 w 288"/>
                <a:gd name="T5" fmla="*/ 262 h 288"/>
                <a:gd name="T6" fmla="*/ 25 w 288"/>
                <a:gd name="T7" fmla="*/ 229 h 288"/>
                <a:gd name="T8" fmla="*/ 25 w 288"/>
                <a:gd name="T9" fmla="*/ 220 h 288"/>
                <a:gd name="T10" fmla="*/ 40 w 288"/>
                <a:gd name="T11" fmla="*/ 168 h 288"/>
                <a:gd name="T12" fmla="*/ 0 w 288"/>
                <a:gd name="T13" fmla="*/ 162 h 288"/>
                <a:gd name="T14" fmla="*/ 6 w 288"/>
                <a:gd name="T15" fmla="*/ 120 h 288"/>
                <a:gd name="T16" fmla="*/ 49 w 288"/>
                <a:gd name="T17" fmla="*/ 92 h 288"/>
                <a:gd name="T18" fmla="*/ 23 w 288"/>
                <a:gd name="T19" fmla="*/ 63 h 288"/>
                <a:gd name="T20" fmla="*/ 59 w 288"/>
                <a:gd name="T21" fmla="*/ 25 h 288"/>
                <a:gd name="T22" fmla="*/ 92 w 288"/>
                <a:gd name="T23" fmla="*/ 49 h 288"/>
                <a:gd name="T24" fmla="*/ 120 w 288"/>
                <a:gd name="T25" fmla="*/ 6 h 288"/>
                <a:gd name="T26" fmla="*/ 162 w 288"/>
                <a:gd name="T27" fmla="*/ 0 h 288"/>
                <a:gd name="T28" fmla="*/ 168 w 288"/>
                <a:gd name="T29" fmla="*/ 40 h 288"/>
                <a:gd name="T30" fmla="*/ 202 w 288"/>
                <a:gd name="T31" fmla="*/ 60 h 288"/>
                <a:gd name="T32" fmla="*/ 160 w 288"/>
                <a:gd name="T33" fmla="*/ 50 h 288"/>
                <a:gd name="T34" fmla="*/ 156 w 288"/>
                <a:gd name="T35" fmla="*/ 12 h 288"/>
                <a:gd name="T36" fmla="*/ 132 w 288"/>
                <a:gd name="T37" fmla="*/ 45 h 288"/>
                <a:gd name="T38" fmla="*/ 94 w 288"/>
                <a:gd name="T39" fmla="*/ 62 h 288"/>
                <a:gd name="T40" fmla="*/ 63 w 288"/>
                <a:gd name="T41" fmla="*/ 38 h 288"/>
                <a:gd name="T42" fmla="*/ 61 w 288"/>
                <a:gd name="T43" fmla="*/ 86 h 288"/>
                <a:gd name="T44" fmla="*/ 51 w 288"/>
                <a:gd name="T45" fmla="*/ 127 h 288"/>
                <a:gd name="T46" fmla="*/ 12 w 288"/>
                <a:gd name="T47" fmla="*/ 132 h 288"/>
                <a:gd name="T48" fmla="*/ 45 w 288"/>
                <a:gd name="T49" fmla="*/ 156 h 288"/>
                <a:gd name="T50" fmla="*/ 62 w 288"/>
                <a:gd name="T51" fmla="*/ 194 h 288"/>
                <a:gd name="T52" fmla="*/ 38 w 288"/>
                <a:gd name="T53" fmla="*/ 224 h 288"/>
                <a:gd name="T54" fmla="*/ 87 w 288"/>
                <a:gd name="T55" fmla="*/ 226 h 288"/>
                <a:gd name="T56" fmla="*/ 127 w 288"/>
                <a:gd name="T57" fmla="*/ 237 h 288"/>
                <a:gd name="T58" fmla="*/ 132 w 288"/>
                <a:gd name="T59" fmla="*/ 276 h 288"/>
                <a:gd name="T60" fmla="*/ 156 w 288"/>
                <a:gd name="T61" fmla="*/ 243 h 288"/>
                <a:gd name="T62" fmla="*/ 194 w 288"/>
                <a:gd name="T63" fmla="*/ 226 h 288"/>
                <a:gd name="T64" fmla="*/ 224 w 288"/>
                <a:gd name="T65" fmla="*/ 250 h 288"/>
                <a:gd name="T66" fmla="*/ 227 w 288"/>
                <a:gd name="T67" fmla="*/ 201 h 288"/>
                <a:gd name="T68" fmla="*/ 237 w 288"/>
                <a:gd name="T69" fmla="*/ 160 h 288"/>
                <a:gd name="T70" fmla="*/ 276 w 288"/>
                <a:gd name="T71" fmla="*/ 156 h 288"/>
                <a:gd name="T72" fmla="*/ 243 w 288"/>
                <a:gd name="T73" fmla="*/ 132 h 288"/>
                <a:gd name="T74" fmla="*/ 231 w 288"/>
                <a:gd name="T75" fmla="*/ 107 h 288"/>
                <a:gd name="T76" fmla="*/ 243 w 288"/>
                <a:gd name="T77" fmla="*/ 103 h 288"/>
                <a:gd name="T78" fmla="*/ 282 w 288"/>
                <a:gd name="T79" fmla="*/ 120 h 288"/>
                <a:gd name="T80" fmla="*/ 288 w 288"/>
                <a:gd name="T81" fmla="*/ 162 h 288"/>
                <a:gd name="T82" fmla="*/ 248 w 288"/>
                <a:gd name="T83" fmla="*/ 168 h 288"/>
                <a:gd name="T84" fmla="*/ 263 w 288"/>
                <a:gd name="T85" fmla="*/ 220 h 288"/>
                <a:gd name="T86" fmla="*/ 229 w 288"/>
                <a:gd name="T87" fmla="*/ 262 h 288"/>
                <a:gd name="T88" fmla="*/ 196 w 288"/>
                <a:gd name="T89" fmla="*/ 238 h 288"/>
                <a:gd name="T90" fmla="*/ 168 w 288"/>
                <a:gd name="T91" fmla="*/ 282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88" h="288">
                  <a:moveTo>
                    <a:pt x="162" y="288"/>
                  </a:moveTo>
                  <a:cubicBezTo>
                    <a:pt x="126" y="288"/>
                    <a:pt x="126" y="288"/>
                    <a:pt x="126" y="288"/>
                  </a:cubicBezTo>
                  <a:cubicBezTo>
                    <a:pt x="123" y="288"/>
                    <a:pt x="120" y="285"/>
                    <a:pt x="120" y="282"/>
                  </a:cubicBezTo>
                  <a:cubicBezTo>
                    <a:pt x="120" y="247"/>
                    <a:pt x="120" y="247"/>
                    <a:pt x="120" y="247"/>
                  </a:cubicBezTo>
                  <a:cubicBezTo>
                    <a:pt x="110" y="245"/>
                    <a:pt x="100" y="242"/>
                    <a:pt x="92" y="238"/>
                  </a:cubicBezTo>
                  <a:cubicBezTo>
                    <a:pt x="67" y="262"/>
                    <a:pt x="67" y="262"/>
                    <a:pt x="67" y="262"/>
                  </a:cubicBezTo>
                  <a:cubicBezTo>
                    <a:pt x="65" y="265"/>
                    <a:pt x="61" y="265"/>
                    <a:pt x="59" y="262"/>
                  </a:cubicBezTo>
                  <a:cubicBezTo>
                    <a:pt x="25" y="229"/>
                    <a:pt x="25" y="229"/>
                    <a:pt x="25" y="229"/>
                  </a:cubicBezTo>
                  <a:cubicBezTo>
                    <a:pt x="24" y="227"/>
                    <a:pt x="23" y="226"/>
                    <a:pt x="23" y="224"/>
                  </a:cubicBezTo>
                  <a:cubicBezTo>
                    <a:pt x="23" y="223"/>
                    <a:pt x="24" y="221"/>
                    <a:pt x="25" y="220"/>
                  </a:cubicBezTo>
                  <a:cubicBezTo>
                    <a:pt x="49" y="196"/>
                    <a:pt x="49" y="196"/>
                    <a:pt x="49" y="196"/>
                  </a:cubicBezTo>
                  <a:cubicBezTo>
                    <a:pt x="46" y="188"/>
                    <a:pt x="43" y="177"/>
                    <a:pt x="40" y="168"/>
                  </a:cubicBezTo>
                  <a:cubicBezTo>
                    <a:pt x="6" y="168"/>
                    <a:pt x="6" y="168"/>
                    <a:pt x="6" y="168"/>
                  </a:cubicBezTo>
                  <a:cubicBezTo>
                    <a:pt x="3" y="168"/>
                    <a:pt x="0" y="165"/>
                    <a:pt x="0" y="162"/>
                  </a:cubicBezTo>
                  <a:cubicBezTo>
                    <a:pt x="0" y="126"/>
                    <a:pt x="0" y="126"/>
                    <a:pt x="0" y="126"/>
                  </a:cubicBezTo>
                  <a:cubicBezTo>
                    <a:pt x="0" y="122"/>
                    <a:pt x="3" y="120"/>
                    <a:pt x="6" y="120"/>
                  </a:cubicBezTo>
                  <a:cubicBezTo>
                    <a:pt x="40" y="120"/>
                    <a:pt x="40" y="120"/>
                    <a:pt x="40" y="120"/>
                  </a:cubicBezTo>
                  <a:cubicBezTo>
                    <a:pt x="43" y="110"/>
                    <a:pt x="46" y="100"/>
                    <a:pt x="49" y="92"/>
                  </a:cubicBezTo>
                  <a:cubicBezTo>
                    <a:pt x="25" y="67"/>
                    <a:pt x="25" y="67"/>
                    <a:pt x="25" y="67"/>
                  </a:cubicBezTo>
                  <a:cubicBezTo>
                    <a:pt x="24" y="66"/>
                    <a:pt x="23" y="65"/>
                    <a:pt x="23" y="63"/>
                  </a:cubicBezTo>
                  <a:cubicBezTo>
                    <a:pt x="23" y="61"/>
                    <a:pt x="24" y="60"/>
                    <a:pt x="25" y="59"/>
                  </a:cubicBezTo>
                  <a:cubicBezTo>
                    <a:pt x="59" y="25"/>
                    <a:pt x="59" y="25"/>
                    <a:pt x="59" y="25"/>
                  </a:cubicBezTo>
                  <a:cubicBezTo>
                    <a:pt x="61" y="23"/>
                    <a:pt x="65" y="23"/>
                    <a:pt x="67" y="25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100" y="45"/>
                    <a:pt x="110" y="42"/>
                    <a:pt x="120" y="40"/>
                  </a:cubicBezTo>
                  <a:cubicBezTo>
                    <a:pt x="120" y="6"/>
                    <a:pt x="120" y="6"/>
                    <a:pt x="120" y="6"/>
                  </a:cubicBezTo>
                  <a:cubicBezTo>
                    <a:pt x="120" y="2"/>
                    <a:pt x="123" y="0"/>
                    <a:pt x="126" y="0"/>
                  </a:cubicBezTo>
                  <a:cubicBezTo>
                    <a:pt x="162" y="0"/>
                    <a:pt x="162" y="0"/>
                    <a:pt x="162" y="0"/>
                  </a:cubicBezTo>
                  <a:cubicBezTo>
                    <a:pt x="165" y="0"/>
                    <a:pt x="168" y="2"/>
                    <a:pt x="168" y="6"/>
                  </a:cubicBezTo>
                  <a:cubicBezTo>
                    <a:pt x="168" y="40"/>
                    <a:pt x="168" y="40"/>
                    <a:pt x="168" y="40"/>
                  </a:cubicBezTo>
                  <a:cubicBezTo>
                    <a:pt x="179" y="43"/>
                    <a:pt x="192" y="47"/>
                    <a:pt x="200" y="52"/>
                  </a:cubicBezTo>
                  <a:cubicBezTo>
                    <a:pt x="203" y="53"/>
                    <a:pt x="204" y="57"/>
                    <a:pt x="202" y="60"/>
                  </a:cubicBezTo>
                  <a:cubicBezTo>
                    <a:pt x="200" y="63"/>
                    <a:pt x="197" y="63"/>
                    <a:pt x="194" y="62"/>
                  </a:cubicBezTo>
                  <a:cubicBezTo>
                    <a:pt x="186" y="57"/>
                    <a:pt x="171" y="53"/>
                    <a:pt x="160" y="50"/>
                  </a:cubicBezTo>
                  <a:cubicBezTo>
                    <a:pt x="158" y="50"/>
                    <a:pt x="156" y="47"/>
                    <a:pt x="156" y="45"/>
                  </a:cubicBezTo>
                  <a:cubicBezTo>
                    <a:pt x="156" y="12"/>
                    <a:pt x="156" y="12"/>
                    <a:pt x="156" y="12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7"/>
                    <a:pt x="130" y="50"/>
                    <a:pt x="127" y="50"/>
                  </a:cubicBezTo>
                  <a:cubicBezTo>
                    <a:pt x="117" y="53"/>
                    <a:pt x="102" y="57"/>
                    <a:pt x="94" y="62"/>
                  </a:cubicBezTo>
                  <a:cubicBezTo>
                    <a:pt x="92" y="63"/>
                    <a:pt x="89" y="63"/>
                    <a:pt x="87" y="61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61" y="86"/>
                    <a:pt x="61" y="86"/>
                    <a:pt x="61" y="86"/>
                  </a:cubicBezTo>
                  <a:cubicBezTo>
                    <a:pt x="63" y="88"/>
                    <a:pt x="63" y="91"/>
                    <a:pt x="62" y="94"/>
                  </a:cubicBezTo>
                  <a:cubicBezTo>
                    <a:pt x="57" y="103"/>
                    <a:pt x="52" y="120"/>
                    <a:pt x="51" y="127"/>
                  </a:cubicBezTo>
                  <a:cubicBezTo>
                    <a:pt x="50" y="130"/>
                    <a:pt x="48" y="132"/>
                    <a:pt x="45" y="132"/>
                  </a:cubicBezTo>
                  <a:cubicBezTo>
                    <a:pt x="12" y="132"/>
                    <a:pt x="12" y="132"/>
                    <a:pt x="12" y="132"/>
                  </a:cubicBezTo>
                  <a:cubicBezTo>
                    <a:pt x="12" y="156"/>
                    <a:pt x="12" y="156"/>
                    <a:pt x="12" y="156"/>
                  </a:cubicBezTo>
                  <a:cubicBezTo>
                    <a:pt x="45" y="156"/>
                    <a:pt x="45" y="156"/>
                    <a:pt x="45" y="156"/>
                  </a:cubicBezTo>
                  <a:cubicBezTo>
                    <a:pt x="48" y="156"/>
                    <a:pt x="50" y="158"/>
                    <a:pt x="51" y="160"/>
                  </a:cubicBezTo>
                  <a:cubicBezTo>
                    <a:pt x="52" y="167"/>
                    <a:pt x="57" y="185"/>
                    <a:pt x="62" y="194"/>
                  </a:cubicBezTo>
                  <a:cubicBezTo>
                    <a:pt x="63" y="196"/>
                    <a:pt x="63" y="199"/>
                    <a:pt x="61" y="201"/>
                  </a:cubicBezTo>
                  <a:cubicBezTo>
                    <a:pt x="38" y="224"/>
                    <a:pt x="38" y="224"/>
                    <a:pt x="38" y="224"/>
                  </a:cubicBezTo>
                  <a:cubicBezTo>
                    <a:pt x="63" y="250"/>
                    <a:pt x="63" y="250"/>
                    <a:pt x="63" y="250"/>
                  </a:cubicBezTo>
                  <a:cubicBezTo>
                    <a:pt x="87" y="226"/>
                    <a:pt x="87" y="226"/>
                    <a:pt x="87" y="226"/>
                  </a:cubicBezTo>
                  <a:cubicBezTo>
                    <a:pt x="88" y="224"/>
                    <a:pt x="92" y="224"/>
                    <a:pt x="94" y="226"/>
                  </a:cubicBezTo>
                  <a:cubicBezTo>
                    <a:pt x="103" y="231"/>
                    <a:pt x="121" y="235"/>
                    <a:pt x="127" y="237"/>
                  </a:cubicBezTo>
                  <a:cubicBezTo>
                    <a:pt x="130" y="238"/>
                    <a:pt x="132" y="240"/>
                    <a:pt x="132" y="243"/>
                  </a:cubicBezTo>
                  <a:cubicBezTo>
                    <a:pt x="132" y="276"/>
                    <a:pt x="132" y="276"/>
                    <a:pt x="132" y="276"/>
                  </a:cubicBezTo>
                  <a:cubicBezTo>
                    <a:pt x="156" y="276"/>
                    <a:pt x="156" y="276"/>
                    <a:pt x="156" y="276"/>
                  </a:cubicBezTo>
                  <a:cubicBezTo>
                    <a:pt x="156" y="243"/>
                    <a:pt x="156" y="243"/>
                    <a:pt x="156" y="243"/>
                  </a:cubicBezTo>
                  <a:cubicBezTo>
                    <a:pt x="156" y="240"/>
                    <a:pt x="158" y="238"/>
                    <a:pt x="160" y="237"/>
                  </a:cubicBezTo>
                  <a:cubicBezTo>
                    <a:pt x="167" y="235"/>
                    <a:pt x="185" y="231"/>
                    <a:pt x="194" y="226"/>
                  </a:cubicBezTo>
                  <a:cubicBezTo>
                    <a:pt x="196" y="224"/>
                    <a:pt x="199" y="224"/>
                    <a:pt x="201" y="226"/>
                  </a:cubicBezTo>
                  <a:cubicBezTo>
                    <a:pt x="224" y="250"/>
                    <a:pt x="224" y="250"/>
                    <a:pt x="224" y="250"/>
                  </a:cubicBezTo>
                  <a:cubicBezTo>
                    <a:pt x="250" y="224"/>
                    <a:pt x="250" y="224"/>
                    <a:pt x="250" y="224"/>
                  </a:cubicBezTo>
                  <a:cubicBezTo>
                    <a:pt x="227" y="201"/>
                    <a:pt x="227" y="201"/>
                    <a:pt x="227" y="201"/>
                  </a:cubicBezTo>
                  <a:cubicBezTo>
                    <a:pt x="225" y="199"/>
                    <a:pt x="224" y="196"/>
                    <a:pt x="226" y="194"/>
                  </a:cubicBezTo>
                  <a:cubicBezTo>
                    <a:pt x="231" y="185"/>
                    <a:pt x="235" y="167"/>
                    <a:pt x="237" y="160"/>
                  </a:cubicBezTo>
                  <a:cubicBezTo>
                    <a:pt x="238" y="158"/>
                    <a:pt x="240" y="156"/>
                    <a:pt x="243" y="156"/>
                  </a:cubicBezTo>
                  <a:cubicBezTo>
                    <a:pt x="276" y="156"/>
                    <a:pt x="276" y="156"/>
                    <a:pt x="276" y="156"/>
                  </a:cubicBezTo>
                  <a:cubicBezTo>
                    <a:pt x="276" y="132"/>
                    <a:pt x="276" y="132"/>
                    <a:pt x="276" y="132"/>
                  </a:cubicBezTo>
                  <a:cubicBezTo>
                    <a:pt x="243" y="132"/>
                    <a:pt x="243" y="132"/>
                    <a:pt x="243" y="132"/>
                  </a:cubicBezTo>
                  <a:cubicBezTo>
                    <a:pt x="240" y="132"/>
                    <a:pt x="238" y="130"/>
                    <a:pt x="237" y="127"/>
                  </a:cubicBezTo>
                  <a:cubicBezTo>
                    <a:pt x="236" y="121"/>
                    <a:pt x="234" y="114"/>
                    <a:pt x="231" y="107"/>
                  </a:cubicBezTo>
                  <a:cubicBezTo>
                    <a:pt x="230" y="103"/>
                    <a:pt x="232" y="100"/>
                    <a:pt x="235" y="99"/>
                  </a:cubicBezTo>
                  <a:cubicBezTo>
                    <a:pt x="238" y="98"/>
                    <a:pt x="242" y="100"/>
                    <a:pt x="243" y="103"/>
                  </a:cubicBezTo>
                  <a:cubicBezTo>
                    <a:pt x="245" y="108"/>
                    <a:pt x="246" y="114"/>
                    <a:pt x="248" y="120"/>
                  </a:cubicBezTo>
                  <a:cubicBezTo>
                    <a:pt x="282" y="120"/>
                    <a:pt x="282" y="120"/>
                    <a:pt x="282" y="120"/>
                  </a:cubicBezTo>
                  <a:cubicBezTo>
                    <a:pt x="285" y="120"/>
                    <a:pt x="288" y="122"/>
                    <a:pt x="288" y="126"/>
                  </a:cubicBezTo>
                  <a:cubicBezTo>
                    <a:pt x="288" y="162"/>
                    <a:pt x="288" y="162"/>
                    <a:pt x="288" y="162"/>
                  </a:cubicBezTo>
                  <a:cubicBezTo>
                    <a:pt x="288" y="165"/>
                    <a:pt x="285" y="168"/>
                    <a:pt x="282" y="168"/>
                  </a:cubicBezTo>
                  <a:cubicBezTo>
                    <a:pt x="248" y="168"/>
                    <a:pt x="248" y="168"/>
                    <a:pt x="248" y="168"/>
                  </a:cubicBezTo>
                  <a:cubicBezTo>
                    <a:pt x="245" y="177"/>
                    <a:pt x="242" y="188"/>
                    <a:pt x="238" y="196"/>
                  </a:cubicBezTo>
                  <a:cubicBezTo>
                    <a:pt x="263" y="220"/>
                    <a:pt x="263" y="220"/>
                    <a:pt x="263" y="220"/>
                  </a:cubicBezTo>
                  <a:cubicBezTo>
                    <a:pt x="265" y="222"/>
                    <a:pt x="265" y="226"/>
                    <a:pt x="263" y="229"/>
                  </a:cubicBezTo>
                  <a:cubicBezTo>
                    <a:pt x="229" y="262"/>
                    <a:pt x="229" y="262"/>
                    <a:pt x="229" y="262"/>
                  </a:cubicBezTo>
                  <a:cubicBezTo>
                    <a:pt x="226" y="265"/>
                    <a:pt x="223" y="265"/>
                    <a:pt x="220" y="262"/>
                  </a:cubicBezTo>
                  <a:cubicBezTo>
                    <a:pt x="196" y="238"/>
                    <a:pt x="196" y="238"/>
                    <a:pt x="196" y="238"/>
                  </a:cubicBezTo>
                  <a:cubicBezTo>
                    <a:pt x="188" y="242"/>
                    <a:pt x="177" y="245"/>
                    <a:pt x="168" y="247"/>
                  </a:cubicBezTo>
                  <a:cubicBezTo>
                    <a:pt x="168" y="282"/>
                    <a:pt x="168" y="282"/>
                    <a:pt x="168" y="282"/>
                  </a:cubicBezTo>
                  <a:cubicBezTo>
                    <a:pt x="168" y="285"/>
                    <a:pt x="165" y="288"/>
                    <a:pt x="162" y="2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31" name="Freeform 35">
              <a:extLst>
                <a:ext uri="{FF2B5EF4-FFF2-40B4-BE49-F238E27FC236}">
                  <a16:creationId xmlns:a16="http://schemas.microsoft.com/office/drawing/2014/main" id="{C99773FD-5EFC-9448-D50A-F89C2C4C56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7" y="437"/>
              <a:ext cx="299" cy="265"/>
            </a:xfrm>
            <a:custGeom>
              <a:avLst/>
              <a:gdLst>
                <a:gd name="T0" fmla="*/ 61 w 202"/>
                <a:gd name="T1" fmla="*/ 179 h 179"/>
                <a:gd name="T2" fmla="*/ 56 w 202"/>
                <a:gd name="T3" fmla="*/ 177 h 179"/>
                <a:gd name="T4" fmla="*/ 3 w 202"/>
                <a:gd name="T5" fmla="*/ 124 h 179"/>
                <a:gd name="T6" fmla="*/ 3 w 202"/>
                <a:gd name="T7" fmla="*/ 115 h 179"/>
                <a:gd name="T8" fmla="*/ 11 w 202"/>
                <a:gd name="T9" fmla="*/ 115 h 179"/>
                <a:gd name="T10" fmla="*/ 60 w 202"/>
                <a:gd name="T11" fmla="*/ 164 h 179"/>
                <a:gd name="T12" fmla="*/ 190 w 202"/>
                <a:gd name="T13" fmla="*/ 3 h 179"/>
                <a:gd name="T14" fmla="*/ 199 w 202"/>
                <a:gd name="T15" fmla="*/ 2 h 179"/>
                <a:gd name="T16" fmla="*/ 200 w 202"/>
                <a:gd name="T17" fmla="*/ 10 h 179"/>
                <a:gd name="T18" fmla="*/ 65 w 202"/>
                <a:gd name="T19" fmla="*/ 177 h 179"/>
                <a:gd name="T20" fmla="*/ 61 w 202"/>
                <a:gd name="T21" fmla="*/ 179 h 179"/>
                <a:gd name="T22" fmla="*/ 61 w 202"/>
                <a:gd name="T23" fmla="*/ 179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2" h="179">
                  <a:moveTo>
                    <a:pt x="61" y="179"/>
                  </a:moveTo>
                  <a:cubicBezTo>
                    <a:pt x="59" y="179"/>
                    <a:pt x="57" y="179"/>
                    <a:pt x="56" y="177"/>
                  </a:cubicBezTo>
                  <a:cubicBezTo>
                    <a:pt x="3" y="124"/>
                    <a:pt x="3" y="124"/>
                    <a:pt x="3" y="124"/>
                  </a:cubicBezTo>
                  <a:cubicBezTo>
                    <a:pt x="0" y="121"/>
                    <a:pt x="0" y="118"/>
                    <a:pt x="3" y="115"/>
                  </a:cubicBezTo>
                  <a:cubicBezTo>
                    <a:pt x="5" y="113"/>
                    <a:pt x="9" y="113"/>
                    <a:pt x="11" y="115"/>
                  </a:cubicBezTo>
                  <a:cubicBezTo>
                    <a:pt x="60" y="164"/>
                    <a:pt x="60" y="164"/>
                    <a:pt x="60" y="164"/>
                  </a:cubicBezTo>
                  <a:cubicBezTo>
                    <a:pt x="190" y="3"/>
                    <a:pt x="190" y="3"/>
                    <a:pt x="190" y="3"/>
                  </a:cubicBezTo>
                  <a:cubicBezTo>
                    <a:pt x="192" y="0"/>
                    <a:pt x="196" y="0"/>
                    <a:pt x="199" y="2"/>
                  </a:cubicBezTo>
                  <a:cubicBezTo>
                    <a:pt x="201" y="4"/>
                    <a:pt x="202" y="8"/>
                    <a:pt x="200" y="10"/>
                  </a:cubicBezTo>
                  <a:cubicBezTo>
                    <a:pt x="65" y="177"/>
                    <a:pt x="65" y="177"/>
                    <a:pt x="65" y="177"/>
                  </a:cubicBezTo>
                  <a:cubicBezTo>
                    <a:pt x="64" y="178"/>
                    <a:pt x="63" y="179"/>
                    <a:pt x="61" y="179"/>
                  </a:cubicBezTo>
                  <a:cubicBezTo>
                    <a:pt x="61" y="179"/>
                    <a:pt x="61" y="179"/>
                    <a:pt x="61" y="17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</p:grpSp>
      <p:pic>
        <p:nvPicPr>
          <p:cNvPr id="32" name="Graphic 31" descr="User with solid fill">
            <a:extLst>
              <a:ext uri="{FF2B5EF4-FFF2-40B4-BE49-F238E27FC236}">
                <a16:creationId xmlns:a16="http://schemas.microsoft.com/office/drawing/2014/main" id="{C29BEB50-0410-D806-C255-7BBA63E7C6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848" y="4650412"/>
            <a:ext cx="426575" cy="426575"/>
          </a:xfrm>
          <a:prstGeom prst="rect">
            <a:avLst/>
          </a:prstGeom>
        </p:spPr>
      </p:pic>
      <p:sp>
        <p:nvSpPr>
          <p:cNvPr id="13" name="Arrow: Left 12">
            <a:hlinkClick r:id="rId7" action="ppaction://hlinksldjump"/>
            <a:extLst>
              <a:ext uri="{FF2B5EF4-FFF2-40B4-BE49-F238E27FC236}">
                <a16:creationId xmlns:a16="http://schemas.microsoft.com/office/drawing/2014/main" id="{A3D5D303-FC60-5F06-7D54-054F00C97926}"/>
              </a:ext>
            </a:extLst>
          </p:cNvPr>
          <p:cNvSpPr/>
          <p:nvPr/>
        </p:nvSpPr>
        <p:spPr>
          <a:xfrm>
            <a:off x="11506534" y="193325"/>
            <a:ext cx="475048" cy="319931"/>
          </a:xfrm>
          <a:prstGeom prst="lef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B0E67EE-A1B9-273A-FD50-C891B223E463}"/>
              </a:ext>
            </a:extLst>
          </p:cNvPr>
          <p:cNvGrpSpPr/>
          <p:nvPr/>
        </p:nvGrpSpPr>
        <p:grpSpPr>
          <a:xfrm>
            <a:off x="153423" y="3661054"/>
            <a:ext cx="720000" cy="720000"/>
            <a:chOff x="13338894" y="1587234"/>
            <a:chExt cx="720000" cy="72000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7F35165-9835-A13F-0A3C-A46715016631}"/>
                </a:ext>
              </a:extLst>
            </p:cNvPr>
            <p:cNvSpPr/>
            <p:nvPr/>
          </p:nvSpPr>
          <p:spPr>
            <a:xfrm flipV="1">
              <a:off x="13338894" y="1587234"/>
              <a:ext cx="720000" cy="720000"/>
            </a:xfrm>
            <a:prstGeom prst="ellipse">
              <a:avLst/>
            </a:prstGeom>
            <a:solidFill>
              <a:schemeClr val="bg1"/>
            </a:solidFill>
            <a:ln w="22225" cap="flat" cmpd="sng" algn="ctr">
              <a:solidFill>
                <a:srgbClr val="7500C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grpSp>
          <p:nvGrpSpPr>
            <p:cNvPr id="15" name="Group 104">
              <a:extLst>
                <a:ext uri="{FF2B5EF4-FFF2-40B4-BE49-F238E27FC236}">
                  <a16:creationId xmlns:a16="http://schemas.microsoft.com/office/drawing/2014/main" id="{B29373A8-D95A-598E-0384-8D06DC18499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524907" y="1698240"/>
              <a:ext cx="347973" cy="523184"/>
              <a:chOff x="1443" y="2997"/>
              <a:chExt cx="284" cy="427"/>
            </a:xfrm>
            <a:solidFill>
              <a:srgbClr val="7500C0"/>
            </a:solidFill>
          </p:grpSpPr>
          <p:sp>
            <p:nvSpPr>
              <p:cNvPr id="16" name="Freeform 105">
                <a:extLst>
                  <a:ext uri="{FF2B5EF4-FFF2-40B4-BE49-F238E27FC236}">
                    <a16:creationId xmlns:a16="http://schemas.microsoft.com/office/drawing/2014/main" id="{227A5BCA-0DA0-A448-E824-607FD5BD946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62" y="3104"/>
                <a:ext cx="261" cy="320"/>
              </a:xfrm>
              <a:custGeom>
                <a:avLst/>
                <a:gdLst>
                  <a:gd name="T0" fmla="*/ 155 w 176"/>
                  <a:gd name="T1" fmla="*/ 216 h 216"/>
                  <a:gd name="T2" fmla="*/ 59 w 176"/>
                  <a:gd name="T3" fmla="*/ 216 h 216"/>
                  <a:gd name="T4" fmla="*/ 54 w 176"/>
                  <a:gd name="T5" fmla="*/ 213 h 216"/>
                  <a:gd name="T6" fmla="*/ 6 w 176"/>
                  <a:gd name="T7" fmla="*/ 141 h 216"/>
                  <a:gd name="T8" fmla="*/ 4 w 176"/>
                  <a:gd name="T9" fmla="*/ 116 h 216"/>
                  <a:gd name="T10" fmla="*/ 17 w 176"/>
                  <a:gd name="T11" fmla="*/ 108 h 216"/>
                  <a:gd name="T12" fmla="*/ 59 w 176"/>
                  <a:gd name="T13" fmla="*/ 137 h 216"/>
                  <a:gd name="T14" fmla="*/ 59 w 176"/>
                  <a:gd name="T15" fmla="*/ 24 h 216"/>
                  <a:gd name="T16" fmla="*/ 83 w 176"/>
                  <a:gd name="T17" fmla="*/ 0 h 216"/>
                  <a:gd name="T18" fmla="*/ 107 w 176"/>
                  <a:gd name="T19" fmla="*/ 24 h 216"/>
                  <a:gd name="T20" fmla="*/ 107 w 176"/>
                  <a:gd name="T21" fmla="*/ 92 h 216"/>
                  <a:gd name="T22" fmla="*/ 156 w 176"/>
                  <a:gd name="T23" fmla="*/ 108 h 216"/>
                  <a:gd name="T24" fmla="*/ 173 w 176"/>
                  <a:gd name="T25" fmla="*/ 145 h 216"/>
                  <a:gd name="T26" fmla="*/ 161 w 176"/>
                  <a:gd name="T27" fmla="*/ 211 h 216"/>
                  <a:gd name="T28" fmla="*/ 155 w 176"/>
                  <a:gd name="T29" fmla="*/ 216 h 216"/>
                  <a:gd name="T30" fmla="*/ 62 w 176"/>
                  <a:gd name="T31" fmla="*/ 204 h 216"/>
                  <a:gd name="T32" fmla="*/ 150 w 176"/>
                  <a:gd name="T33" fmla="*/ 204 h 216"/>
                  <a:gd name="T34" fmla="*/ 161 w 176"/>
                  <a:gd name="T35" fmla="*/ 143 h 216"/>
                  <a:gd name="T36" fmla="*/ 152 w 176"/>
                  <a:gd name="T37" fmla="*/ 120 h 216"/>
                  <a:gd name="T38" fmla="*/ 99 w 176"/>
                  <a:gd name="T39" fmla="*/ 102 h 216"/>
                  <a:gd name="T40" fmla="*/ 95 w 176"/>
                  <a:gd name="T41" fmla="*/ 96 h 216"/>
                  <a:gd name="T42" fmla="*/ 95 w 176"/>
                  <a:gd name="T43" fmla="*/ 24 h 216"/>
                  <a:gd name="T44" fmla="*/ 83 w 176"/>
                  <a:gd name="T45" fmla="*/ 12 h 216"/>
                  <a:gd name="T46" fmla="*/ 71 w 176"/>
                  <a:gd name="T47" fmla="*/ 24 h 216"/>
                  <a:gd name="T48" fmla="*/ 71 w 176"/>
                  <a:gd name="T49" fmla="*/ 156 h 216"/>
                  <a:gd name="T50" fmla="*/ 67 w 176"/>
                  <a:gd name="T51" fmla="*/ 162 h 216"/>
                  <a:gd name="T52" fmla="*/ 60 w 176"/>
                  <a:gd name="T53" fmla="*/ 159 h 216"/>
                  <a:gd name="T54" fmla="*/ 17 w 176"/>
                  <a:gd name="T55" fmla="*/ 120 h 216"/>
                  <a:gd name="T56" fmla="*/ 14 w 176"/>
                  <a:gd name="T57" fmla="*/ 121 h 216"/>
                  <a:gd name="T58" fmla="*/ 16 w 176"/>
                  <a:gd name="T59" fmla="*/ 135 h 216"/>
                  <a:gd name="T60" fmla="*/ 62 w 176"/>
                  <a:gd name="T61" fmla="*/ 204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76" h="216">
                    <a:moveTo>
                      <a:pt x="155" y="216"/>
                    </a:moveTo>
                    <a:cubicBezTo>
                      <a:pt x="59" y="216"/>
                      <a:pt x="59" y="216"/>
                      <a:pt x="59" y="216"/>
                    </a:cubicBezTo>
                    <a:cubicBezTo>
                      <a:pt x="57" y="216"/>
                      <a:pt x="55" y="215"/>
                      <a:pt x="54" y="213"/>
                    </a:cubicBezTo>
                    <a:cubicBezTo>
                      <a:pt x="6" y="141"/>
                      <a:pt x="6" y="141"/>
                      <a:pt x="6" y="141"/>
                    </a:cubicBezTo>
                    <a:cubicBezTo>
                      <a:pt x="2" y="135"/>
                      <a:pt x="0" y="124"/>
                      <a:pt x="4" y="116"/>
                    </a:cubicBezTo>
                    <a:cubicBezTo>
                      <a:pt x="6" y="111"/>
                      <a:pt x="11" y="108"/>
                      <a:pt x="17" y="108"/>
                    </a:cubicBezTo>
                    <a:cubicBezTo>
                      <a:pt x="30" y="108"/>
                      <a:pt x="42" y="113"/>
                      <a:pt x="59" y="137"/>
                    </a:cubicBezTo>
                    <a:cubicBezTo>
                      <a:pt x="59" y="24"/>
                      <a:pt x="59" y="24"/>
                      <a:pt x="59" y="24"/>
                    </a:cubicBezTo>
                    <a:cubicBezTo>
                      <a:pt x="59" y="11"/>
                      <a:pt x="70" y="0"/>
                      <a:pt x="83" y="0"/>
                    </a:cubicBezTo>
                    <a:cubicBezTo>
                      <a:pt x="96" y="0"/>
                      <a:pt x="107" y="11"/>
                      <a:pt x="107" y="24"/>
                    </a:cubicBezTo>
                    <a:cubicBezTo>
                      <a:pt x="107" y="92"/>
                      <a:pt x="107" y="92"/>
                      <a:pt x="107" y="92"/>
                    </a:cubicBezTo>
                    <a:cubicBezTo>
                      <a:pt x="156" y="108"/>
                      <a:pt x="156" y="108"/>
                      <a:pt x="156" y="108"/>
                    </a:cubicBezTo>
                    <a:cubicBezTo>
                      <a:pt x="172" y="113"/>
                      <a:pt x="176" y="131"/>
                      <a:pt x="173" y="145"/>
                    </a:cubicBezTo>
                    <a:cubicBezTo>
                      <a:pt x="161" y="211"/>
                      <a:pt x="161" y="211"/>
                      <a:pt x="161" y="211"/>
                    </a:cubicBezTo>
                    <a:cubicBezTo>
                      <a:pt x="161" y="214"/>
                      <a:pt x="158" y="216"/>
                      <a:pt x="155" y="216"/>
                    </a:cubicBezTo>
                    <a:close/>
                    <a:moveTo>
                      <a:pt x="62" y="204"/>
                    </a:moveTo>
                    <a:cubicBezTo>
                      <a:pt x="150" y="204"/>
                      <a:pt x="150" y="204"/>
                      <a:pt x="150" y="204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3" y="134"/>
                      <a:pt x="161" y="123"/>
                      <a:pt x="152" y="120"/>
                    </a:cubicBezTo>
                    <a:cubicBezTo>
                      <a:pt x="99" y="102"/>
                      <a:pt x="99" y="102"/>
                      <a:pt x="99" y="102"/>
                    </a:cubicBezTo>
                    <a:cubicBezTo>
                      <a:pt x="97" y="101"/>
                      <a:pt x="95" y="99"/>
                      <a:pt x="95" y="96"/>
                    </a:cubicBezTo>
                    <a:cubicBezTo>
                      <a:pt x="95" y="24"/>
                      <a:pt x="95" y="24"/>
                      <a:pt x="95" y="24"/>
                    </a:cubicBezTo>
                    <a:cubicBezTo>
                      <a:pt x="95" y="17"/>
                      <a:pt x="90" y="12"/>
                      <a:pt x="83" y="12"/>
                    </a:cubicBezTo>
                    <a:cubicBezTo>
                      <a:pt x="77" y="12"/>
                      <a:pt x="71" y="18"/>
                      <a:pt x="71" y="24"/>
                    </a:cubicBezTo>
                    <a:cubicBezTo>
                      <a:pt x="71" y="156"/>
                      <a:pt x="71" y="156"/>
                      <a:pt x="71" y="156"/>
                    </a:cubicBezTo>
                    <a:cubicBezTo>
                      <a:pt x="71" y="159"/>
                      <a:pt x="69" y="161"/>
                      <a:pt x="67" y="162"/>
                    </a:cubicBezTo>
                    <a:cubicBezTo>
                      <a:pt x="64" y="163"/>
                      <a:pt x="62" y="162"/>
                      <a:pt x="60" y="159"/>
                    </a:cubicBezTo>
                    <a:cubicBezTo>
                      <a:pt x="37" y="123"/>
                      <a:pt x="26" y="120"/>
                      <a:pt x="17" y="120"/>
                    </a:cubicBezTo>
                    <a:cubicBezTo>
                      <a:pt x="15" y="120"/>
                      <a:pt x="15" y="121"/>
                      <a:pt x="14" y="121"/>
                    </a:cubicBezTo>
                    <a:cubicBezTo>
                      <a:pt x="13" y="124"/>
                      <a:pt x="14" y="131"/>
                      <a:pt x="16" y="135"/>
                    </a:cubicBezTo>
                    <a:lnTo>
                      <a:pt x="62" y="20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7" name="Freeform 106">
                <a:extLst>
                  <a:ext uri="{FF2B5EF4-FFF2-40B4-BE49-F238E27FC236}">
                    <a16:creationId xmlns:a16="http://schemas.microsoft.com/office/drawing/2014/main" id="{0E3C0609-1808-83C1-4BCE-116B07ADF1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6" y="3122"/>
                <a:ext cx="71" cy="17"/>
              </a:xfrm>
              <a:custGeom>
                <a:avLst/>
                <a:gdLst>
                  <a:gd name="T0" fmla="*/ 42 w 48"/>
                  <a:gd name="T1" fmla="*/ 12 h 12"/>
                  <a:gd name="T2" fmla="*/ 6 w 48"/>
                  <a:gd name="T3" fmla="*/ 12 h 12"/>
                  <a:gd name="T4" fmla="*/ 0 w 48"/>
                  <a:gd name="T5" fmla="*/ 6 h 12"/>
                  <a:gd name="T6" fmla="*/ 6 w 48"/>
                  <a:gd name="T7" fmla="*/ 0 h 12"/>
                  <a:gd name="T8" fmla="*/ 42 w 48"/>
                  <a:gd name="T9" fmla="*/ 0 h 12"/>
                  <a:gd name="T10" fmla="*/ 48 w 48"/>
                  <a:gd name="T11" fmla="*/ 6 h 12"/>
                  <a:gd name="T12" fmla="*/ 42 w 48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12">
                    <a:moveTo>
                      <a:pt x="42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6" y="0"/>
                      <a:pt x="48" y="3"/>
                      <a:pt x="48" y="6"/>
                    </a:cubicBezTo>
                    <a:cubicBezTo>
                      <a:pt x="48" y="9"/>
                      <a:pt x="46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8" name="Freeform 107">
                <a:extLst>
                  <a:ext uri="{FF2B5EF4-FFF2-40B4-BE49-F238E27FC236}">
                    <a16:creationId xmlns:a16="http://schemas.microsoft.com/office/drawing/2014/main" id="{3F2BD0FE-3CAD-7129-4034-B3114F1BDE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8" y="3031"/>
                <a:ext cx="55" cy="55"/>
              </a:xfrm>
              <a:custGeom>
                <a:avLst/>
                <a:gdLst>
                  <a:gd name="T0" fmla="*/ 6 w 37"/>
                  <a:gd name="T1" fmla="*/ 37 h 37"/>
                  <a:gd name="T2" fmla="*/ 2 w 37"/>
                  <a:gd name="T3" fmla="*/ 35 h 37"/>
                  <a:gd name="T4" fmla="*/ 2 w 37"/>
                  <a:gd name="T5" fmla="*/ 27 h 37"/>
                  <a:gd name="T6" fmla="*/ 26 w 37"/>
                  <a:gd name="T7" fmla="*/ 3 h 37"/>
                  <a:gd name="T8" fmla="*/ 34 w 37"/>
                  <a:gd name="T9" fmla="*/ 3 h 37"/>
                  <a:gd name="T10" fmla="*/ 34 w 37"/>
                  <a:gd name="T11" fmla="*/ 11 h 37"/>
                  <a:gd name="T12" fmla="*/ 10 w 37"/>
                  <a:gd name="T13" fmla="*/ 35 h 37"/>
                  <a:gd name="T14" fmla="*/ 6 w 37"/>
                  <a:gd name="T15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7" h="37">
                    <a:moveTo>
                      <a:pt x="6" y="37"/>
                    </a:moveTo>
                    <a:cubicBezTo>
                      <a:pt x="5" y="37"/>
                      <a:pt x="3" y="36"/>
                      <a:pt x="2" y="35"/>
                    </a:cubicBezTo>
                    <a:cubicBezTo>
                      <a:pt x="0" y="33"/>
                      <a:pt x="0" y="29"/>
                      <a:pt x="2" y="27"/>
                    </a:cubicBezTo>
                    <a:cubicBezTo>
                      <a:pt x="26" y="3"/>
                      <a:pt x="26" y="3"/>
                      <a:pt x="26" y="3"/>
                    </a:cubicBezTo>
                    <a:cubicBezTo>
                      <a:pt x="28" y="0"/>
                      <a:pt x="32" y="0"/>
                      <a:pt x="34" y="3"/>
                    </a:cubicBezTo>
                    <a:cubicBezTo>
                      <a:pt x="37" y="5"/>
                      <a:pt x="37" y="9"/>
                      <a:pt x="34" y="11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9" y="36"/>
                      <a:pt x="8" y="37"/>
                      <a:pt x="6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20" name="Freeform 108">
                <a:extLst>
                  <a:ext uri="{FF2B5EF4-FFF2-40B4-BE49-F238E27FC236}">
                    <a16:creationId xmlns:a16="http://schemas.microsoft.com/office/drawing/2014/main" id="{C52B55C1-FD3F-D7E5-1EE0-68E408427A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5" y="2997"/>
                <a:ext cx="18" cy="71"/>
              </a:xfrm>
              <a:custGeom>
                <a:avLst/>
                <a:gdLst>
                  <a:gd name="T0" fmla="*/ 6 w 12"/>
                  <a:gd name="T1" fmla="*/ 48 h 48"/>
                  <a:gd name="T2" fmla="*/ 0 w 12"/>
                  <a:gd name="T3" fmla="*/ 42 h 48"/>
                  <a:gd name="T4" fmla="*/ 0 w 12"/>
                  <a:gd name="T5" fmla="*/ 6 h 48"/>
                  <a:gd name="T6" fmla="*/ 6 w 12"/>
                  <a:gd name="T7" fmla="*/ 0 h 48"/>
                  <a:gd name="T8" fmla="*/ 12 w 12"/>
                  <a:gd name="T9" fmla="*/ 6 h 48"/>
                  <a:gd name="T10" fmla="*/ 12 w 12"/>
                  <a:gd name="T11" fmla="*/ 42 h 48"/>
                  <a:gd name="T12" fmla="*/ 6 w 12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48">
                    <a:moveTo>
                      <a:pt x="6" y="48"/>
                    </a:moveTo>
                    <a:cubicBezTo>
                      <a:pt x="3" y="48"/>
                      <a:pt x="0" y="45"/>
                      <a:pt x="0" y="42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0" y="0"/>
                      <a:pt x="12" y="3"/>
                      <a:pt x="12" y="6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2" y="45"/>
                      <a:pt x="10" y="48"/>
                      <a:pt x="6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22" name="Freeform 109">
                <a:extLst>
                  <a:ext uri="{FF2B5EF4-FFF2-40B4-BE49-F238E27FC236}">
                    <a16:creationId xmlns:a16="http://schemas.microsoft.com/office/drawing/2014/main" id="{9D59A060-F5A7-B117-6E2D-F225A8B335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8" y="3031"/>
                <a:ext cx="55" cy="55"/>
              </a:xfrm>
              <a:custGeom>
                <a:avLst/>
                <a:gdLst>
                  <a:gd name="T0" fmla="*/ 30 w 37"/>
                  <a:gd name="T1" fmla="*/ 37 h 37"/>
                  <a:gd name="T2" fmla="*/ 26 w 37"/>
                  <a:gd name="T3" fmla="*/ 35 h 37"/>
                  <a:gd name="T4" fmla="*/ 2 w 37"/>
                  <a:gd name="T5" fmla="*/ 11 h 37"/>
                  <a:gd name="T6" fmla="*/ 2 w 37"/>
                  <a:gd name="T7" fmla="*/ 3 h 37"/>
                  <a:gd name="T8" fmla="*/ 10 w 37"/>
                  <a:gd name="T9" fmla="*/ 3 h 37"/>
                  <a:gd name="T10" fmla="*/ 34 w 37"/>
                  <a:gd name="T11" fmla="*/ 27 h 37"/>
                  <a:gd name="T12" fmla="*/ 34 w 37"/>
                  <a:gd name="T13" fmla="*/ 35 h 37"/>
                  <a:gd name="T14" fmla="*/ 30 w 37"/>
                  <a:gd name="T15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7" h="37">
                    <a:moveTo>
                      <a:pt x="30" y="37"/>
                    </a:moveTo>
                    <a:cubicBezTo>
                      <a:pt x="29" y="37"/>
                      <a:pt x="27" y="36"/>
                      <a:pt x="26" y="35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0" y="9"/>
                      <a:pt x="0" y="5"/>
                      <a:pt x="2" y="3"/>
                    </a:cubicBezTo>
                    <a:cubicBezTo>
                      <a:pt x="4" y="0"/>
                      <a:pt x="8" y="0"/>
                      <a:pt x="10" y="3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7" y="29"/>
                      <a:pt x="37" y="33"/>
                      <a:pt x="34" y="35"/>
                    </a:cubicBezTo>
                    <a:cubicBezTo>
                      <a:pt x="33" y="36"/>
                      <a:pt x="32" y="37"/>
                      <a:pt x="30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23" name="Freeform 110">
                <a:extLst>
                  <a:ext uri="{FF2B5EF4-FFF2-40B4-BE49-F238E27FC236}">
                    <a16:creationId xmlns:a16="http://schemas.microsoft.com/office/drawing/2014/main" id="{BEA07C0E-C0AD-FFBA-B380-A613EF5C44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3" y="3122"/>
                <a:ext cx="71" cy="17"/>
              </a:xfrm>
              <a:custGeom>
                <a:avLst/>
                <a:gdLst>
                  <a:gd name="T0" fmla="*/ 42 w 48"/>
                  <a:gd name="T1" fmla="*/ 12 h 12"/>
                  <a:gd name="T2" fmla="*/ 6 w 48"/>
                  <a:gd name="T3" fmla="*/ 12 h 12"/>
                  <a:gd name="T4" fmla="*/ 0 w 48"/>
                  <a:gd name="T5" fmla="*/ 6 h 12"/>
                  <a:gd name="T6" fmla="*/ 6 w 48"/>
                  <a:gd name="T7" fmla="*/ 0 h 12"/>
                  <a:gd name="T8" fmla="*/ 42 w 48"/>
                  <a:gd name="T9" fmla="*/ 0 h 12"/>
                  <a:gd name="T10" fmla="*/ 48 w 48"/>
                  <a:gd name="T11" fmla="*/ 6 h 12"/>
                  <a:gd name="T12" fmla="*/ 42 w 48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12">
                    <a:moveTo>
                      <a:pt x="42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6" y="0"/>
                      <a:pt x="48" y="3"/>
                      <a:pt x="48" y="6"/>
                    </a:cubicBezTo>
                    <a:cubicBezTo>
                      <a:pt x="48" y="9"/>
                      <a:pt x="46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18188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D9DD0-7194-1118-F6C3-BEECC83C7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F799F7-5975-1223-BA8F-52934922C1E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"/>
            <a:ext cx="12191996" cy="6858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56D03B-31F9-C308-8BD4-D44267533E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57" y="109141"/>
            <a:ext cx="11995686" cy="4775844"/>
          </a:xfrm>
          <a:prstGeom prst="rect">
            <a:avLst/>
          </a:prstGeom>
        </p:spPr>
      </p:pic>
      <p:pic>
        <p:nvPicPr>
          <p:cNvPr id="14" name="Picture 13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396C3683-07B5-77EA-9DB8-98A1A8BD28A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482516"/>
            <a:ext cx="192024" cy="2023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AD332B9-6F95-35D7-78A1-6D4194365AD5}"/>
              </a:ext>
            </a:extLst>
          </p:cNvPr>
          <p:cNvSpPr txBox="1"/>
          <p:nvPr/>
        </p:nvSpPr>
        <p:spPr>
          <a:xfrm>
            <a:off x="571497" y="5155257"/>
            <a:ext cx="5898579" cy="1327865"/>
          </a:xfrm>
          <a:prstGeom prst="rect">
            <a:avLst/>
          </a:prstGeom>
          <a:noFill/>
        </p:spPr>
        <p:txBody>
          <a:bodyPr wrap="square" lIns="0" tIns="0" rIns="0" bIns="0" numCol="1" rtlCol="0" anchor="ctr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What you need to do</a:t>
            </a:r>
          </a:p>
          <a:p>
            <a:pPr defTabSz="228600">
              <a:spcAft>
                <a:spcPts val="1200"/>
              </a:spcAft>
              <a:defRPr/>
            </a:pPr>
            <a:r>
              <a:rPr lang="en-US" sz="1200" b="1" dirty="0">
                <a:solidFill>
                  <a:srgbClr val="FFFFFF"/>
                </a:solidFill>
                <a:latin typeface="Graphik"/>
              </a:rPr>
              <a:t>Access Claim Case: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In the Claim Case assigned to you, you will be able to see: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The claim details submitted </a:t>
            </a:r>
            <a:r>
              <a:rPr lang="en-US" sz="1200" dirty="0">
                <a:solidFill>
                  <a:srgbClr val="FFFFFF"/>
                </a:solidFill>
                <a:latin typeface="Graphik"/>
              </a:rPr>
              <a:t>by the claimant</a:t>
            </a:r>
          </a:p>
          <a:p>
            <a:pPr marL="171450" lvl="0" indent="-171450">
              <a:buFont typeface="Wingdings" panose="05000000000000000000" pitchFamily="2" charset="2"/>
              <a:buChar char="§"/>
              <a:defRPr/>
            </a:pPr>
            <a:r>
              <a:rPr lang="en-US" sz="1200" dirty="0">
                <a:solidFill>
                  <a:srgbClr val="FFFFFF"/>
                </a:solidFill>
                <a:latin typeface="Graphik"/>
              </a:rPr>
              <a:t>Click on the “Claim Triage &amp; Adjudicate” to access the embedded link and open the claim review screen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4B0F9DB-6D52-A1D8-6FAA-36E9D1810837}"/>
              </a:ext>
            </a:extLst>
          </p:cNvPr>
          <p:cNvSpPr/>
          <p:nvPr/>
        </p:nvSpPr>
        <p:spPr>
          <a:xfrm>
            <a:off x="6645508" y="4985052"/>
            <a:ext cx="5360670" cy="173355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>
            <a:spAutoFit/>
          </a:bodyPr>
          <a:lstStyle/>
          <a:p>
            <a:pPr lvl="0" algn="ctr" defTabSz="228600">
              <a:spcAft>
                <a:spcPts val="1200"/>
              </a:spcAft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500C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What the system </a:t>
            </a:r>
            <a:r>
              <a:rPr lang="en-US" sz="1200" b="1" dirty="0">
                <a:solidFill>
                  <a:srgbClr val="7500C0"/>
                </a:solidFill>
                <a:latin typeface="Graphik"/>
              </a:rPr>
              <a:t>handles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500C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in the background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50" dirty="0">
                <a:solidFill>
                  <a:prstClr val="black"/>
                </a:solidFill>
                <a:latin typeface="Graphik" panose="020B0503030202060203" pitchFamily="34" charset="0"/>
              </a:rPr>
              <a:t>Once the case is assigned to you, the case status is updated from Ready for Review to Review in Progress; system starts tracking your handling time for the review at this point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50" dirty="0">
                <a:solidFill>
                  <a:prstClr val="black"/>
                </a:solidFill>
                <a:latin typeface="Graphik" panose="020B0503030202060203" pitchFamily="34" charset="0"/>
              </a:rPr>
              <a:t>To avoid overlaps or incorrect handling time calculations, the system ensures that you can have only one case in Review in Progress at a time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50" dirty="0">
                <a:solidFill>
                  <a:prstClr val="black"/>
                </a:solidFill>
                <a:latin typeface="Graphik" panose="020B0503030202060203" pitchFamily="34" charset="0"/>
              </a:rPr>
              <a:t>However, multiple cases may appear under this status in your name if a Team Lead assigns/reassigns a case for urgent review or if a previously on-hold case is moved back to Review in Progress after 24 hours for your action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+mn-cs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E1FBF1D-861A-8D4F-7478-E55F44D9CCB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761737" y="5006800"/>
            <a:ext cx="300413" cy="300410"/>
            <a:chOff x="3438" y="437"/>
            <a:chExt cx="428" cy="428"/>
          </a:xfrm>
          <a:solidFill>
            <a:srgbClr val="7500C0"/>
          </a:solidFill>
        </p:grpSpPr>
        <p:sp>
          <p:nvSpPr>
            <p:cNvPr id="30" name="Freeform 34">
              <a:extLst>
                <a:ext uri="{FF2B5EF4-FFF2-40B4-BE49-F238E27FC236}">
                  <a16:creationId xmlns:a16="http://schemas.microsoft.com/office/drawing/2014/main" id="{816C2014-AD44-057E-F7BE-86C940EDDB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8" y="439"/>
              <a:ext cx="427" cy="426"/>
            </a:xfrm>
            <a:custGeom>
              <a:avLst/>
              <a:gdLst>
                <a:gd name="T0" fmla="*/ 126 w 288"/>
                <a:gd name="T1" fmla="*/ 288 h 288"/>
                <a:gd name="T2" fmla="*/ 120 w 288"/>
                <a:gd name="T3" fmla="*/ 247 h 288"/>
                <a:gd name="T4" fmla="*/ 67 w 288"/>
                <a:gd name="T5" fmla="*/ 262 h 288"/>
                <a:gd name="T6" fmla="*/ 25 w 288"/>
                <a:gd name="T7" fmla="*/ 229 h 288"/>
                <a:gd name="T8" fmla="*/ 25 w 288"/>
                <a:gd name="T9" fmla="*/ 220 h 288"/>
                <a:gd name="T10" fmla="*/ 40 w 288"/>
                <a:gd name="T11" fmla="*/ 168 h 288"/>
                <a:gd name="T12" fmla="*/ 0 w 288"/>
                <a:gd name="T13" fmla="*/ 162 h 288"/>
                <a:gd name="T14" fmla="*/ 6 w 288"/>
                <a:gd name="T15" fmla="*/ 120 h 288"/>
                <a:gd name="T16" fmla="*/ 49 w 288"/>
                <a:gd name="T17" fmla="*/ 92 h 288"/>
                <a:gd name="T18" fmla="*/ 23 w 288"/>
                <a:gd name="T19" fmla="*/ 63 h 288"/>
                <a:gd name="T20" fmla="*/ 59 w 288"/>
                <a:gd name="T21" fmla="*/ 25 h 288"/>
                <a:gd name="T22" fmla="*/ 92 w 288"/>
                <a:gd name="T23" fmla="*/ 49 h 288"/>
                <a:gd name="T24" fmla="*/ 120 w 288"/>
                <a:gd name="T25" fmla="*/ 6 h 288"/>
                <a:gd name="T26" fmla="*/ 162 w 288"/>
                <a:gd name="T27" fmla="*/ 0 h 288"/>
                <a:gd name="T28" fmla="*/ 168 w 288"/>
                <a:gd name="T29" fmla="*/ 40 h 288"/>
                <a:gd name="T30" fmla="*/ 202 w 288"/>
                <a:gd name="T31" fmla="*/ 60 h 288"/>
                <a:gd name="T32" fmla="*/ 160 w 288"/>
                <a:gd name="T33" fmla="*/ 50 h 288"/>
                <a:gd name="T34" fmla="*/ 156 w 288"/>
                <a:gd name="T35" fmla="*/ 12 h 288"/>
                <a:gd name="T36" fmla="*/ 132 w 288"/>
                <a:gd name="T37" fmla="*/ 45 h 288"/>
                <a:gd name="T38" fmla="*/ 94 w 288"/>
                <a:gd name="T39" fmla="*/ 62 h 288"/>
                <a:gd name="T40" fmla="*/ 63 w 288"/>
                <a:gd name="T41" fmla="*/ 38 h 288"/>
                <a:gd name="T42" fmla="*/ 61 w 288"/>
                <a:gd name="T43" fmla="*/ 86 h 288"/>
                <a:gd name="T44" fmla="*/ 51 w 288"/>
                <a:gd name="T45" fmla="*/ 127 h 288"/>
                <a:gd name="T46" fmla="*/ 12 w 288"/>
                <a:gd name="T47" fmla="*/ 132 h 288"/>
                <a:gd name="T48" fmla="*/ 45 w 288"/>
                <a:gd name="T49" fmla="*/ 156 h 288"/>
                <a:gd name="T50" fmla="*/ 62 w 288"/>
                <a:gd name="T51" fmla="*/ 194 h 288"/>
                <a:gd name="T52" fmla="*/ 38 w 288"/>
                <a:gd name="T53" fmla="*/ 224 h 288"/>
                <a:gd name="T54" fmla="*/ 87 w 288"/>
                <a:gd name="T55" fmla="*/ 226 h 288"/>
                <a:gd name="T56" fmla="*/ 127 w 288"/>
                <a:gd name="T57" fmla="*/ 237 h 288"/>
                <a:gd name="T58" fmla="*/ 132 w 288"/>
                <a:gd name="T59" fmla="*/ 276 h 288"/>
                <a:gd name="T60" fmla="*/ 156 w 288"/>
                <a:gd name="T61" fmla="*/ 243 h 288"/>
                <a:gd name="T62" fmla="*/ 194 w 288"/>
                <a:gd name="T63" fmla="*/ 226 h 288"/>
                <a:gd name="T64" fmla="*/ 224 w 288"/>
                <a:gd name="T65" fmla="*/ 250 h 288"/>
                <a:gd name="T66" fmla="*/ 227 w 288"/>
                <a:gd name="T67" fmla="*/ 201 h 288"/>
                <a:gd name="T68" fmla="*/ 237 w 288"/>
                <a:gd name="T69" fmla="*/ 160 h 288"/>
                <a:gd name="T70" fmla="*/ 276 w 288"/>
                <a:gd name="T71" fmla="*/ 156 h 288"/>
                <a:gd name="T72" fmla="*/ 243 w 288"/>
                <a:gd name="T73" fmla="*/ 132 h 288"/>
                <a:gd name="T74" fmla="*/ 231 w 288"/>
                <a:gd name="T75" fmla="*/ 107 h 288"/>
                <a:gd name="T76" fmla="*/ 243 w 288"/>
                <a:gd name="T77" fmla="*/ 103 h 288"/>
                <a:gd name="T78" fmla="*/ 282 w 288"/>
                <a:gd name="T79" fmla="*/ 120 h 288"/>
                <a:gd name="T80" fmla="*/ 288 w 288"/>
                <a:gd name="T81" fmla="*/ 162 h 288"/>
                <a:gd name="T82" fmla="*/ 248 w 288"/>
                <a:gd name="T83" fmla="*/ 168 h 288"/>
                <a:gd name="T84" fmla="*/ 263 w 288"/>
                <a:gd name="T85" fmla="*/ 220 h 288"/>
                <a:gd name="T86" fmla="*/ 229 w 288"/>
                <a:gd name="T87" fmla="*/ 262 h 288"/>
                <a:gd name="T88" fmla="*/ 196 w 288"/>
                <a:gd name="T89" fmla="*/ 238 h 288"/>
                <a:gd name="T90" fmla="*/ 168 w 288"/>
                <a:gd name="T91" fmla="*/ 282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88" h="288">
                  <a:moveTo>
                    <a:pt x="162" y="288"/>
                  </a:moveTo>
                  <a:cubicBezTo>
                    <a:pt x="126" y="288"/>
                    <a:pt x="126" y="288"/>
                    <a:pt x="126" y="288"/>
                  </a:cubicBezTo>
                  <a:cubicBezTo>
                    <a:pt x="123" y="288"/>
                    <a:pt x="120" y="285"/>
                    <a:pt x="120" y="282"/>
                  </a:cubicBezTo>
                  <a:cubicBezTo>
                    <a:pt x="120" y="247"/>
                    <a:pt x="120" y="247"/>
                    <a:pt x="120" y="247"/>
                  </a:cubicBezTo>
                  <a:cubicBezTo>
                    <a:pt x="110" y="245"/>
                    <a:pt x="100" y="242"/>
                    <a:pt x="92" y="238"/>
                  </a:cubicBezTo>
                  <a:cubicBezTo>
                    <a:pt x="67" y="262"/>
                    <a:pt x="67" y="262"/>
                    <a:pt x="67" y="262"/>
                  </a:cubicBezTo>
                  <a:cubicBezTo>
                    <a:pt x="65" y="265"/>
                    <a:pt x="61" y="265"/>
                    <a:pt x="59" y="262"/>
                  </a:cubicBezTo>
                  <a:cubicBezTo>
                    <a:pt x="25" y="229"/>
                    <a:pt x="25" y="229"/>
                    <a:pt x="25" y="229"/>
                  </a:cubicBezTo>
                  <a:cubicBezTo>
                    <a:pt x="24" y="227"/>
                    <a:pt x="23" y="226"/>
                    <a:pt x="23" y="224"/>
                  </a:cubicBezTo>
                  <a:cubicBezTo>
                    <a:pt x="23" y="223"/>
                    <a:pt x="24" y="221"/>
                    <a:pt x="25" y="220"/>
                  </a:cubicBezTo>
                  <a:cubicBezTo>
                    <a:pt x="49" y="196"/>
                    <a:pt x="49" y="196"/>
                    <a:pt x="49" y="196"/>
                  </a:cubicBezTo>
                  <a:cubicBezTo>
                    <a:pt x="46" y="188"/>
                    <a:pt x="43" y="177"/>
                    <a:pt x="40" y="168"/>
                  </a:cubicBezTo>
                  <a:cubicBezTo>
                    <a:pt x="6" y="168"/>
                    <a:pt x="6" y="168"/>
                    <a:pt x="6" y="168"/>
                  </a:cubicBezTo>
                  <a:cubicBezTo>
                    <a:pt x="3" y="168"/>
                    <a:pt x="0" y="165"/>
                    <a:pt x="0" y="162"/>
                  </a:cubicBezTo>
                  <a:cubicBezTo>
                    <a:pt x="0" y="126"/>
                    <a:pt x="0" y="126"/>
                    <a:pt x="0" y="126"/>
                  </a:cubicBezTo>
                  <a:cubicBezTo>
                    <a:pt x="0" y="122"/>
                    <a:pt x="3" y="120"/>
                    <a:pt x="6" y="120"/>
                  </a:cubicBezTo>
                  <a:cubicBezTo>
                    <a:pt x="40" y="120"/>
                    <a:pt x="40" y="120"/>
                    <a:pt x="40" y="120"/>
                  </a:cubicBezTo>
                  <a:cubicBezTo>
                    <a:pt x="43" y="110"/>
                    <a:pt x="46" y="100"/>
                    <a:pt x="49" y="92"/>
                  </a:cubicBezTo>
                  <a:cubicBezTo>
                    <a:pt x="25" y="67"/>
                    <a:pt x="25" y="67"/>
                    <a:pt x="25" y="67"/>
                  </a:cubicBezTo>
                  <a:cubicBezTo>
                    <a:pt x="24" y="66"/>
                    <a:pt x="23" y="65"/>
                    <a:pt x="23" y="63"/>
                  </a:cubicBezTo>
                  <a:cubicBezTo>
                    <a:pt x="23" y="61"/>
                    <a:pt x="24" y="60"/>
                    <a:pt x="25" y="59"/>
                  </a:cubicBezTo>
                  <a:cubicBezTo>
                    <a:pt x="59" y="25"/>
                    <a:pt x="59" y="25"/>
                    <a:pt x="59" y="25"/>
                  </a:cubicBezTo>
                  <a:cubicBezTo>
                    <a:pt x="61" y="23"/>
                    <a:pt x="65" y="23"/>
                    <a:pt x="67" y="25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100" y="45"/>
                    <a:pt x="110" y="42"/>
                    <a:pt x="120" y="40"/>
                  </a:cubicBezTo>
                  <a:cubicBezTo>
                    <a:pt x="120" y="6"/>
                    <a:pt x="120" y="6"/>
                    <a:pt x="120" y="6"/>
                  </a:cubicBezTo>
                  <a:cubicBezTo>
                    <a:pt x="120" y="2"/>
                    <a:pt x="123" y="0"/>
                    <a:pt x="126" y="0"/>
                  </a:cubicBezTo>
                  <a:cubicBezTo>
                    <a:pt x="162" y="0"/>
                    <a:pt x="162" y="0"/>
                    <a:pt x="162" y="0"/>
                  </a:cubicBezTo>
                  <a:cubicBezTo>
                    <a:pt x="165" y="0"/>
                    <a:pt x="168" y="2"/>
                    <a:pt x="168" y="6"/>
                  </a:cubicBezTo>
                  <a:cubicBezTo>
                    <a:pt x="168" y="40"/>
                    <a:pt x="168" y="40"/>
                    <a:pt x="168" y="40"/>
                  </a:cubicBezTo>
                  <a:cubicBezTo>
                    <a:pt x="179" y="43"/>
                    <a:pt x="192" y="47"/>
                    <a:pt x="200" y="52"/>
                  </a:cubicBezTo>
                  <a:cubicBezTo>
                    <a:pt x="203" y="53"/>
                    <a:pt x="204" y="57"/>
                    <a:pt x="202" y="60"/>
                  </a:cubicBezTo>
                  <a:cubicBezTo>
                    <a:pt x="200" y="63"/>
                    <a:pt x="197" y="63"/>
                    <a:pt x="194" y="62"/>
                  </a:cubicBezTo>
                  <a:cubicBezTo>
                    <a:pt x="186" y="57"/>
                    <a:pt x="171" y="53"/>
                    <a:pt x="160" y="50"/>
                  </a:cubicBezTo>
                  <a:cubicBezTo>
                    <a:pt x="158" y="50"/>
                    <a:pt x="156" y="47"/>
                    <a:pt x="156" y="45"/>
                  </a:cubicBezTo>
                  <a:cubicBezTo>
                    <a:pt x="156" y="12"/>
                    <a:pt x="156" y="12"/>
                    <a:pt x="156" y="12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7"/>
                    <a:pt x="130" y="50"/>
                    <a:pt x="127" y="50"/>
                  </a:cubicBezTo>
                  <a:cubicBezTo>
                    <a:pt x="117" y="53"/>
                    <a:pt x="102" y="57"/>
                    <a:pt x="94" y="62"/>
                  </a:cubicBezTo>
                  <a:cubicBezTo>
                    <a:pt x="92" y="63"/>
                    <a:pt x="89" y="63"/>
                    <a:pt x="87" y="61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61" y="86"/>
                    <a:pt x="61" y="86"/>
                    <a:pt x="61" y="86"/>
                  </a:cubicBezTo>
                  <a:cubicBezTo>
                    <a:pt x="63" y="88"/>
                    <a:pt x="63" y="91"/>
                    <a:pt x="62" y="94"/>
                  </a:cubicBezTo>
                  <a:cubicBezTo>
                    <a:pt x="57" y="103"/>
                    <a:pt x="52" y="120"/>
                    <a:pt x="51" y="127"/>
                  </a:cubicBezTo>
                  <a:cubicBezTo>
                    <a:pt x="50" y="130"/>
                    <a:pt x="48" y="132"/>
                    <a:pt x="45" y="132"/>
                  </a:cubicBezTo>
                  <a:cubicBezTo>
                    <a:pt x="12" y="132"/>
                    <a:pt x="12" y="132"/>
                    <a:pt x="12" y="132"/>
                  </a:cubicBezTo>
                  <a:cubicBezTo>
                    <a:pt x="12" y="156"/>
                    <a:pt x="12" y="156"/>
                    <a:pt x="12" y="156"/>
                  </a:cubicBezTo>
                  <a:cubicBezTo>
                    <a:pt x="45" y="156"/>
                    <a:pt x="45" y="156"/>
                    <a:pt x="45" y="156"/>
                  </a:cubicBezTo>
                  <a:cubicBezTo>
                    <a:pt x="48" y="156"/>
                    <a:pt x="50" y="158"/>
                    <a:pt x="51" y="160"/>
                  </a:cubicBezTo>
                  <a:cubicBezTo>
                    <a:pt x="52" y="167"/>
                    <a:pt x="57" y="185"/>
                    <a:pt x="62" y="194"/>
                  </a:cubicBezTo>
                  <a:cubicBezTo>
                    <a:pt x="63" y="196"/>
                    <a:pt x="63" y="199"/>
                    <a:pt x="61" y="201"/>
                  </a:cubicBezTo>
                  <a:cubicBezTo>
                    <a:pt x="38" y="224"/>
                    <a:pt x="38" y="224"/>
                    <a:pt x="38" y="224"/>
                  </a:cubicBezTo>
                  <a:cubicBezTo>
                    <a:pt x="63" y="250"/>
                    <a:pt x="63" y="250"/>
                    <a:pt x="63" y="250"/>
                  </a:cubicBezTo>
                  <a:cubicBezTo>
                    <a:pt x="87" y="226"/>
                    <a:pt x="87" y="226"/>
                    <a:pt x="87" y="226"/>
                  </a:cubicBezTo>
                  <a:cubicBezTo>
                    <a:pt x="88" y="224"/>
                    <a:pt x="92" y="224"/>
                    <a:pt x="94" y="226"/>
                  </a:cubicBezTo>
                  <a:cubicBezTo>
                    <a:pt x="103" y="231"/>
                    <a:pt x="121" y="235"/>
                    <a:pt x="127" y="237"/>
                  </a:cubicBezTo>
                  <a:cubicBezTo>
                    <a:pt x="130" y="238"/>
                    <a:pt x="132" y="240"/>
                    <a:pt x="132" y="243"/>
                  </a:cubicBezTo>
                  <a:cubicBezTo>
                    <a:pt x="132" y="276"/>
                    <a:pt x="132" y="276"/>
                    <a:pt x="132" y="276"/>
                  </a:cubicBezTo>
                  <a:cubicBezTo>
                    <a:pt x="156" y="276"/>
                    <a:pt x="156" y="276"/>
                    <a:pt x="156" y="276"/>
                  </a:cubicBezTo>
                  <a:cubicBezTo>
                    <a:pt x="156" y="243"/>
                    <a:pt x="156" y="243"/>
                    <a:pt x="156" y="243"/>
                  </a:cubicBezTo>
                  <a:cubicBezTo>
                    <a:pt x="156" y="240"/>
                    <a:pt x="158" y="238"/>
                    <a:pt x="160" y="237"/>
                  </a:cubicBezTo>
                  <a:cubicBezTo>
                    <a:pt x="167" y="235"/>
                    <a:pt x="185" y="231"/>
                    <a:pt x="194" y="226"/>
                  </a:cubicBezTo>
                  <a:cubicBezTo>
                    <a:pt x="196" y="224"/>
                    <a:pt x="199" y="224"/>
                    <a:pt x="201" y="226"/>
                  </a:cubicBezTo>
                  <a:cubicBezTo>
                    <a:pt x="224" y="250"/>
                    <a:pt x="224" y="250"/>
                    <a:pt x="224" y="250"/>
                  </a:cubicBezTo>
                  <a:cubicBezTo>
                    <a:pt x="250" y="224"/>
                    <a:pt x="250" y="224"/>
                    <a:pt x="250" y="224"/>
                  </a:cubicBezTo>
                  <a:cubicBezTo>
                    <a:pt x="227" y="201"/>
                    <a:pt x="227" y="201"/>
                    <a:pt x="227" y="201"/>
                  </a:cubicBezTo>
                  <a:cubicBezTo>
                    <a:pt x="225" y="199"/>
                    <a:pt x="224" y="196"/>
                    <a:pt x="226" y="194"/>
                  </a:cubicBezTo>
                  <a:cubicBezTo>
                    <a:pt x="231" y="185"/>
                    <a:pt x="235" y="167"/>
                    <a:pt x="237" y="160"/>
                  </a:cubicBezTo>
                  <a:cubicBezTo>
                    <a:pt x="238" y="158"/>
                    <a:pt x="240" y="156"/>
                    <a:pt x="243" y="156"/>
                  </a:cubicBezTo>
                  <a:cubicBezTo>
                    <a:pt x="276" y="156"/>
                    <a:pt x="276" y="156"/>
                    <a:pt x="276" y="156"/>
                  </a:cubicBezTo>
                  <a:cubicBezTo>
                    <a:pt x="276" y="132"/>
                    <a:pt x="276" y="132"/>
                    <a:pt x="276" y="132"/>
                  </a:cubicBezTo>
                  <a:cubicBezTo>
                    <a:pt x="243" y="132"/>
                    <a:pt x="243" y="132"/>
                    <a:pt x="243" y="132"/>
                  </a:cubicBezTo>
                  <a:cubicBezTo>
                    <a:pt x="240" y="132"/>
                    <a:pt x="238" y="130"/>
                    <a:pt x="237" y="127"/>
                  </a:cubicBezTo>
                  <a:cubicBezTo>
                    <a:pt x="236" y="121"/>
                    <a:pt x="234" y="114"/>
                    <a:pt x="231" y="107"/>
                  </a:cubicBezTo>
                  <a:cubicBezTo>
                    <a:pt x="230" y="103"/>
                    <a:pt x="232" y="100"/>
                    <a:pt x="235" y="99"/>
                  </a:cubicBezTo>
                  <a:cubicBezTo>
                    <a:pt x="238" y="98"/>
                    <a:pt x="242" y="100"/>
                    <a:pt x="243" y="103"/>
                  </a:cubicBezTo>
                  <a:cubicBezTo>
                    <a:pt x="245" y="108"/>
                    <a:pt x="246" y="114"/>
                    <a:pt x="248" y="120"/>
                  </a:cubicBezTo>
                  <a:cubicBezTo>
                    <a:pt x="282" y="120"/>
                    <a:pt x="282" y="120"/>
                    <a:pt x="282" y="120"/>
                  </a:cubicBezTo>
                  <a:cubicBezTo>
                    <a:pt x="285" y="120"/>
                    <a:pt x="288" y="122"/>
                    <a:pt x="288" y="126"/>
                  </a:cubicBezTo>
                  <a:cubicBezTo>
                    <a:pt x="288" y="162"/>
                    <a:pt x="288" y="162"/>
                    <a:pt x="288" y="162"/>
                  </a:cubicBezTo>
                  <a:cubicBezTo>
                    <a:pt x="288" y="165"/>
                    <a:pt x="285" y="168"/>
                    <a:pt x="282" y="168"/>
                  </a:cubicBezTo>
                  <a:cubicBezTo>
                    <a:pt x="248" y="168"/>
                    <a:pt x="248" y="168"/>
                    <a:pt x="248" y="168"/>
                  </a:cubicBezTo>
                  <a:cubicBezTo>
                    <a:pt x="245" y="177"/>
                    <a:pt x="242" y="188"/>
                    <a:pt x="238" y="196"/>
                  </a:cubicBezTo>
                  <a:cubicBezTo>
                    <a:pt x="263" y="220"/>
                    <a:pt x="263" y="220"/>
                    <a:pt x="263" y="220"/>
                  </a:cubicBezTo>
                  <a:cubicBezTo>
                    <a:pt x="265" y="222"/>
                    <a:pt x="265" y="226"/>
                    <a:pt x="263" y="229"/>
                  </a:cubicBezTo>
                  <a:cubicBezTo>
                    <a:pt x="229" y="262"/>
                    <a:pt x="229" y="262"/>
                    <a:pt x="229" y="262"/>
                  </a:cubicBezTo>
                  <a:cubicBezTo>
                    <a:pt x="226" y="265"/>
                    <a:pt x="223" y="265"/>
                    <a:pt x="220" y="262"/>
                  </a:cubicBezTo>
                  <a:cubicBezTo>
                    <a:pt x="196" y="238"/>
                    <a:pt x="196" y="238"/>
                    <a:pt x="196" y="238"/>
                  </a:cubicBezTo>
                  <a:cubicBezTo>
                    <a:pt x="188" y="242"/>
                    <a:pt x="177" y="245"/>
                    <a:pt x="168" y="247"/>
                  </a:cubicBezTo>
                  <a:cubicBezTo>
                    <a:pt x="168" y="282"/>
                    <a:pt x="168" y="282"/>
                    <a:pt x="168" y="282"/>
                  </a:cubicBezTo>
                  <a:cubicBezTo>
                    <a:pt x="168" y="285"/>
                    <a:pt x="165" y="288"/>
                    <a:pt x="162" y="2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31" name="Freeform 35">
              <a:extLst>
                <a:ext uri="{FF2B5EF4-FFF2-40B4-BE49-F238E27FC236}">
                  <a16:creationId xmlns:a16="http://schemas.microsoft.com/office/drawing/2014/main" id="{A83FC6A6-B57B-6D06-CE06-7D42AC923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7" y="437"/>
              <a:ext cx="299" cy="265"/>
            </a:xfrm>
            <a:custGeom>
              <a:avLst/>
              <a:gdLst>
                <a:gd name="T0" fmla="*/ 61 w 202"/>
                <a:gd name="T1" fmla="*/ 179 h 179"/>
                <a:gd name="T2" fmla="*/ 56 w 202"/>
                <a:gd name="T3" fmla="*/ 177 h 179"/>
                <a:gd name="T4" fmla="*/ 3 w 202"/>
                <a:gd name="T5" fmla="*/ 124 h 179"/>
                <a:gd name="T6" fmla="*/ 3 w 202"/>
                <a:gd name="T7" fmla="*/ 115 h 179"/>
                <a:gd name="T8" fmla="*/ 11 w 202"/>
                <a:gd name="T9" fmla="*/ 115 h 179"/>
                <a:gd name="T10" fmla="*/ 60 w 202"/>
                <a:gd name="T11" fmla="*/ 164 h 179"/>
                <a:gd name="T12" fmla="*/ 190 w 202"/>
                <a:gd name="T13" fmla="*/ 3 h 179"/>
                <a:gd name="T14" fmla="*/ 199 w 202"/>
                <a:gd name="T15" fmla="*/ 2 h 179"/>
                <a:gd name="T16" fmla="*/ 200 w 202"/>
                <a:gd name="T17" fmla="*/ 10 h 179"/>
                <a:gd name="T18" fmla="*/ 65 w 202"/>
                <a:gd name="T19" fmla="*/ 177 h 179"/>
                <a:gd name="T20" fmla="*/ 61 w 202"/>
                <a:gd name="T21" fmla="*/ 179 h 179"/>
                <a:gd name="T22" fmla="*/ 61 w 202"/>
                <a:gd name="T23" fmla="*/ 179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2" h="179">
                  <a:moveTo>
                    <a:pt x="61" y="179"/>
                  </a:moveTo>
                  <a:cubicBezTo>
                    <a:pt x="59" y="179"/>
                    <a:pt x="57" y="179"/>
                    <a:pt x="56" y="177"/>
                  </a:cubicBezTo>
                  <a:cubicBezTo>
                    <a:pt x="3" y="124"/>
                    <a:pt x="3" y="124"/>
                    <a:pt x="3" y="124"/>
                  </a:cubicBezTo>
                  <a:cubicBezTo>
                    <a:pt x="0" y="121"/>
                    <a:pt x="0" y="118"/>
                    <a:pt x="3" y="115"/>
                  </a:cubicBezTo>
                  <a:cubicBezTo>
                    <a:pt x="5" y="113"/>
                    <a:pt x="9" y="113"/>
                    <a:pt x="11" y="115"/>
                  </a:cubicBezTo>
                  <a:cubicBezTo>
                    <a:pt x="60" y="164"/>
                    <a:pt x="60" y="164"/>
                    <a:pt x="60" y="164"/>
                  </a:cubicBezTo>
                  <a:cubicBezTo>
                    <a:pt x="190" y="3"/>
                    <a:pt x="190" y="3"/>
                    <a:pt x="190" y="3"/>
                  </a:cubicBezTo>
                  <a:cubicBezTo>
                    <a:pt x="192" y="0"/>
                    <a:pt x="196" y="0"/>
                    <a:pt x="199" y="2"/>
                  </a:cubicBezTo>
                  <a:cubicBezTo>
                    <a:pt x="201" y="4"/>
                    <a:pt x="202" y="8"/>
                    <a:pt x="200" y="10"/>
                  </a:cubicBezTo>
                  <a:cubicBezTo>
                    <a:pt x="65" y="177"/>
                    <a:pt x="65" y="177"/>
                    <a:pt x="65" y="177"/>
                  </a:cubicBezTo>
                  <a:cubicBezTo>
                    <a:pt x="64" y="178"/>
                    <a:pt x="63" y="179"/>
                    <a:pt x="61" y="179"/>
                  </a:cubicBezTo>
                  <a:cubicBezTo>
                    <a:pt x="61" y="179"/>
                    <a:pt x="61" y="179"/>
                    <a:pt x="61" y="17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</p:grpSp>
      <p:pic>
        <p:nvPicPr>
          <p:cNvPr id="32" name="Graphic 31" descr="User with solid fill">
            <a:extLst>
              <a:ext uri="{FF2B5EF4-FFF2-40B4-BE49-F238E27FC236}">
                <a16:creationId xmlns:a16="http://schemas.microsoft.com/office/drawing/2014/main" id="{87FB8214-6FC5-3D7A-570B-139A9746A9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157" y="5081938"/>
            <a:ext cx="426575" cy="426575"/>
          </a:xfrm>
          <a:prstGeom prst="rect">
            <a:avLst/>
          </a:prstGeom>
        </p:spPr>
      </p:pic>
      <p:sp>
        <p:nvSpPr>
          <p:cNvPr id="33" name="Arrow: Left 32">
            <a:hlinkClick r:id="rId7" action="ppaction://hlinksldjump"/>
            <a:extLst>
              <a:ext uri="{FF2B5EF4-FFF2-40B4-BE49-F238E27FC236}">
                <a16:creationId xmlns:a16="http://schemas.microsoft.com/office/drawing/2014/main" id="{ECFED988-E8D5-5BF2-978C-3FA325235153}"/>
              </a:ext>
            </a:extLst>
          </p:cNvPr>
          <p:cNvSpPr/>
          <p:nvPr/>
        </p:nvSpPr>
        <p:spPr>
          <a:xfrm>
            <a:off x="11506534" y="193325"/>
            <a:ext cx="475048" cy="319931"/>
          </a:xfrm>
          <a:prstGeom prst="lef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5759B7E-8FCE-3EC2-F3E8-E7BE15DF57D4}"/>
              </a:ext>
            </a:extLst>
          </p:cNvPr>
          <p:cNvGrpSpPr/>
          <p:nvPr/>
        </p:nvGrpSpPr>
        <p:grpSpPr>
          <a:xfrm>
            <a:off x="255277" y="4350278"/>
            <a:ext cx="720000" cy="720000"/>
            <a:chOff x="13338894" y="1587234"/>
            <a:chExt cx="720000" cy="72000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3CA182F-E5F8-B5B8-A084-148D52121529}"/>
                </a:ext>
              </a:extLst>
            </p:cNvPr>
            <p:cNvSpPr/>
            <p:nvPr/>
          </p:nvSpPr>
          <p:spPr>
            <a:xfrm flipV="1">
              <a:off x="13338894" y="1587234"/>
              <a:ext cx="720000" cy="720000"/>
            </a:xfrm>
            <a:prstGeom prst="ellipse">
              <a:avLst/>
            </a:prstGeom>
            <a:solidFill>
              <a:schemeClr val="bg1"/>
            </a:solidFill>
            <a:ln w="22225" cap="flat" cmpd="sng" algn="ctr">
              <a:solidFill>
                <a:srgbClr val="7500C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grpSp>
          <p:nvGrpSpPr>
            <p:cNvPr id="15" name="Group 104">
              <a:extLst>
                <a:ext uri="{FF2B5EF4-FFF2-40B4-BE49-F238E27FC236}">
                  <a16:creationId xmlns:a16="http://schemas.microsoft.com/office/drawing/2014/main" id="{95609977-3F48-0F8C-389E-1A03A51CFEA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524907" y="1698240"/>
              <a:ext cx="347973" cy="523184"/>
              <a:chOff x="1443" y="2997"/>
              <a:chExt cx="284" cy="427"/>
            </a:xfrm>
            <a:solidFill>
              <a:srgbClr val="7500C0"/>
            </a:solidFill>
          </p:grpSpPr>
          <p:sp>
            <p:nvSpPr>
              <p:cNvPr id="16" name="Freeform 105">
                <a:extLst>
                  <a:ext uri="{FF2B5EF4-FFF2-40B4-BE49-F238E27FC236}">
                    <a16:creationId xmlns:a16="http://schemas.microsoft.com/office/drawing/2014/main" id="{A568F367-AF86-517D-0B44-157B34C9BA8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62" y="3104"/>
                <a:ext cx="261" cy="320"/>
              </a:xfrm>
              <a:custGeom>
                <a:avLst/>
                <a:gdLst>
                  <a:gd name="T0" fmla="*/ 155 w 176"/>
                  <a:gd name="T1" fmla="*/ 216 h 216"/>
                  <a:gd name="T2" fmla="*/ 59 w 176"/>
                  <a:gd name="T3" fmla="*/ 216 h 216"/>
                  <a:gd name="T4" fmla="*/ 54 w 176"/>
                  <a:gd name="T5" fmla="*/ 213 h 216"/>
                  <a:gd name="T6" fmla="*/ 6 w 176"/>
                  <a:gd name="T7" fmla="*/ 141 h 216"/>
                  <a:gd name="T8" fmla="*/ 4 w 176"/>
                  <a:gd name="T9" fmla="*/ 116 h 216"/>
                  <a:gd name="T10" fmla="*/ 17 w 176"/>
                  <a:gd name="T11" fmla="*/ 108 h 216"/>
                  <a:gd name="T12" fmla="*/ 59 w 176"/>
                  <a:gd name="T13" fmla="*/ 137 h 216"/>
                  <a:gd name="T14" fmla="*/ 59 w 176"/>
                  <a:gd name="T15" fmla="*/ 24 h 216"/>
                  <a:gd name="T16" fmla="*/ 83 w 176"/>
                  <a:gd name="T17" fmla="*/ 0 h 216"/>
                  <a:gd name="T18" fmla="*/ 107 w 176"/>
                  <a:gd name="T19" fmla="*/ 24 h 216"/>
                  <a:gd name="T20" fmla="*/ 107 w 176"/>
                  <a:gd name="T21" fmla="*/ 92 h 216"/>
                  <a:gd name="T22" fmla="*/ 156 w 176"/>
                  <a:gd name="T23" fmla="*/ 108 h 216"/>
                  <a:gd name="T24" fmla="*/ 173 w 176"/>
                  <a:gd name="T25" fmla="*/ 145 h 216"/>
                  <a:gd name="T26" fmla="*/ 161 w 176"/>
                  <a:gd name="T27" fmla="*/ 211 h 216"/>
                  <a:gd name="T28" fmla="*/ 155 w 176"/>
                  <a:gd name="T29" fmla="*/ 216 h 216"/>
                  <a:gd name="T30" fmla="*/ 62 w 176"/>
                  <a:gd name="T31" fmla="*/ 204 h 216"/>
                  <a:gd name="T32" fmla="*/ 150 w 176"/>
                  <a:gd name="T33" fmla="*/ 204 h 216"/>
                  <a:gd name="T34" fmla="*/ 161 w 176"/>
                  <a:gd name="T35" fmla="*/ 143 h 216"/>
                  <a:gd name="T36" fmla="*/ 152 w 176"/>
                  <a:gd name="T37" fmla="*/ 120 h 216"/>
                  <a:gd name="T38" fmla="*/ 99 w 176"/>
                  <a:gd name="T39" fmla="*/ 102 h 216"/>
                  <a:gd name="T40" fmla="*/ 95 w 176"/>
                  <a:gd name="T41" fmla="*/ 96 h 216"/>
                  <a:gd name="T42" fmla="*/ 95 w 176"/>
                  <a:gd name="T43" fmla="*/ 24 h 216"/>
                  <a:gd name="T44" fmla="*/ 83 w 176"/>
                  <a:gd name="T45" fmla="*/ 12 h 216"/>
                  <a:gd name="T46" fmla="*/ 71 w 176"/>
                  <a:gd name="T47" fmla="*/ 24 h 216"/>
                  <a:gd name="T48" fmla="*/ 71 w 176"/>
                  <a:gd name="T49" fmla="*/ 156 h 216"/>
                  <a:gd name="T50" fmla="*/ 67 w 176"/>
                  <a:gd name="T51" fmla="*/ 162 h 216"/>
                  <a:gd name="T52" fmla="*/ 60 w 176"/>
                  <a:gd name="T53" fmla="*/ 159 h 216"/>
                  <a:gd name="T54" fmla="*/ 17 w 176"/>
                  <a:gd name="T55" fmla="*/ 120 h 216"/>
                  <a:gd name="T56" fmla="*/ 14 w 176"/>
                  <a:gd name="T57" fmla="*/ 121 h 216"/>
                  <a:gd name="T58" fmla="*/ 16 w 176"/>
                  <a:gd name="T59" fmla="*/ 135 h 216"/>
                  <a:gd name="T60" fmla="*/ 62 w 176"/>
                  <a:gd name="T61" fmla="*/ 204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76" h="216">
                    <a:moveTo>
                      <a:pt x="155" y="216"/>
                    </a:moveTo>
                    <a:cubicBezTo>
                      <a:pt x="59" y="216"/>
                      <a:pt x="59" y="216"/>
                      <a:pt x="59" y="216"/>
                    </a:cubicBezTo>
                    <a:cubicBezTo>
                      <a:pt x="57" y="216"/>
                      <a:pt x="55" y="215"/>
                      <a:pt x="54" y="213"/>
                    </a:cubicBezTo>
                    <a:cubicBezTo>
                      <a:pt x="6" y="141"/>
                      <a:pt x="6" y="141"/>
                      <a:pt x="6" y="141"/>
                    </a:cubicBezTo>
                    <a:cubicBezTo>
                      <a:pt x="2" y="135"/>
                      <a:pt x="0" y="124"/>
                      <a:pt x="4" y="116"/>
                    </a:cubicBezTo>
                    <a:cubicBezTo>
                      <a:pt x="6" y="111"/>
                      <a:pt x="11" y="108"/>
                      <a:pt x="17" y="108"/>
                    </a:cubicBezTo>
                    <a:cubicBezTo>
                      <a:pt x="30" y="108"/>
                      <a:pt x="42" y="113"/>
                      <a:pt x="59" y="137"/>
                    </a:cubicBezTo>
                    <a:cubicBezTo>
                      <a:pt x="59" y="24"/>
                      <a:pt x="59" y="24"/>
                      <a:pt x="59" y="24"/>
                    </a:cubicBezTo>
                    <a:cubicBezTo>
                      <a:pt x="59" y="11"/>
                      <a:pt x="70" y="0"/>
                      <a:pt x="83" y="0"/>
                    </a:cubicBezTo>
                    <a:cubicBezTo>
                      <a:pt x="96" y="0"/>
                      <a:pt x="107" y="11"/>
                      <a:pt x="107" y="24"/>
                    </a:cubicBezTo>
                    <a:cubicBezTo>
                      <a:pt x="107" y="92"/>
                      <a:pt x="107" y="92"/>
                      <a:pt x="107" y="92"/>
                    </a:cubicBezTo>
                    <a:cubicBezTo>
                      <a:pt x="156" y="108"/>
                      <a:pt x="156" y="108"/>
                      <a:pt x="156" y="108"/>
                    </a:cubicBezTo>
                    <a:cubicBezTo>
                      <a:pt x="172" y="113"/>
                      <a:pt x="176" y="131"/>
                      <a:pt x="173" y="145"/>
                    </a:cubicBezTo>
                    <a:cubicBezTo>
                      <a:pt x="161" y="211"/>
                      <a:pt x="161" y="211"/>
                      <a:pt x="161" y="211"/>
                    </a:cubicBezTo>
                    <a:cubicBezTo>
                      <a:pt x="161" y="214"/>
                      <a:pt x="158" y="216"/>
                      <a:pt x="155" y="216"/>
                    </a:cubicBezTo>
                    <a:close/>
                    <a:moveTo>
                      <a:pt x="62" y="204"/>
                    </a:moveTo>
                    <a:cubicBezTo>
                      <a:pt x="150" y="204"/>
                      <a:pt x="150" y="204"/>
                      <a:pt x="150" y="204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3" y="134"/>
                      <a:pt x="161" y="123"/>
                      <a:pt x="152" y="120"/>
                    </a:cubicBezTo>
                    <a:cubicBezTo>
                      <a:pt x="99" y="102"/>
                      <a:pt x="99" y="102"/>
                      <a:pt x="99" y="102"/>
                    </a:cubicBezTo>
                    <a:cubicBezTo>
                      <a:pt x="97" y="101"/>
                      <a:pt x="95" y="99"/>
                      <a:pt x="95" y="96"/>
                    </a:cubicBezTo>
                    <a:cubicBezTo>
                      <a:pt x="95" y="24"/>
                      <a:pt x="95" y="24"/>
                      <a:pt x="95" y="24"/>
                    </a:cubicBezTo>
                    <a:cubicBezTo>
                      <a:pt x="95" y="17"/>
                      <a:pt x="90" y="12"/>
                      <a:pt x="83" y="12"/>
                    </a:cubicBezTo>
                    <a:cubicBezTo>
                      <a:pt x="77" y="12"/>
                      <a:pt x="71" y="18"/>
                      <a:pt x="71" y="24"/>
                    </a:cubicBezTo>
                    <a:cubicBezTo>
                      <a:pt x="71" y="156"/>
                      <a:pt x="71" y="156"/>
                      <a:pt x="71" y="156"/>
                    </a:cubicBezTo>
                    <a:cubicBezTo>
                      <a:pt x="71" y="159"/>
                      <a:pt x="69" y="161"/>
                      <a:pt x="67" y="162"/>
                    </a:cubicBezTo>
                    <a:cubicBezTo>
                      <a:pt x="64" y="163"/>
                      <a:pt x="62" y="162"/>
                      <a:pt x="60" y="159"/>
                    </a:cubicBezTo>
                    <a:cubicBezTo>
                      <a:pt x="37" y="123"/>
                      <a:pt x="26" y="120"/>
                      <a:pt x="17" y="120"/>
                    </a:cubicBezTo>
                    <a:cubicBezTo>
                      <a:pt x="15" y="120"/>
                      <a:pt x="15" y="121"/>
                      <a:pt x="14" y="121"/>
                    </a:cubicBezTo>
                    <a:cubicBezTo>
                      <a:pt x="13" y="124"/>
                      <a:pt x="14" y="131"/>
                      <a:pt x="16" y="135"/>
                    </a:cubicBezTo>
                    <a:lnTo>
                      <a:pt x="62" y="20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7" name="Freeform 106">
                <a:extLst>
                  <a:ext uri="{FF2B5EF4-FFF2-40B4-BE49-F238E27FC236}">
                    <a16:creationId xmlns:a16="http://schemas.microsoft.com/office/drawing/2014/main" id="{F6D3FCA5-184F-C030-279E-3BC9363ABE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6" y="3122"/>
                <a:ext cx="71" cy="17"/>
              </a:xfrm>
              <a:custGeom>
                <a:avLst/>
                <a:gdLst>
                  <a:gd name="T0" fmla="*/ 42 w 48"/>
                  <a:gd name="T1" fmla="*/ 12 h 12"/>
                  <a:gd name="T2" fmla="*/ 6 w 48"/>
                  <a:gd name="T3" fmla="*/ 12 h 12"/>
                  <a:gd name="T4" fmla="*/ 0 w 48"/>
                  <a:gd name="T5" fmla="*/ 6 h 12"/>
                  <a:gd name="T6" fmla="*/ 6 w 48"/>
                  <a:gd name="T7" fmla="*/ 0 h 12"/>
                  <a:gd name="T8" fmla="*/ 42 w 48"/>
                  <a:gd name="T9" fmla="*/ 0 h 12"/>
                  <a:gd name="T10" fmla="*/ 48 w 48"/>
                  <a:gd name="T11" fmla="*/ 6 h 12"/>
                  <a:gd name="T12" fmla="*/ 42 w 48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12">
                    <a:moveTo>
                      <a:pt x="42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6" y="0"/>
                      <a:pt x="48" y="3"/>
                      <a:pt x="48" y="6"/>
                    </a:cubicBezTo>
                    <a:cubicBezTo>
                      <a:pt x="48" y="9"/>
                      <a:pt x="46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8" name="Freeform 107">
                <a:extLst>
                  <a:ext uri="{FF2B5EF4-FFF2-40B4-BE49-F238E27FC236}">
                    <a16:creationId xmlns:a16="http://schemas.microsoft.com/office/drawing/2014/main" id="{5727C25F-8031-439C-E765-B0DCD8236A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8" y="3031"/>
                <a:ext cx="55" cy="55"/>
              </a:xfrm>
              <a:custGeom>
                <a:avLst/>
                <a:gdLst>
                  <a:gd name="T0" fmla="*/ 6 w 37"/>
                  <a:gd name="T1" fmla="*/ 37 h 37"/>
                  <a:gd name="T2" fmla="*/ 2 w 37"/>
                  <a:gd name="T3" fmla="*/ 35 h 37"/>
                  <a:gd name="T4" fmla="*/ 2 w 37"/>
                  <a:gd name="T5" fmla="*/ 27 h 37"/>
                  <a:gd name="T6" fmla="*/ 26 w 37"/>
                  <a:gd name="T7" fmla="*/ 3 h 37"/>
                  <a:gd name="T8" fmla="*/ 34 w 37"/>
                  <a:gd name="T9" fmla="*/ 3 h 37"/>
                  <a:gd name="T10" fmla="*/ 34 w 37"/>
                  <a:gd name="T11" fmla="*/ 11 h 37"/>
                  <a:gd name="T12" fmla="*/ 10 w 37"/>
                  <a:gd name="T13" fmla="*/ 35 h 37"/>
                  <a:gd name="T14" fmla="*/ 6 w 37"/>
                  <a:gd name="T15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7" h="37">
                    <a:moveTo>
                      <a:pt x="6" y="37"/>
                    </a:moveTo>
                    <a:cubicBezTo>
                      <a:pt x="5" y="37"/>
                      <a:pt x="3" y="36"/>
                      <a:pt x="2" y="35"/>
                    </a:cubicBezTo>
                    <a:cubicBezTo>
                      <a:pt x="0" y="33"/>
                      <a:pt x="0" y="29"/>
                      <a:pt x="2" y="27"/>
                    </a:cubicBezTo>
                    <a:cubicBezTo>
                      <a:pt x="26" y="3"/>
                      <a:pt x="26" y="3"/>
                      <a:pt x="26" y="3"/>
                    </a:cubicBezTo>
                    <a:cubicBezTo>
                      <a:pt x="28" y="0"/>
                      <a:pt x="32" y="0"/>
                      <a:pt x="34" y="3"/>
                    </a:cubicBezTo>
                    <a:cubicBezTo>
                      <a:pt x="37" y="5"/>
                      <a:pt x="37" y="9"/>
                      <a:pt x="34" y="11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9" y="36"/>
                      <a:pt x="8" y="37"/>
                      <a:pt x="6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20" name="Freeform 108">
                <a:extLst>
                  <a:ext uri="{FF2B5EF4-FFF2-40B4-BE49-F238E27FC236}">
                    <a16:creationId xmlns:a16="http://schemas.microsoft.com/office/drawing/2014/main" id="{6AE79CD3-1A38-D6E4-6CAD-D39702A276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5" y="2997"/>
                <a:ext cx="18" cy="71"/>
              </a:xfrm>
              <a:custGeom>
                <a:avLst/>
                <a:gdLst>
                  <a:gd name="T0" fmla="*/ 6 w 12"/>
                  <a:gd name="T1" fmla="*/ 48 h 48"/>
                  <a:gd name="T2" fmla="*/ 0 w 12"/>
                  <a:gd name="T3" fmla="*/ 42 h 48"/>
                  <a:gd name="T4" fmla="*/ 0 w 12"/>
                  <a:gd name="T5" fmla="*/ 6 h 48"/>
                  <a:gd name="T6" fmla="*/ 6 w 12"/>
                  <a:gd name="T7" fmla="*/ 0 h 48"/>
                  <a:gd name="T8" fmla="*/ 12 w 12"/>
                  <a:gd name="T9" fmla="*/ 6 h 48"/>
                  <a:gd name="T10" fmla="*/ 12 w 12"/>
                  <a:gd name="T11" fmla="*/ 42 h 48"/>
                  <a:gd name="T12" fmla="*/ 6 w 12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48">
                    <a:moveTo>
                      <a:pt x="6" y="48"/>
                    </a:moveTo>
                    <a:cubicBezTo>
                      <a:pt x="3" y="48"/>
                      <a:pt x="0" y="45"/>
                      <a:pt x="0" y="42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0" y="0"/>
                      <a:pt x="12" y="3"/>
                      <a:pt x="12" y="6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2" y="45"/>
                      <a:pt x="10" y="48"/>
                      <a:pt x="6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22" name="Freeform 109">
                <a:extLst>
                  <a:ext uri="{FF2B5EF4-FFF2-40B4-BE49-F238E27FC236}">
                    <a16:creationId xmlns:a16="http://schemas.microsoft.com/office/drawing/2014/main" id="{F3B3FDB6-78E3-2B43-3DAC-DD09106B44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8" y="3031"/>
                <a:ext cx="55" cy="55"/>
              </a:xfrm>
              <a:custGeom>
                <a:avLst/>
                <a:gdLst>
                  <a:gd name="T0" fmla="*/ 30 w 37"/>
                  <a:gd name="T1" fmla="*/ 37 h 37"/>
                  <a:gd name="T2" fmla="*/ 26 w 37"/>
                  <a:gd name="T3" fmla="*/ 35 h 37"/>
                  <a:gd name="T4" fmla="*/ 2 w 37"/>
                  <a:gd name="T5" fmla="*/ 11 h 37"/>
                  <a:gd name="T6" fmla="*/ 2 w 37"/>
                  <a:gd name="T7" fmla="*/ 3 h 37"/>
                  <a:gd name="T8" fmla="*/ 10 w 37"/>
                  <a:gd name="T9" fmla="*/ 3 h 37"/>
                  <a:gd name="T10" fmla="*/ 34 w 37"/>
                  <a:gd name="T11" fmla="*/ 27 h 37"/>
                  <a:gd name="T12" fmla="*/ 34 w 37"/>
                  <a:gd name="T13" fmla="*/ 35 h 37"/>
                  <a:gd name="T14" fmla="*/ 30 w 37"/>
                  <a:gd name="T15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7" h="37">
                    <a:moveTo>
                      <a:pt x="30" y="37"/>
                    </a:moveTo>
                    <a:cubicBezTo>
                      <a:pt x="29" y="37"/>
                      <a:pt x="27" y="36"/>
                      <a:pt x="26" y="35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0" y="9"/>
                      <a:pt x="0" y="5"/>
                      <a:pt x="2" y="3"/>
                    </a:cubicBezTo>
                    <a:cubicBezTo>
                      <a:pt x="4" y="0"/>
                      <a:pt x="8" y="0"/>
                      <a:pt x="10" y="3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7" y="29"/>
                      <a:pt x="37" y="33"/>
                      <a:pt x="34" y="35"/>
                    </a:cubicBezTo>
                    <a:cubicBezTo>
                      <a:pt x="33" y="36"/>
                      <a:pt x="32" y="37"/>
                      <a:pt x="30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23" name="Freeform 110">
                <a:extLst>
                  <a:ext uri="{FF2B5EF4-FFF2-40B4-BE49-F238E27FC236}">
                    <a16:creationId xmlns:a16="http://schemas.microsoft.com/office/drawing/2014/main" id="{FE3BA774-7D4E-C1E2-892D-D1A28A7780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3" y="3122"/>
                <a:ext cx="71" cy="17"/>
              </a:xfrm>
              <a:custGeom>
                <a:avLst/>
                <a:gdLst>
                  <a:gd name="T0" fmla="*/ 42 w 48"/>
                  <a:gd name="T1" fmla="*/ 12 h 12"/>
                  <a:gd name="T2" fmla="*/ 6 w 48"/>
                  <a:gd name="T3" fmla="*/ 12 h 12"/>
                  <a:gd name="T4" fmla="*/ 0 w 48"/>
                  <a:gd name="T5" fmla="*/ 6 h 12"/>
                  <a:gd name="T6" fmla="*/ 6 w 48"/>
                  <a:gd name="T7" fmla="*/ 0 h 12"/>
                  <a:gd name="T8" fmla="*/ 42 w 48"/>
                  <a:gd name="T9" fmla="*/ 0 h 12"/>
                  <a:gd name="T10" fmla="*/ 48 w 48"/>
                  <a:gd name="T11" fmla="*/ 6 h 12"/>
                  <a:gd name="T12" fmla="*/ 42 w 48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12">
                    <a:moveTo>
                      <a:pt x="42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6" y="0"/>
                      <a:pt x="48" y="3"/>
                      <a:pt x="48" y="6"/>
                    </a:cubicBezTo>
                    <a:cubicBezTo>
                      <a:pt x="48" y="9"/>
                      <a:pt x="46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69507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7FBF1-A938-3920-8599-52CDBDDF4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DEA248-8598-7BF6-5424-1BB20E839B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"/>
            <a:ext cx="12191996" cy="6858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EEC6D5-73E0-6D25-4CAF-6495BC2DA6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57" y="118646"/>
            <a:ext cx="12017643" cy="3812398"/>
          </a:xfrm>
          <a:prstGeom prst="rect">
            <a:avLst/>
          </a:prstGeom>
        </p:spPr>
      </p:pic>
      <p:pic>
        <p:nvPicPr>
          <p:cNvPr id="14" name="Picture 13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406066E7-0E23-F287-2361-761EF6E5DFA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482516"/>
            <a:ext cx="192024" cy="2023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BC8AEB-D55E-8E72-4944-A1870396C7AB}"/>
              </a:ext>
            </a:extLst>
          </p:cNvPr>
          <p:cNvSpPr txBox="1"/>
          <p:nvPr/>
        </p:nvSpPr>
        <p:spPr>
          <a:xfrm>
            <a:off x="573024" y="4423840"/>
            <a:ext cx="6090073" cy="1460651"/>
          </a:xfrm>
          <a:prstGeom prst="rect">
            <a:avLst/>
          </a:prstGeom>
          <a:noFill/>
        </p:spPr>
        <p:txBody>
          <a:bodyPr wrap="square" lIns="0" tIns="0" rIns="0" bIns="0" numCol="1" rtlCol="0" anchor="ctr">
            <a:noAutofit/>
          </a:bodyPr>
          <a:lstStyle/>
          <a:p>
            <a:pPr defTabSz="228600">
              <a:spcAft>
                <a:spcPts val="1200"/>
              </a:spcAft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What you need to do</a:t>
            </a:r>
          </a:p>
          <a:p>
            <a:pPr defTabSz="228600">
              <a:spcAft>
                <a:spcPts val="1200"/>
              </a:spcAft>
              <a:defRPr/>
            </a:pPr>
            <a:r>
              <a:rPr lang="en-US" sz="1200" b="1" dirty="0">
                <a:solidFill>
                  <a:srgbClr val="FFFFFF"/>
                </a:solidFill>
                <a:latin typeface="Graphik"/>
              </a:rPr>
              <a:t>Access Claim Case: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US" sz="1200" dirty="0">
                <a:solidFill>
                  <a:srgbClr val="FFFFFF"/>
                </a:solidFill>
                <a:latin typeface="Graphik"/>
              </a:rPr>
              <a:t>Click on the link to access the “Claim Assessment” page and review the recommended outcome.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US" sz="1200" dirty="0">
              <a:solidFill>
                <a:srgbClr val="FFFFFF"/>
              </a:solidFill>
              <a:latin typeface="Graphik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7124CD2-F02C-F55A-F7B1-BB14F5E1A712}"/>
              </a:ext>
            </a:extLst>
          </p:cNvPr>
          <p:cNvSpPr/>
          <p:nvPr/>
        </p:nvSpPr>
        <p:spPr>
          <a:xfrm>
            <a:off x="7148950" y="4610213"/>
            <a:ext cx="4873336" cy="119181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>
            <a:spAutoFit/>
          </a:bodyPr>
          <a:lstStyle/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500C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What the system handles in the background</a:t>
            </a:r>
          </a:p>
          <a:p>
            <a:pPr marL="171450" lvl="0" indent="-171450">
              <a:buFont typeface="Wingdings" panose="05000000000000000000" pitchFamily="2" charset="2"/>
              <a:buChar char="q"/>
            </a:pPr>
            <a:r>
              <a:rPr lang="en-US" sz="1050" dirty="0">
                <a:solidFill>
                  <a:prstClr val="black"/>
                </a:solidFill>
                <a:latin typeface="Graphik" panose="020B0503030202060203" pitchFamily="34" charset="0"/>
              </a:rPr>
              <a:t>Once the system completes its assessment and generates the recommended outcome, it provides a direct link so you can access the review screen seamlessly without navigating across multiple systems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2984810-7EB9-D6EA-2EB8-82A73662D44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208550" y="4747025"/>
            <a:ext cx="300413" cy="300410"/>
            <a:chOff x="3438" y="437"/>
            <a:chExt cx="428" cy="428"/>
          </a:xfrm>
          <a:solidFill>
            <a:srgbClr val="7500C0"/>
          </a:solidFill>
        </p:grpSpPr>
        <p:sp>
          <p:nvSpPr>
            <p:cNvPr id="30" name="Freeform 34">
              <a:extLst>
                <a:ext uri="{FF2B5EF4-FFF2-40B4-BE49-F238E27FC236}">
                  <a16:creationId xmlns:a16="http://schemas.microsoft.com/office/drawing/2014/main" id="{5C164844-E532-9EEC-2ADA-4AFC70FAB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8" y="439"/>
              <a:ext cx="427" cy="426"/>
            </a:xfrm>
            <a:custGeom>
              <a:avLst/>
              <a:gdLst>
                <a:gd name="T0" fmla="*/ 126 w 288"/>
                <a:gd name="T1" fmla="*/ 288 h 288"/>
                <a:gd name="T2" fmla="*/ 120 w 288"/>
                <a:gd name="T3" fmla="*/ 247 h 288"/>
                <a:gd name="T4" fmla="*/ 67 w 288"/>
                <a:gd name="T5" fmla="*/ 262 h 288"/>
                <a:gd name="T6" fmla="*/ 25 w 288"/>
                <a:gd name="T7" fmla="*/ 229 h 288"/>
                <a:gd name="T8" fmla="*/ 25 w 288"/>
                <a:gd name="T9" fmla="*/ 220 h 288"/>
                <a:gd name="T10" fmla="*/ 40 w 288"/>
                <a:gd name="T11" fmla="*/ 168 h 288"/>
                <a:gd name="T12" fmla="*/ 0 w 288"/>
                <a:gd name="T13" fmla="*/ 162 h 288"/>
                <a:gd name="T14" fmla="*/ 6 w 288"/>
                <a:gd name="T15" fmla="*/ 120 h 288"/>
                <a:gd name="T16" fmla="*/ 49 w 288"/>
                <a:gd name="T17" fmla="*/ 92 h 288"/>
                <a:gd name="T18" fmla="*/ 23 w 288"/>
                <a:gd name="T19" fmla="*/ 63 h 288"/>
                <a:gd name="T20" fmla="*/ 59 w 288"/>
                <a:gd name="T21" fmla="*/ 25 h 288"/>
                <a:gd name="T22" fmla="*/ 92 w 288"/>
                <a:gd name="T23" fmla="*/ 49 h 288"/>
                <a:gd name="T24" fmla="*/ 120 w 288"/>
                <a:gd name="T25" fmla="*/ 6 h 288"/>
                <a:gd name="T26" fmla="*/ 162 w 288"/>
                <a:gd name="T27" fmla="*/ 0 h 288"/>
                <a:gd name="T28" fmla="*/ 168 w 288"/>
                <a:gd name="T29" fmla="*/ 40 h 288"/>
                <a:gd name="T30" fmla="*/ 202 w 288"/>
                <a:gd name="T31" fmla="*/ 60 h 288"/>
                <a:gd name="T32" fmla="*/ 160 w 288"/>
                <a:gd name="T33" fmla="*/ 50 h 288"/>
                <a:gd name="T34" fmla="*/ 156 w 288"/>
                <a:gd name="T35" fmla="*/ 12 h 288"/>
                <a:gd name="T36" fmla="*/ 132 w 288"/>
                <a:gd name="T37" fmla="*/ 45 h 288"/>
                <a:gd name="T38" fmla="*/ 94 w 288"/>
                <a:gd name="T39" fmla="*/ 62 h 288"/>
                <a:gd name="T40" fmla="*/ 63 w 288"/>
                <a:gd name="T41" fmla="*/ 38 h 288"/>
                <a:gd name="T42" fmla="*/ 61 w 288"/>
                <a:gd name="T43" fmla="*/ 86 h 288"/>
                <a:gd name="T44" fmla="*/ 51 w 288"/>
                <a:gd name="T45" fmla="*/ 127 h 288"/>
                <a:gd name="T46" fmla="*/ 12 w 288"/>
                <a:gd name="T47" fmla="*/ 132 h 288"/>
                <a:gd name="T48" fmla="*/ 45 w 288"/>
                <a:gd name="T49" fmla="*/ 156 h 288"/>
                <a:gd name="T50" fmla="*/ 62 w 288"/>
                <a:gd name="T51" fmla="*/ 194 h 288"/>
                <a:gd name="T52" fmla="*/ 38 w 288"/>
                <a:gd name="T53" fmla="*/ 224 h 288"/>
                <a:gd name="T54" fmla="*/ 87 w 288"/>
                <a:gd name="T55" fmla="*/ 226 h 288"/>
                <a:gd name="T56" fmla="*/ 127 w 288"/>
                <a:gd name="T57" fmla="*/ 237 h 288"/>
                <a:gd name="T58" fmla="*/ 132 w 288"/>
                <a:gd name="T59" fmla="*/ 276 h 288"/>
                <a:gd name="T60" fmla="*/ 156 w 288"/>
                <a:gd name="T61" fmla="*/ 243 h 288"/>
                <a:gd name="T62" fmla="*/ 194 w 288"/>
                <a:gd name="T63" fmla="*/ 226 h 288"/>
                <a:gd name="T64" fmla="*/ 224 w 288"/>
                <a:gd name="T65" fmla="*/ 250 h 288"/>
                <a:gd name="T66" fmla="*/ 227 w 288"/>
                <a:gd name="T67" fmla="*/ 201 h 288"/>
                <a:gd name="T68" fmla="*/ 237 w 288"/>
                <a:gd name="T69" fmla="*/ 160 h 288"/>
                <a:gd name="T70" fmla="*/ 276 w 288"/>
                <a:gd name="T71" fmla="*/ 156 h 288"/>
                <a:gd name="T72" fmla="*/ 243 w 288"/>
                <a:gd name="T73" fmla="*/ 132 h 288"/>
                <a:gd name="T74" fmla="*/ 231 w 288"/>
                <a:gd name="T75" fmla="*/ 107 h 288"/>
                <a:gd name="T76" fmla="*/ 243 w 288"/>
                <a:gd name="T77" fmla="*/ 103 h 288"/>
                <a:gd name="T78" fmla="*/ 282 w 288"/>
                <a:gd name="T79" fmla="*/ 120 h 288"/>
                <a:gd name="T80" fmla="*/ 288 w 288"/>
                <a:gd name="T81" fmla="*/ 162 h 288"/>
                <a:gd name="T82" fmla="*/ 248 w 288"/>
                <a:gd name="T83" fmla="*/ 168 h 288"/>
                <a:gd name="T84" fmla="*/ 263 w 288"/>
                <a:gd name="T85" fmla="*/ 220 h 288"/>
                <a:gd name="T86" fmla="*/ 229 w 288"/>
                <a:gd name="T87" fmla="*/ 262 h 288"/>
                <a:gd name="T88" fmla="*/ 196 w 288"/>
                <a:gd name="T89" fmla="*/ 238 h 288"/>
                <a:gd name="T90" fmla="*/ 168 w 288"/>
                <a:gd name="T91" fmla="*/ 282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88" h="288">
                  <a:moveTo>
                    <a:pt x="162" y="288"/>
                  </a:moveTo>
                  <a:cubicBezTo>
                    <a:pt x="126" y="288"/>
                    <a:pt x="126" y="288"/>
                    <a:pt x="126" y="288"/>
                  </a:cubicBezTo>
                  <a:cubicBezTo>
                    <a:pt x="123" y="288"/>
                    <a:pt x="120" y="285"/>
                    <a:pt x="120" y="282"/>
                  </a:cubicBezTo>
                  <a:cubicBezTo>
                    <a:pt x="120" y="247"/>
                    <a:pt x="120" y="247"/>
                    <a:pt x="120" y="247"/>
                  </a:cubicBezTo>
                  <a:cubicBezTo>
                    <a:pt x="110" y="245"/>
                    <a:pt x="100" y="242"/>
                    <a:pt x="92" y="238"/>
                  </a:cubicBezTo>
                  <a:cubicBezTo>
                    <a:pt x="67" y="262"/>
                    <a:pt x="67" y="262"/>
                    <a:pt x="67" y="262"/>
                  </a:cubicBezTo>
                  <a:cubicBezTo>
                    <a:pt x="65" y="265"/>
                    <a:pt x="61" y="265"/>
                    <a:pt x="59" y="262"/>
                  </a:cubicBezTo>
                  <a:cubicBezTo>
                    <a:pt x="25" y="229"/>
                    <a:pt x="25" y="229"/>
                    <a:pt x="25" y="229"/>
                  </a:cubicBezTo>
                  <a:cubicBezTo>
                    <a:pt x="24" y="227"/>
                    <a:pt x="23" y="226"/>
                    <a:pt x="23" y="224"/>
                  </a:cubicBezTo>
                  <a:cubicBezTo>
                    <a:pt x="23" y="223"/>
                    <a:pt x="24" y="221"/>
                    <a:pt x="25" y="220"/>
                  </a:cubicBezTo>
                  <a:cubicBezTo>
                    <a:pt x="49" y="196"/>
                    <a:pt x="49" y="196"/>
                    <a:pt x="49" y="196"/>
                  </a:cubicBezTo>
                  <a:cubicBezTo>
                    <a:pt x="46" y="188"/>
                    <a:pt x="43" y="177"/>
                    <a:pt x="40" y="168"/>
                  </a:cubicBezTo>
                  <a:cubicBezTo>
                    <a:pt x="6" y="168"/>
                    <a:pt x="6" y="168"/>
                    <a:pt x="6" y="168"/>
                  </a:cubicBezTo>
                  <a:cubicBezTo>
                    <a:pt x="3" y="168"/>
                    <a:pt x="0" y="165"/>
                    <a:pt x="0" y="162"/>
                  </a:cubicBezTo>
                  <a:cubicBezTo>
                    <a:pt x="0" y="126"/>
                    <a:pt x="0" y="126"/>
                    <a:pt x="0" y="126"/>
                  </a:cubicBezTo>
                  <a:cubicBezTo>
                    <a:pt x="0" y="122"/>
                    <a:pt x="3" y="120"/>
                    <a:pt x="6" y="120"/>
                  </a:cubicBezTo>
                  <a:cubicBezTo>
                    <a:pt x="40" y="120"/>
                    <a:pt x="40" y="120"/>
                    <a:pt x="40" y="120"/>
                  </a:cubicBezTo>
                  <a:cubicBezTo>
                    <a:pt x="43" y="110"/>
                    <a:pt x="46" y="100"/>
                    <a:pt x="49" y="92"/>
                  </a:cubicBezTo>
                  <a:cubicBezTo>
                    <a:pt x="25" y="67"/>
                    <a:pt x="25" y="67"/>
                    <a:pt x="25" y="67"/>
                  </a:cubicBezTo>
                  <a:cubicBezTo>
                    <a:pt x="24" y="66"/>
                    <a:pt x="23" y="65"/>
                    <a:pt x="23" y="63"/>
                  </a:cubicBezTo>
                  <a:cubicBezTo>
                    <a:pt x="23" y="61"/>
                    <a:pt x="24" y="60"/>
                    <a:pt x="25" y="59"/>
                  </a:cubicBezTo>
                  <a:cubicBezTo>
                    <a:pt x="59" y="25"/>
                    <a:pt x="59" y="25"/>
                    <a:pt x="59" y="25"/>
                  </a:cubicBezTo>
                  <a:cubicBezTo>
                    <a:pt x="61" y="23"/>
                    <a:pt x="65" y="23"/>
                    <a:pt x="67" y="25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100" y="45"/>
                    <a:pt x="110" y="42"/>
                    <a:pt x="120" y="40"/>
                  </a:cubicBezTo>
                  <a:cubicBezTo>
                    <a:pt x="120" y="6"/>
                    <a:pt x="120" y="6"/>
                    <a:pt x="120" y="6"/>
                  </a:cubicBezTo>
                  <a:cubicBezTo>
                    <a:pt x="120" y="2"/>
                    <a:pt x="123" y="0"/>
                    <a:pt x="126" y="0"/>
                  </a:cubicBezTo>
                  <a:cubicBezTo>
                    <a:pt x="162" y="0"/>
                    <a:pt x="162" y="0"/>
                    <a:pt x="162" y="0"/>
                  </a:cubicBezTo>
                  <a:cubicBezTo>
                    <a:pt x="165" y="0"/>
                    <a:pt x="168" y="2"/>
                    <a:pt x="168" y="6"/>
                  </a:cubicBezTo>
                  <a:cubicBezTo>
                    <a:pt x="168" y="40"/>
                    <a:pt x="168" y="40"/>
                    <a:pt x="168" y="40"/>
                  </a:cubicBezTo>
                  <a:cubicBezTo>
                    <a:pt x="179" y="43"/>
                    <a:pt x="192" y="47"/>
                    <a:pt x="200" y="52"/>
                  </a:cubicBezTo>
                  <a:cubicBezTo>
                    <a:pt x="203" y="53"/>
                    <a:pt x="204" y="57"/>
                    <a:pt x="202" y="60"/>
                  </a:cubicBezTo>
                  <a:cubicBezTo>
                    <a:pt x="200" y="63"/>
                    <a:pt x="197" y="63"/>
                    <a:pt x="194" y="62"/>
                  </a:cubicBezTo>
                  <a:cubicBezTo>
                    <a:pt x="186" y="57"/>
                    <a:pt x="171" y="53"/>
                    <a:pt x="160" y="50"/>
                  </a:cubicBezTo>
                  <a:cubicBezTo>
                    <a:pt x="158" y="50"/>
                    <a:pt x="156" y="47"/>
                    <a:pt x="156" y="45"/>
                  </a:cubicBezTo>
                  <a:cubicBezTo>
                    <a:pt x="156" y="12"/>
                    <a:pt x="156" y="12"/>
                    <a:pt x="156" y="12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7"/>
                    <a:pt x="130" y="50"/>
                    <a:pt x="127" y="50"/>
                  </a:cubicBezTo>
                  <a:cubicBezTo>
                    <a:pt x="117" y="53"/>
                    <a:pt x="102" y="57"/>
                    <a:pt x="94" y="62"/>
                  </a:cubicBezTo>
                  <a:cubicBezTo>
                    <a:pt x="92" y="63"/>
                    <a:pt x="89" y="63"/>
                    <a:pt x="87" y="61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61" y="86"/>
                    <a:pt x="61" y="86"/>
                    <a:pt x="61" y="86"/>
                  </a:cubicBezTo>
                  <a:cubicBezTo>
                    <a:pt x="63" y="88"/>
                    <a:pt x="63" y="91"/>
                    <a:pt x="62" y="94"/>
                  </a:cubicBezTo>
                  <a:cubicBezTo>
                    <a:pt x="57" y="103"/>
                    <a:pt x="52" y="120"/>
                    <a:pt x="51" y="127"/>
                  </a:cubicBezTo>
                  <a:cubicBezTo>
                    <a:pt x="50" y="130"/>
                    <a:pt x="48" y="132"/>
                    <a:pt x="45" y="132"/>
                  </a:cubicBezTo>
                  <a:cubicBezTo>
                    <a:pt x="12" y="132"/>
                    <a:pt x="12" y="132"/>
                    <a:pt x="12" y="132"/>
                  </a:cubicBezTo>
                  <a:cubicBezTo>
                    <a:pt x="12" y="156"/>
                    <a:pt x="12" y="156"/>
                    <a:pt x="12" y="156"/>
                  </a:cubicBezTo>
                  <a:cubicBezTo>
                    <a:pt x="45" y="156"/>
                    <a:pt x="45" y="156"/>
                    <a:pt x="45" y="156"/>
                  </a:cubicBezTo>
                  <a:cubicBezTo>
                    <a:pt x="48" y="156"/>
                    <a:pt x="50" y="158"/>
                    <a:pt x="51" y="160"/>
                  </a:cubicBezTo>
                  <a:cubicBezTo>
                    <a:pt x="52" y="167"/>
                    <a:pt x="57" y="185"/>
                    <a:pt x="62" y="194"/>
                  </a:cubicBezTo>
                  <a:cubicBezTo>
                    <a:pt x="63" y="196"/>
                    <a:pt x="63" y="199"/>
                    <a:pt x="61" y="201"/>
                  </a:cubicBezTo>
                  <a:cubicBezTo>
                    <a:pt x="38" y="224"/>
                    <a:pt x="38" y="224"/>
                    <a:pt x="38" y="224"/>
                  </a:cubicBezTo>
                  <a:cubicBezTo>
                    <a:pt x="63" y="250"/>
                    <a:pt x="63" y="250"/>
                    <a:pt x="63" y="250"/>
                  </a:cubicBezTo>
                  <a:cubicBezTo>
                    <a:pt x="87" y="226"/>
                    <a:pt x="87" y="226"/>
                    <a:pt x="87" y="226"/>
                  </a:cubicBezTo>
                  <a:cubicBezTo>
                    <a:pt x="88" y="224"/>
                    <a:pt x="92" y="224"/>
                    <a:pt x="94" y="226"/>
                  </a:cubicBezTo>
                  <a:cubicBezTo>
                    <a:pt x="103" y="231"/>
                    <a:pt x="121" y="235"/>
                    <a:pt x="127" y="237"/>
                  </a:cubicBezTo>
                  <a:cubicBezTo>
                    <a:pt x="130" y="238"/>
                    <a:pt x="132" y="240"/>
                    <a:pt x="132" y="243"/>
                  </a:cubicBezTo>
                  <a:cubicBezTo>
                    <a:pt x="132" y="276"/>
                    <a:pt x="132" y="276"/>
                    <a:pt x="132" y="276"/>
                  </a:cubicBezTo>
                  <a:cubicBezTo>
                    <a:pt x="156" y="276"/>
                    <a:pt x="156" y="276"/>
                    <a:pt x="156" y="276"/>
                  </a:cubicBezTo>
                  <a:cubicBezTo>
                    <a:pt x="156" y="243"/>
                    <a:pt x="156" y="243"/>
                    <a:pt x="156" y="243"/>
                  </a:cubicBezTo>
                  <a:cubicBezTo>
                    <a:pt x="156" y="240"/>
                    <a:pt x="158" y="238"/>
                    <a:pt x="160" y="237"/>
                  </a:cubicBezTo>
                  <a:cubicBezTo>
                    <a:pt x="167" y="235"/>
                    <a:pt x="185" y="231"/>
                    <a:pt x="194" y="226"/>
                  </a:cubicBezTo>
                  <a:cubicBezTo>
                    <a:pt x="196" y="224"/>
                    <a:pt x="199" y="224"/>
                    <a:pt x="201" y="226"/>
                  </a:cubicBezTo>
                  <a:cubicBezTo>
                    <a:pt x="224" y="250"/>
                    <a:pt x="224" y="250"/>
                    <a:pt x="224" y="250"/>
                  </a:cubicBezTo>
                  <a:cubicBezTo>
                    <a:pt x="250" y="224"/>
                    <a:pt x="250" y="224"/>
                    <a:pt x="250" y="224"/>
                  </a:cubicBezTo>
                  <a:cubicBezTo>
                    <a:pt x="227" y="201"/>
                    <a:pt x="227" y="201"/>
                    <a:pt x="227" y="201"/>
                  </a:cubicBezTo>
                  <a:cubicBezTo>
                    <a:pt x="225" y="199"/>
                    <a:pt x="224" y="196"/>
                    <a:pt x="226" y="194"/>
                  </a:cubicBezTo>
                  <a:cubicBezTo>
                    <a:pt x="231" y="185"/>
                    <a:pt x="235" y="167"/>
                    <a:pt x="237" y="160"/>
                  </a:cubicBezTo>
                  <a:cubicBezTo>
                    <a:pt x="238" y="158"/>
                    <a:pt x="240" y="156"/>
                    <a:pt x="243" y="156"/>
                  </a:cubicBezTo>
                  <a:cubicBezTo>
                    <a:pt x="276" y="156"/>
                    <a:pt x="276" y="156"/>
                    <a:pt x="276" y="156"/>
                  </a:cubicBezTo>
                  <a:cubicBezTo>
                    <a:pt x="276" y="132"/>
                    <a:pt x="276" y="132"/>
                    <a:pt x="276" y="132"/>
                  </a:cubicBezTo>
                  <a:cubicBezTo>
                    <a:pt x="243" y="132"/>
                    <a:pt x="243" y="132"/>
                    <a:pt x="243" y="132"/>
                  </a:cubicBezTo>
                  <a:cubicBezTo>
                    <a:pt x="240" y="132"/>
                    <a:pt x="238" y="130"/>
                    <a:pt x="237" y="127"/>
                  </a:cubicBezTo>
                  <a:cubicBezTo>
                    <a:pt x="236" y="121"/>
                    <a:pt x="234" y="114"/>
                    <a:pt x="231" y="107"/>
                  </a:cubicBezTo>
                  <a:cubicBezTo>
                    <a:pt x="230" y="103"/>
                    <a:pt x="232" y="100"/>
                    <a:pt x="235" y="99"/>
                  </a:cubicBezTo>
                  <a:cubicBezTo>
                    <a:pt x="238" y="98"/>
                    <a:pt x="242" y="100"/>
                    <a:pt x="243" y="103"/>
                  </a:cubicBezTo>
                  <a:cubicBezTo>
                    <a:pt x="245" y="108"/>
                    <a:pt x="246" y="114"/>
                    <a:pt x="248" y="120"/>
                  </a:cubicBezTo>
                  <a:cubicBezTo>
                    <a:pt x="282" y="120"/>
                    <a:pt x="282" y="120"/>
                    <a:pt x="282" y="120"/>
                  </a:cubicBezTo>
                  <a:cubicBezTo>
                    <a:pt x="285" y="120"/>
                    <a:pt x="288" y="122"/>
                    <a:pt x="288" y="126"/>
                  </a:cubicBezTo>
                  <a:cubicBezTo>
                    <a:pt x="288" y="162"/>
                    <a:pt x="288" y="162"/>
                    <a:pt x="288" y="162"/>
                  </a:cubicBezTo>
                  <a:cubicBezTo>
                    <a:pt x="288" y="165"/>
                    <a:pt x="285" y="168"/>
                    <a:pt x="282" y="168"/>
                  </a:cubicBezTo>
                  <a:cubicBezTo>
                    <a:pt x="248" y="168"/>
                    <a:pt x="248" y="168"/>
                    <a:pt x="248" y="168"/>
                  </a:cubicBezTo>
                  <a:cubicBezTo>
                    <a:pt x="245" y="177"/>
                    <a:pt x="242" y="188"/>
                    <a:pt x="238" y="196"/>
                  </a:cubicBezTo>
                  <a:cubicBezTo>
                    <a:pt x="263" y="220"/>
                    <a:pt x="263" y="220"/>
                    <a:pt x="263" y="220"/>
                  </a:cubicBezTo>
                  <a:cubicBezTo>
                    <a:pt x="265" y="222"/>
                    <a:pt x="265" y="226"/>
                    <a:pt x="263" y="229"/>
                  </a:cubicBezTo>
                  <a:cubicBezTo>
                    <a:pt x="229" y="262"/>
                    <a:pt x="229" y="262"/>
                    <a:pt x="229" y="262"/>
                  </a:cubicBezTo>
                  <a:cubicBezTo>
                    <a:pt x="226" y="265"/>
                    <a:pt x="223" y="265"/>
                    <a:pt x="220" y="262"/>
                  </a:cubicBezTo>
                  <a:cubicBezTo>
                    <a:pt x="196" y="238"/>
                    <a:pt x="196" y="238"/>
                    <a:pt x="196" y="238"/>
                  </a:cubicBezTo>
                  <a:cubicBezTo>
                    <a:pt x="188" y="242"/>
                    <a:pt x="177" y="245"/>
                    <a:pt x="168" y="247"/>
                  </a:cubicBezTo>
                  <a:cubicBezTo>
                    <a:pt x="168" y="282"/>
                    <a:pt x="168" y="282"/>
                    <a:pt x="168" y="282"/>
                  </a:cubicBezTo>
                  <a:cubicBezTo>
                    <a:pt x="168" y="285"/>
                    <a:pt x="165" y="288"/>
                    <a:pt x="162" y="2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31" name="Freeform 35">
              <a:extLst>
                <a:ext uri="{FF2B5EF4-FFF2-40B4-BE49-F238E27FC236}">
                  <a16:creationId xmlns:a16="http://schemas.microsoft.com/office/drawing/2014/main" id="{12000F8E-ED8C-2803-4145-A39CA29D7C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7" y="437"/>
              <a:ext cx="299" cy="265"/>
            </a:xfrm>
            <a:custGeom>
              <a:avLst/>
              <a:gdLst>
                <a:gd name="T0" fmla="*/ 61 w 202"/>
                <a:gd name="T1" fmla="*/ 179 h 179"/>
                <a:gd name="T2" fmla="*/ 56 w 202"/>
                <a:gd name="T3" fmla="*/ 177 h 179"/>
                <a:gd name="T4" fmla="*/ 3 w 202"/>
                <a:gd name="T5" fmla="*/ 124 h 179"/>
                <a:gd name="T6" fmla="*/ 3 w 202"/>
                <a:gd name="T7" fmla="*/ 115 h 179"/>
                <a:gd name="T8" fmla="*/ 11 w 202"/>
                <a:gd name="T9" fmla="*/ 115 h 179"/>
                <a:gd name="T10" fmla="*/ 60 w 202"/>
                <a:gd name="T11" fmla="*/ 164 h 179"/>
                <a:gd name="T12" fmla="*/ 190 w 202"/>
                <a:gd name="T13" fmla="*/ 3 h 179"/>
                <a:gd name="T14" fmla="*/ 199 w 202"/>
                <a:gd name="T15" fmla="*/ 2 h 179"/>
                <a:gd name="T16" fmla="*/ 200 w 202"/>
                <a:gd name="T17" fmla="*/ 10 h 179"/>
                <a:gd name="T18" fmla="*/ 65 w 202"/>
                <a:gd name="T19" fmla="*/ 177 h 179"/>
                <a:gd name="T20" fmla="*/ 61 w 202"/>
                <a:gd name="T21" fmla="*/ 179 h 179"/>
                <a:gd name="T22" fmla="*/ 61 w 202"/>
                <a:gd name="T23" fmla="*/ 179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2" h="179">
                  <a:moveTo>
                    <a:pt x="61" y="179"/>
                  </a:moveTo>
                  <a:cubicBezTo>
                    <a:pt x="59" y="179"/>
                    <a:pt x="57" y="179"/>
                    <a:pt x="56" y="177"/>
                  </a:cubicBezTo>
                  <a:cubicBezTo>
                    <a:pt x="3" y="124"/>
                    <a:pt x="3" y="124"/>
                    <a:pt x="3" y="124"/>
                  </a:cubicBezTo>
                  <a:cubicBezTo>
                    <a:pt x="0" y="121"/>
                    <a:pt x="0" y="118"/>
                    <a:pt x="3" y="115"/>
                  </a:cubicBezTo>
                  <a:cubicBezTo>
                    <a:pt x="5" y="113"/>
                    <a:pt x="9" y="113"/>
                    <a:pt x="11" y="115"/>
                  </a:cubicBezTo>
                  <a:cubicBezTo>
                    <a:pt x="60" y="164"/>
                    <a:pt x="60" y="164"/>
                    <a:pt x="60" y="164"/>
                  </a:cubicBezTo>
                  <a:cubicBezTo>
                    <a:pt x="190" y="3"/>
                    <a:pt x="190" y="3"/>
                    <a:pt x="190" y="3"/>
                  </a:cubicBezTo>
                  <a:cubicBezTo>
                    <a:pt x="192" y="0"/>
                    <a:pt x="196" y="0"/>
                    <a:pt x="199" y="2"/>
                  </a:cubicBezTo>
                  <a:cubicBezTo>
                    <a:pt x="201" y="4"/>
                    <a:pt x="202" y="8"/>
                    <a:pt x="200" y="10"/>
                  </a:cubicBezTo>
                  <a:cubicBezTo>
                    <a:pt x="65" y="177"/>
                    <a:pt x="65" y="177"/>
                    <a:pt x="65" y="177"/>
                  </a:cubicBezTo>
                  <a:cubicBezTo>
                    <a:pt x="64" y="178"/>
                    <a:pt x="63" y="179"/>
                    <a:pt x="61" y="179"/>
                  </a:cubicBezTo>
                  <a:cubicBezTo>
                    <a:pt x="61" y="179"/>
                    <a:pt x="61" y="179"/>
                    <a:pt x="61" y="17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</p:grpSp>
      <p:pic>
        <p:nvPicPr>
          <p:cNvPr id="32" name="Graphic 31" descr="User with solid fill">
            <a:extLst>
              <a:ext uri="{FF2B5EF4-FFF2-40B4-BE49-F238E27FC236}">
                <a16:creationId xmlns:a16="http://schemas.microsoft.com/office/drawing/2014/main" id="{A5F99B80-7E6C-0936-D73A-2414DD3D3C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157" y="4337309"/>
            <a:ext cx="426575" cy="426575"/>
          </a:xfrm>
          <a:prstGeom prst="rect">
            <a:avLst/>
          </a:prstGeom>
        </p:spPr>
      </p:pic>
      <p:sp>
        <p:nvSpPr>
          <p:cNvPr id="33" name="Arrow: Left 32">
            <a:hlinkClick r:id="rId7" action="ppaction://hlinksldjump"/>
            <a:extLst>
              <a:ext uri="{FF2B5EF4-FFF2-40B4-BE49-F238E27FC236}">
                <a16:creationId xmlns:a16="http://schemas.microsoft.com/office/drawing/2014/main" id="{48133F7C-138E-2BF1-C0E6-7F75127AB758}"/>
              </a:ext>
            </a:extLst>
          </p:cNvPr>
          <p:cNvSpPr/>
          <p:nvPr/>
        </p:nvSpPr>
        <p:spPr>
          <a:xfrm>
            <a:off x="11506534" y="193325"/>
            <a:ext cx="475048" cy="319931"/>
          </a:xfrm>
          <a:prstGeom prst="lef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42A4417-7919-A8BE-367B-9549D3D2F02C}"/>
              </a:ext>
            </a:extLst>
          </p:cNvPr>
          <p:cNvGrpSpPr/>
          <p:nvPr/>
        </p:nvGrpSpPr>
        <p:grpSpPr>
          <a:xfrm>
            <a:off x="617463" y="3282778"/>
            <a:ext cx="720000" cy="720000"/>
            <a:chOff x="13338894" y="1587234"/>
            <a:chExt cx="720000" cy="72000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C78405D-86F6-6C66-BCDD-D97835A78F3D}"/>
                </a:ext>
              </a:extLst>
            </p:cNvPr>
            <p:cNvSpPr/>
            <p:nvPr/>
          </p:nvSpPr>
          <p:spPr>
            <a:xfrm flipV="1">
              <a:off x="13338894" y="1587234"/>
              <a:ext cx="720000" cy="720000"/>
            </a:xfrm>
            <a:prstGeom prst="ellipse">
              <a:avLst/>
            </a:prstGeom>
            <a:solidFill>
              <a:schemeClr val="bg1"/>
            </a:solidFill>
            <a:ln w="22225" cap="flat" cmpd="sng" algn="ctr">
              <a:solidFill>
                <a:srgbClr val="7500C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grpSp>
          <p:nvGrpSpPr>
            <p:cNvPr id="15" name="Group 104">
              <a:extLst>
                <a:ext uri="{FF2B5EF4-FFF2-40B4-BE49-F238E27FC236}">
                  <a16:creationId xmlns:a16="http://schemas.microsoft.com/office/drawing/2014/main" id="{F92B51C3-3626-03F4-2CD9-2BE7C584BFF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524907" y="1698240"/>
              <a:ext cx="347973" cy="523184"/>
              <a:chOff x="1443" y="2997"/>
              <a:chExt cx="284" cy="427"/>
            </a:xfrm>
            <a:solidFill>
              <a:srgbClr val="7500C0"/>
            </a:solidFill>
          </p:grpSpPr>
          <p:sp>
            <p:nvSpPr>
              <p:cNvPr id="16" name="Freeform 105">
                <a:extLst>
                  <a:ext uri="{FF2B5EF4-FFF2-40B4-BE49-F238E27FC236}">
                    <a16:creationId xmlns:a16="http://schemas.microsoft.com/office/drawing/2014/main" id="{822BE6AC-E7B4-607B-5586-E05BC0A5DA5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62" y="3104"/>
                <a:ext cx="261" cy="320"/>
              </a:xfrm>
              <a:custGeom>
                <a:avLst/>
                <a:gdLst>
                  <a:gd name="T0" fmla="*/ 155 w 176"/>
                  <a:gd name="T1" fmla="*/ 216 h 216"/>
                  <a:gd name="T2" fmla="*/ 59 w 176"/>
                  <a:gd name="T3" fmla="*/ 216 h 216"/>
                  <a:gd name="T4" fmla="*/ 54 w 176"/>
                  <a:gd name="T5" fmla="*/ 213 h 216"/>
                  <a:gd name="T6" fmla="*/ 6 w 176"/>
                  <a:gd name="T7" fmla="*/ 141 h 216"/>
                  <a:gd name="T8" fmla="*/ 4 w 176"/>
                  <a:gd name="T9" fmla="*/ 116 h 216"/>
                  <a:gd name="T10" fmla="*/ 17 w 176"/>
                  <a:gd name="T11" fmla="*/ 108 h 216"/>
                  <a:gd name="T12" fmla="*/ 59 w 176"/>
                  <a:gd name="T13" fmla="*/ 137 h 216"/>
                  <a:gd name="T14" fmla="*/ 59 w 176"/>
                  <a:gd name="T15" fmla="*/ 24 h 216"/>
                  <a:gd name="T16" fmla="*/ 83 w 176"/>
                  <a:gd name="T17" fmla="*/ 0 h 216"/>
                  <a:gd name="T18" fmla="*/ 107 w 176"/>
                  <a:gd name="T19" fmla="*/ 24 h 216"/>
                  <a:gd name="T20" fmla="*/ 107 w 176"/>
                  <a:gd name="T21" fmla="*/ 92 h 216"/>
                  <a:gd name="T22" fmla="*/ 156 w 176"/>
                  <a:gd name="T23" fmla="*/ 108 h 216"/>
                  <a:gd name="T24" fmla="*/ 173 w 176"/>
                  <a:gd name="T25" fmla="*/ 145 h 216"/>
                  <a:gd name="T26" fmla="*/ 161 w 176"/>
                  <a:gd name="T27" fmla="*/ 211 h 216"/>
                  <a:gd name="T28" fmla="*/ 155 w 176"/>
                  <a:gd name="T29" fmla="*/ 216 h 216"/>
                  <a:gd name="T30" fmla="*/ 62 w 176"/>
                  <a:gd name="T31" fmla="*/ 204 h 216"/>
                  <a:gd name="T32" fmla="*/ 150 w 176"/>
                  <a:gd name="T33" fmla="*/ 204 h 216"/>
                  <a:gd name="T34" fmla="*/ 161 w 176"/>
                  <a:gd name="T35" fmla="*/ 143 h 216"/>
                  <a:gd name="T36" fmla="*/ 152 w 176"/>
                  <a:gd name="T37" fmla="*/ 120 h 216"/>
                  <a:gd name="T38" fmla="*/ 99 w 176"/>
                  <a:gd name="T39" fmla="*/ 102 h 216"/>
                  <a:gd name="T40" fmla="*/ 95 w 176"/>
                  <a:gd name="T41" fmla="*/ 96 h 216"/>
                  <a:gd name="T42" fmla="*/ 95 w 176"/>
                  <a:gd name="T43" fmla="*/ 24 h 216"/>
                  <a:gd name="T44" fmla="*/ 83 w 176"/>
                  <a:gd name="T45" fmla="*/ 12 h 216"/>
                  <a:gd name="T46" fmla="*/ 71 w 176"/>
                  <a:gd name="T47" fmla="*/ 24 h 216"/>
                  <a:gd name="T48" fmla="*/ 71 w 176"/>
                  <a:gd name="T49" fmla="*/ 156 h 216"/>
                  <a:gd name="T50" fmla="*/ 67 w 176"/>
                  <a:gd name="T51" fmla="*/ 162 h 216"/>
                  <a:gd name="T52" fmla="*/ 60 w 176"/>
                  <a:gd name="T53" fmla="*/ 159 h 216"/>
                  <a:gd name="T54" fmla="*/ 17 w 176"/>
                  <a:gd name="T55" fmla="*/ 120 h 216"/>
                  <a:gd name="T56" fmla="*/ 14 w 176"/>
                  <a:gd name="T57" fmla="*/ 121 h 216"/>
                  <a:gd name="T58" fmla="*/ 16 w 176"/>
                  <a:gd name="T59" fmla="*/ 135 h 216"/>
                  <a:gd name="T60" fmla="*/ 62 w 176"/>
                  <a:gd name="T61" fmla="*/ 204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76" h="216">
                    <a:moveTo>
                      <a:pt x="155" y="216"/>
                    </a:moveTo>
                    <a:cubicBezTo>
                      <a:pt x="59" y="216"/>
                      <a:pt x="59" y="216"/>
                      <a:pt x="59" y="216"/>
                    </a:cubicBezTo>
                    <a:cubicBezTo>
                      <a:pt x="57" y="216"/>
                      <a:pt x="55" y="215"/>
                      <a:pt x="54" y="213"/>
                    </a:cubicBezTo>
                    <a:cubicBezTo>
                      <a:pt x="6" y="141"/>
                      <a:pt x="6" y="141"/>
                      <a:pt x="6" y="141"/>
                    </a:cubicBezTo>
                    <a:cubicBezTo>
                      <a:pt x="2" y="135"/>
                      <a:pt x="0" y="124"/>
                      <a:pt x="4" y="116"/>
                    </a:cubicBezTo>
                    <a:cubicBezTo>
                      <a:pt x="6" y="111"/>
                      <a:pt x="11" y="108"/>
                      <a:pt x="17" y="108"/>
                    </a:cubicBezTo>
                    <a:cubicBezTo>
                      <a:pt x="30" y="108"/>
                      <a:pt x="42" y="113"/>
                      <a:pt x="59" y="137"/>
                    </a:cubicBezTo>
                    <a:cubicBezTo>
                      <a:pt x="59" y="24"/>
                      <a:pt x="59" y="24"/>
                      <a:pt x="59" y="24"/>
                    </a:cubicBezTo>
                    <a:cubicBezTo>
                      <a:pt x="59" y="11"/>
                      <a:pt x="70" y="0"/>
                      <a:pt x="83" y="0"/>
                    </a:cubicBezTo>
                    <a:cubicBezTo>
                      <a:pt x="96" y="0"/>
                      <a:pt x="107" y="11"/>
                      <a:pt x="107" y="24"/>
                    </a:cubicBezTo>
                    <a:cubicBezTo>
                      <a:pt x="107" y="92"/>
                      <a:pt x="107" y="92"/>
                      <a:pt x="107" y="92"/>
                    </a:cubicBezTo>
                    <a:cubicBezTo>
                      <a:pt x="156" y="108"/>
                      <a:pt x="156" y="108"/>
                      <a:pt x="156" y="108"/>
                    </a:cubicBezTo>
                    <a:cubicBezTo>
                      <a:pt x="172" y="113"/>
                      <a:pt x="176" y="131"/>
                      <a:pt x="173" y="145"/>
                    </a:cubicBezTo>
                    <a:cubicBezTo>
                      <a:pt x="161" y="211"/>
                      <a:pt x="161" y="211"/>
                      <a:pt x="161" y="211"/>
                    </a:cubicBezTo>
                    <a:cubicBezTo>
                      <a:pt x="161" y="214"/>
                      <a:pt x="158" y="216"/>
                      <a:pt x="155" y="216"/>
                    </a:cubicBezTo>
                    <a:close/>
                    <a:moveTo>
                      <a:pt x="62" y="204"/>
                    </a:moveTo>
                    <a:cubicBezTo>
                      <a:pt x="150" y="204"/>
                      <a:pt x="150" y="204"/>
                      <a:pt x="150" y="204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3" y="134"/>
                      <a:pt x="161" y="123"/>
                      <a:pt x="152" y="120"/>
                    </a:cubicBezTo>
                    <a:cubicBezTo>
                      <a:pt x="99" y="102"/>
                      <a:pt x="99" y="102"/>
                      <a:pt x="99" y="102"/>
                    </a:cubicBezTo>
                    <a:cubicBezTo>
                      <a:pt x="97" y="101"/>
                      <a:pt x="95" y="99"/>
                      <a:pt x="95" y="96"/>
                    </a:cubicBezTo>
                    <a:cubicBezTo>
                      <a:pt x="95" y="24"/>
                      <a:pt x="95" y="24"/>
                      <a:pt x="95" y="24"/>
                    </a:cubicBezTo>
                    <a:cubicBezTo>
                      <a:pt x="95" y="17"/>
                      <a:pt x="90" y="12"/>
                      <a:pt x="83" y="12"/>
                    </a:cubicBezTo>
                    <a:cubicBezTo>
                      <a:pt x="77" y="12"/>
                      <a:pt x="71" y="18"/>
                      <a:pt x="71" y="24"/>
                    </a:cubicBezTo>
                    <a:cubicBezTo>
                      <a:pt x="71" y="156"/>
                      <a:pt x="71" y="156"/>
                      <a:pt x="71" y="156"/>
                    </a:cubicBezTo>
                    <a:cubicBezTo>
                      <a:pt x="71" y="159"/>
                      <a:pt x="69" y="161"/>
                      <a:pt x="67" y="162"/>
                    </a:cubicBezTo>
                    <a:cubicBezTo>
                      <a:pt x="64" y="163"/>
                      <a:pt x="62" y="162"/>
                      <a:pt x="60" y="159"/>
                    </a:cubicBezTo>
                    <a:cubicBezTo>
                      <a:pt x="37" y="123"/>
                      <a:pt x="26" y="120"/>
                      <a:pt x="17" y="120"/>
                    </a:cubicBezTo>
                    <a:cubicBezTo>
                      <a:pt x="15" y="120"/>
                      <a:pt x="15" y="121"/>
                      <a:pt x="14" y="121"/>
                    </a:cubicBezTo>
                    <a:cubicBezTo>
                      <a:pt x="13" y="124"/>
                      <a:pt x="14" y="131"/>
                      <a:pt x="16" y="135"/>
                    </a:cubicBezTo>
                    <a:lnTo>
                      <a:pt x="62" y="20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7" name="Freeform 106">
                <a:extLst>
                  <a:ext uri="{FF2B5EF4-FFF2-40B4-BE49-F238E27FC236}">
                    <a16:creationId xmlns:a16="http://schemas.microsoft.com/office/drawing/2014/main" id="{B95CAA81-6053-4541-893F-1C37E2E6C1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6" y="3122"/>
                <a:ext cx="71" cy="17"/>
              </a:xfrm>
              <a:custGeom>
                <a:avLst/>
                <a:gdLst>
                  <a:gd name="T0" fmla="*/ 42 w 48"/>
                  <a:gd name="T1" fmla="*/ 12 h 12"/>
                  <a:gd name="T2" fmla="*/ 6 w 48"/>
                  <a:gd name="T3" fmla="*/ 12 h 12"/>
                  <a:gd name="T4" fmla="*/ 0 w 48"/>
                  <a:gd name="T5" fmla="*/ 6 h 12"/>
                  <a:gd name="T6" fmla="*/ 6 w 48"/>
                  <a:gd name="T7" fmla="*/ 0 h 12"/>
                  <a:gd name="T8" fmla="*/ 42 w 48"/>
                  <a:gd name="T9" fmla="*/ 0 h 12"/>
                  <a:gd name="T10" fmla="*/ 48 w 48"/>
                  <a:gd name="T11" fmla="*/ 6 h 12"/>
                  <a:gd name="T12" fmla="*/ 42 w 48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12">
                    <a:moveTo>
                      <a:pt x="42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6" y="0"/>
                      <a:pt x="48" y="3"/>
                      <a:pt x="48" y="6"/>
                    </a:cubicBezTo>
                    <a:cubicBezTo>
                      <a:pt x="48" y="9"/>
                      <a:pt x="46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8" name="Freeform 107">
                <a:extLst>
                  <a:ext uri="{FF2B5EF4-FFF2-40B4-BE49-F238E27FC236}">
                    <a16:creationId xmlns:a16="http://schemas.microsoft.com/office/drawing/2014/main" id="{794AE449-6AF6-3042-71BB-C6BCBADC9E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8" y="3031"/>
                <a:ext cx="55" cy="55"/>
              </a:xfrm>
              <a:custGeom>
                <a:avLst/>
                <a:gdLst>
                  <a:gd name="T0" fmla="*/ 6 w 37"/>
                  <a:gd name="T1" fmla="*/ 37 h 37"/>
                  <a:gd name="T2" fmla="*/ 2 w 37"/>
                  <a:gd name="T3" fmla="*/ 35 h 37"/>
                  <a:gd name="T4" fmla="*/ 2 w 37"/>
                  <a:gd name="T5" fmla="*/ 27 h 37"/>
                  <a:gd name="T6" fmla="*/ 26 w 37"/>
                  <a:gd name="T7" fmla="*/ 3 h 37"/>
                  <a:gd name="T8" fmla="*/ 34 w 37"/>
                  <a:gd name="T9" fmla="*/ 3 h 37"/>
                  <a:gd name="T10" fmla="*/ 34 w 37"/>
                  <a:gd name="T11" fmla="*/ 11 h 37"/>
                  <a:gd name="T12" fmla="*/ 10 w 37"/>
                  <a:gd name="T13" fmla="*/ 35 h 37"/>
                  <a:gd name="T14" fmla="*/ 6 w 37"/>
                  <a:gd name="T15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7" h="37">
                    <a:moveTo>
                      <a:pt x="6" y="37"/>
                    </a:moveTo>
                    <a:cubicBezTo>
                      <a:pt x="5" y="37"/>
                      <a:pt x="3" y="36"/>
                      <a:pt x="2" y="35"/>
                    </a:cubicBezTo>
                    <a:cubicBezTo>
                      <a:pt x="0" y="33"/>
                      <a:pt x="0" y="29"/>
                      <a:pt x="2" y="27"/>
                    </a:cubicBezTo>
                    <a:cubicBezTo>
                      <a:pt x="26" y="3"/>
                      <a:pt x="26" y="3"/>
                      <a:pt x="26" y="3"/>
                    </a:cubicBezTo>
                    <a:cubicBezTo>
                      <a:pt x="28" y="0"/>
                      <a:pt x="32" y="0"/>
                      <a:pt x="34" y="3"/>
                    </a:cubicBezTo>
                    <a:cubicBezTo>
                      <a:pt x="37" y="5"/>
                      <a:pt x="37" y="9"/>
                      <a:pt x="34" y="11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9" y="36"/>
                      <a:pt x="8" y="37"/>
                      <a:pt x="6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20" name="Freeform 108">
                <a:extLst>
                  <a:ext uri="{FF2B5EF4-FFF2-40B4-BE49-F238E27FC236}">
                    <a16:creationId xmlns:a16="http://schemas.microsoft.com/office/drawing/2014/main" id="{80895B75-A4DF-5497-742E-D4DCA7F49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5" y="2997"/>
                <a:ext cx="18" cy="71"/>
              </a:xfrm>
              <a:custGeom>
                <a:avLst/>
                <a:gdLst>
                  <a:gd name="T0" fmla="*/ 6 w 12"/>
                  <a:gd name="T1" fmla="*/ 48 h 48"/>
                  <a:gd name="T2" fmla="*/ 0 w 12"/>
                  <a:gd name="T3" fmla="*/ 42 h 48"/>
                  <a:gd name="T4" fmla="*/ 0 w 12"/>
                  <a:gd name="T5" fmla="*/ 6 h 48"/>
                  <a:gd name="T6" fmla="*/ 6 w 12"/>
                  <a:gd name="T7" fmla="*/ 0 h 48"/>
                  <a:gd name="T8" fmla="*/ 12 w 12"/>
                  <a:gd name="T9" fmla="*/ 6 h 48"/>
                  <a:gd name="T10" fmla="*/ 12 w 12"/>
                  <a:gd name="T11" fmla="*/ 42 h 48"/>
                  <a:gd name="T12" fmla="*/ 6 w 12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48">
                    <a:moveTo>
                      <a:pt x="6" y="48"/>
                    </a:moveTo>
                    <a:cubicBezTo>
                      <a:pt x="3" y="48"/>
                      <a:pt x="0" y="45"/>
                      <a:pt x="0" y="42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0" y="0"/>
                      <a:pt x="12" y="3"/>
                      <a:pt x="12" y="6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2" y="45"/>
                      <a:pt x="10" y="48"/>
                      <a:pt x="6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22" name="Freeform 109">
                <a:extLst>
                  <a:ext uri="{FF2B5EF4-FFF2-40B4-BE49-F238E27FC236}">
                    <a16:creationId xmlns:a16="http://schemas.microsoft.com/office/drawing/2014/main" id="{DB4EA06C-2CC8-CF31-0577-F7F348D5F5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8" y="3031"/>
                <a:ext cx="55" cy="55"/>
              </a:xfrm>
              <a:custGeom>
                <a:avLst/>
                <a:gdLst>
                  <a:gd name="T0" fmla="*/ 30 w 37"/>
                  <a:gd name="T1" fmla="*/ 37 h 37"/>
                  <a:gd name="T2" fmla="*/ 26 w 37"/>
                  <a:gd name="T3" fmla="*/ 35 h 37"/>
                  <a:gd name="T4" fmla="*/ 2 w 37"/>
                  <a:gd name="T5" fmla="*/ 11 h 37"/>
                  <a:gd name="T6" fmla="*/ 2 w 37"/>
                  <a:gd name="T7" fmla="*/ 3 h 37"/>
                  <a:gd name="T8" fmla="*/ 10 w 37"/>
                  <a:gd name="T9" fmla="*/ 3 h 37"/>
                  <a:gd name="T10" fmla="*/ 34 w 37"/>
                  <a:gd name="T11" fmla="*/ 27 h 37"/>
                  <a:gd name="T12" fmla="*/ 34 w 37"/>
                  <a:gd name="T13" fmla="*/ 35 h 37"/>
                  <a:gd name="T14" fmla="*/ 30 w 37"/>
                  <a:gd name="T15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7" h="37">
                    <a:moveTo>
                      <a:pt x="30" y="37"/>
                    </a:moveTo>
                    <a:cubicBezTo>
                      <a:pt x="29" y="37"/>
                      <a:pt x="27" y="36"/>
                      <a:pt x="26" y="35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0" y="9"/>
                      <a:pt x="0" y="5"/>
                      <a:pt x="2" y="3"/>
                    </a:cubicBezTo>
                    <a:cubicBezTo>
                      <a:pt x="4" y="0"/>
                      <a:pt x="8" y="0"/>
                      <a:pt x="10" y="3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7" y="29"/>
                      <a:pt x="37" y="33"/>
                      <a:pt x="34" y="35"/>
                    </a:cubicBezTo>
                    <a:cubicBezTo>
                      <a:pt x="33" y="36"/>
                      <a:pt x="32" y="37"/>
                      <a:pt x="30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23" name="Freeform 110">
                <a:extLst>
                  <a:ext uri="{FF2B5EF4-FFF2-40B4-BE49-F238E27FC236}">
                    <a16:creationId xmlns:a16="http://schemas.microsoft.com/office/drawing/2014/main" id="{1DC0CD21-04E3-A5E2-51BB-C40CDE60FE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3" y="3122"/>
                <a:ext cx="71" cy="17"/>
              </a:xfrm>
              <a:custGeom>
                <a:avLst/>
                <a:gdLst>
                  <a:gd name="T0" fmla="*/ 42 w 48"/>
                  <a:gd name="T1" fmla="*/ 12 h 12"/>
                  <a:gd name="T2" fmla="*/ 6 w 48"/>
                  <a:gd name="T3" fmla="*/ 12 h 12"/>
                  <a:gd name="T4" fmla="*/ 0 w 48"/>
                  <a:gd name="T5" fmla="*/ 6 h 12"/>
                  <a:gd name="T6" fmla="*/ 6 w 48"/>
                  <a:gd name="T7" fmla="*/ 0 h 12"/>
                  <a:gd name="T8" fmla="*/ 42 w 48"/>
                  <a:gd name="T9" fmla="*/ 0 h 12"/>
                  <a:gd name="T10" fmla="*/ 48 w 48"/>
                  <a:gd name="T11" fmla="*/ 6 h 12"/>
                  <a:gd name="T12" fmla="*/ 42 w 48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12">
                    <a:moveTo>
                      <a:pt x="42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6" y="0"/>
                      <a:pt x="48" y="3"/>
                      <a:pt x="48" y="6"/>
                    </a:cubicBezTo>
                    <a:cubicBezTo>
                      <a:pt x="48" y="9"/>
                      <a:pt x="46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84814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5E0DF-BFB2-DC5A-0CA3-8D3901CB1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30B9EE-1EA0-4827-293E-E3803179E6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"/>
            <a:ext cx="12191996" cy="6858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2F28A8-A9E4-D6B4-CDF5-3DECA2BDB5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57" y="75761"/>
            <a:ext cx="11995686" cy="4635517"/>
          </a:xfrm>
          <a:prstGeom prst="rect">
            <a:avLst/>
          </a:prstGeom>
        </p:spPr>
      </p:pic>
      <p:sp>
        <p:nvSpPr>
          <p:cNvPr id="33" name="Arrow: Left 32">
            <a:hlinkClick r:id="rId5" action="ppaction://hlinksldjump"/>
            <a:extLst>
              <a:ext uri="{FF2B5EF4-FFF2-40B4-BE49-F238E27FC236}">
                <a16:creationId xmlns:a16="http://schemas.microsoft.com/office/drawing/2014/main" id="{36872D91-3892-5D9A-62D5-B2CF546B1AB3}"/>
              </a:ext>
            </a:extLst>
          </p:cNvPr>
          <p:cNvSpPr/>
          <p:nvPr/>
        </p:nvSpPr>
        <p:spPr>
          <a:xfrm>
            <a:off x="11506534" y="193325"/>
            <a:ext cx="475048" cy="319931"/>
          </a:xfrm>
          <a:prstGeom prst="lef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5" name="Picture 24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B93F1B0F-E2C6-3247-A635-F75C86D46DA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482516"/>
            <a:ext cx="192024" cy="20232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93F01CF-7D93-89C2-B0C6-FDFFD4DBFCBC}"/>
              </a:ext>
            </a:extLst>
          </p:cNvPr>
          <p:cNvSpPr txBox="1"/>
          <p:nvPr/>
        </p:nvSpPr>
        <p:spPr>
          <a:xfrm>
            <a:off x="622889" y="4633259"/>
            <a:ext cx="7226949" cy="2181099"/>
          </a:xfrm>
          <a:prstGeom prst="rect">
            <a:avLst/>
          </a:prstGeom>
          <a:noFill/>
        </p:spPr>
        <p:txBody>
          <a:bodyPr wrap="square" lIns="0" tIns="0" rIns="0" bIns="0" numCol="1" rtlCol="0" anchor="ctr">
            <a:noAutofit/>
          </a:bodyPr>
          <a:lstStyle/>
          <a:p>
            <a:pPr defTabSz="228600">
              <a:spcAft>
                <a:spcPts val="1200"/>
              </a:spcAft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What you need to do</a:t>
            </a:r>
          </a:p>
          <a:p>
            <a:pPr defTabSz="228600">
              <a:spcAft>
                <a:spcPts val="1200"/>
              </a:spcAft>
              <a:defRPr/>
            </a:pPr>
            <a:r>
              <a:rPr lang="en-US" sz="1200" b="1" dirty="0">
                <a:solidFill>
                  <a:srgbClr val="FFFFFF"/>
                </a:solidFill>
                <a:latin typeface="Graphik"/>
              </a:rPr>
              <a:t>Review the Claim Result: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FFFFFF"/>
                </a:solidFill>
                <a:latin typeface="Graphik"/>
              </a:rPr>
              <a:t>In the ‘Benefit Assessment Details’ tab, you will be able to: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FFFFFF"/>
                </a:solidFill>
                <a:latin typeface="Graphik"/>
              </a:rPr>
              <a:t>Review the complete triage outcome across benefits &amp; coverages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FFFFFF"/>
                </a:solidFill>
                <a:latin typeface="Graphik"/>
              </a:rPr>
              <a:t>Review the key information extracted from the medical records, including hospitalization dates, discharge dates, diagnosis details, reason for visit, and any policy exclusions identified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FFFFFF"/>
                </a:solidFill>
                <a:latin typeface="Graphik"/>
              </a:rPr>
              <a:t>Refer the medical records &amp; policy certificate used for assessment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FFFFFF"/>
                </a:solidFill>
                <a:latin typeface="Graphik"/>
              </a:rPr>
              <a:t>Update any missing medical-record details and regenerate the benefit assessment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FFFFFF"/>
                </a:solidFill>
                <a:latin typeface="Graphik"/>
              </a:rPr>
              <a:t>Click ‘Scroll’ to browse through ‘Coverage Outcome’ </a:t>
            </a:r>
          </a:p>
        </p:txBody>
      </p:sp>
      <p:pic>
        <p:nvPicPr>
          <p:cNvPr id="28" name="Graphic 27" descr="User with solid fill">
            <a:extLst>
              <a:ext uri="{FF2B5EF4-FFF2-40B4-BE49-F238E27FC236}">
                <a16:creationId xmlns:a16="http://schemas.microsoft.com/office/drawing/2014/main" id="{80B60E44-132C-1BEB-2AB3-6352C29F7A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157" y="4711385"/>
            <a:ext cx="426575" cy="426575"/>
          </a:xfrm>
          <a:prstGeom prst="rect">
            <a:avLst/>
          </a:prstGeom>
        </p:spPr>
      </p:pic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8126DD6-9F99-2324-33DD-42AA34026423}"/>
              </a:ext>
            </a:extLst>
          </p:cNvPr>
          <p:cNvSpPr/>
          <p:nvPr/>
        </p:nvSpPr>
        <p:spPr>
          <a:xfrm>
            <a:off x="7898130" y="4934341"/>
            <a:ext cx="4124155" cy="172813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tIns="45720" rIns="45720" bIns="45720" rtlCol="0" anchor="ctr">
            <a:spAutoFit/>
          </a:bodyPr>
          <a:lstStyle/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500C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What the system handles in the background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50" dirty="0">
                <a:solidFill>
                  <a:prstClr val="black"/>
                </a:solidFill>
                <a:latin typeface="Graphik" panose="020B0503030202060203" pitchFamily="34" charset="0"/>
              </a:rPr>
              <a:t>The system reads the submitted medical records, identifies key clinical and policy-relevant information, compares it with the applicable certificate, and presents a clear benefit-level assessment for your review.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50" dirty="0">
                <a:solidFill>
                  <a:prstClr val="black"/>
                </a:solidFill>
                <a:latin typeface="Graphik" panose="020B0503030202060203" pitchFamily="34" charset="0"/>
              </a:rPr>
              <a:t>If you make any edits to the extracted information or explanation, the system instantly regenerates the assessment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37A2058-9ED0-7043-C3C7-6A810080F77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971169" y="4996791"/>
            <a:ext cx="300413" cy="300410"/>
            <a:chOff x="3438" y="437"/>
            <a:chExt cx="428" cy="428"/>
          </a:xfrm>
          <a:solidFill>
            <a:srgbClr val="7500C0"/>
          </a:solidFill>
        </p:grpSpPr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09ABBF80-E2E9-F0AC-C166-C197D65CBD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8" y="439"/>
              <a:ext cx="427" cy="426"/>
            </a:xfrm>
            <a:custGeom>
              <a:avLst/>
              <a:gdLst>
                <a:gd name="T0" fmla="*/ 126 w 288"/>
                <a:gd name="T1" fmla="*/ 288 h 288"/>
                <a:gd name="T2" fmla="*/ 120 w 288"/>
                <a:gd name="T3" fmla="*/ 247 h 288"/>
                <a:gd name="T4" fmla="*/ 67 w 288"/>
                <a:gd name="T5" fmla="*/ 262 h 288"/>
                <a:gd name="T6" fmla="*/ 25 w 288"/>
                <a:gd name="T7" fmla="*/ 229 h 288"/>
                <a:gd name="T8" fmla="*/ 25 w 288"/>
                <a:gd name="T9" fmla="*/ 220 h 288"/>
                <a:gd name="T10" fmla="*/ 40 w 288"/>
                <a:gd name="T11" fmla="*/ 168 h 288"/>
                <a:gd name="T12" fmla="*/ 0 w 288"/>
                <a:gd name="T13" fmla="*/ 162 h 288"/>
                <a:gd name="T14" fmla="*/ 6 w 288"/>
                <a:gd name="T15" fmla="*/ 120 h 288"/>
                <a:gd name="T16" fmla="*/ 49 w 288"/>
                <a:gd name="T17" fmla="*/ 92 h 288"/>
                <a:gd name="T18" fmla="*/ 23 w 288"/>
                <a:gd name="T19" fmla="*/ 63 h 288"/>
                <a:gd name="T20" fmla="*/ 59 w 288"/>
                <a:gd name="T21" fmla="*/ 25 h 288"/>
                <a:gd name="T22" fmla="*/ 92 w 288"/>
                <a:gd name="T23" fmla="*/ 49 h 288"/>
                <a:gd name="T24" fmla="*/ 120 w 288"/>
                <a:gd name="T25" fmla="*/ 6 h 288"/>
                <a:gd name="T26" fmla="*/ 162 w 288"/>
                <a:gd name="T27" fmla="*/ 0 h 288"/>
                <a:gd name="T28" fmla="*/ 168 w 288"/>
                <a:gd name="T29" fmla="*/ 40 h 288"/>
                <a:gd name="T30" fmla="*/ 202 w 288"/>
                <a:gd name="T31" fmla="*/ 60 h 288"/>
                <a:gd name="T32" fmla="*/ 160 w 288"/>
                <a:gd name="T33" fmla="*/ 50 h 288"/>
                <a:gd name="T34" fmla="*/ 156 w 288"/>
                <a:gd name="T35" fmla="*/ 12 h 288"/>
                <a:gd name="T36" fmla="*/ 132 w 288"/>
                <a:gd name="T37" fmla="*/ 45 h 288"/>
                <a:gd name="T38" fmla="*/ 94 w 288"/>
                <a:gd name="T39" fmla="*/ 62 h 288"/>
                <a:gd name="T40" fmla="*/ 63 w 288"/>
                <a:gd name="T41" fmla="*/ 38 h 288"/>
                <a:gd name="T42" fmla="*/ 61 w 288"/>
                <a:gd name="T43" fmla="*/ 86 h 288"/>
                <a:gd name="T44" fmla="*/ 51 w 288"/>
                <a:gd name="T45" fmla="*/ 127 h 288"/>
                <a:gd name="T46" fmla="*/ 12 w 288"/>
                <a:gd name="T47" fmla="*/ 132 h 288"/>
                <a:gd name="T48" fmla="*/ 45 w 288"/>
                <a:gd name="T49" fmla="*/ 156 h 288"/>
                <a:gd name="T50" fmla="*/ 62 w 288"/>
                <a:gd name="T51" fmla="*/ 194 h 288"/>
                <a:gd name="T52" fmla="*/ 38 w 288"/>
                <a:gd name="T53" fmla="*/ 224 h 288"/>
                <a:gd name="T54" fmla="*/ 87 w 288"/>
                <a:gd name="T55" fmla="*/ 226 h 288"/>
                <a:gd name="T56" fmla="*/ 127 w 288"/>
                <a:gd name="T57" fmla="*/ 237 h 288"/>
                <a:gd name="T58" fmla="*/ 132 w 288"/>
                <a:gd name="T59" fmla="*/ 276 h 288"/>
                <a:gd name="T60" fmla="*/ 156 w 288"/>
                <a:gd name="T61" fmla="*/ 243 h 288"/>
                <a:gd name="T62" fmla="*/ 194 w 288"/>
                <a:gd name="T63" fmla="*/ 226 h 288"/>
                <a:gd name="T64" fmla="*/ 224 w 288"/>
                <a:gd name="T65" fmla="*/ 250 h 288"/>
                <a:gd name="T66" fmla="*/ 227 w 288"/>
                <a:gd name="T67" fmla="*/ 201 h 288"/>
                <a:gd name="T68" fmla="*/ 237 w 288"/>
                <a:gd name="T69" fmla="*/ 160 h 288"/>
                <a:gd name="T70" fmla="*/ 276 w 288"/>
                <a:gd name="T71" fmla="*/ 156 h 288"/>
                <a:gd name="T72" fmla="*/ 243 w 288"/>
                <a:gd name="T73" fmla="*/ 132 h 288"/>
                <a:gd name="T74" fmla="*/ 231 w 288"/>
                <a:gd name="T75" fmla="*/ 107 h 288"/>
                <a:gd name="T76" fmla="*/ 243 w 288"/>
                <a:gd name="T77" fmla="*/ 103 h 288"/>
                <a:gd name="T78" fmla="*/ 282 w 288"/>
                <a:gd name="T79" fmla="*/ 120 h 288"/>
                <a:gd name="T80" fmla="*/ 288 w 288"/>
                <a:gd name="T81" fmla="*/ 162 h 288"/>
                <a:gd name="T82" fmla="*/ 248 w 288"/>
                <a:gd name="T83" fmla="*/ 168 h 288"/>
                <a:gd name="T84" fmla="*/ 263 w 288"/>
                <a:gd name="T85" fmla="*/ 220 h 288"/>
                <a:gd name="T86" fmla="*/ 229 w 288"/>
                <a:gd name="T87" fmla="*/ 262 h 288"/>
                <a:gd name="T88" fmla="*/ 196 w 288"/>
                <a:gd name="T89" fmla="*/ 238 h 288"/>
                <a:gd name="T90" fmla="*/ 168 w 288"/>
                <a:gd name="T91" fmla="*/ 282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88" h="288">
                  <a:moveTo>
                    <a:pt x="162" y="288"/>
                  </a:moveTo>
                  <a:cubicBezTo>
                    <a:pt x="126" y="288"/>
                    <a:pt x="126" y="288"/>
                    <a:pt x="126" y="288"/>
                  </a:cubicBezTo>
                  <a:cubicBezTo>
                    <a:pt x="123" y="288"/>
                    <a:pt x="120" y="285"/>
                    <a:pt x="120" y="282"/>
                  </a:cubicBezTo>
                  <a:cubicBezTo>
                    <a:pt x="120" y="247"/>
                    <a:pt x="120" y="247"/>
                    <a:pt x="120" y="247"/>
                  </a:cubicBezTo>
                  <a:cubicBezTo>
                    <a:pt x="110" y="245"/>
                    <a:pt x="100" y="242"/>
                    <a:pt x="92" y="238"/>
                  </a:cubicBezTo>
                  <a:cubicBezTo>
                    <a:pt x="67" y="262"/>
                    <a:pt x="67" y="262"/>
                    <a:pt x="67" y="262"/>
                  </a:cubicBezTo>
                  <a:cubicBezTo>
                    <a:pt x="65" y="265"/>
                    <a:pt x="61" y="265"/>
                    <a:pt x="59" y="262"/>
                  </a:cubicBezTo>
                  <a:cubicBezTo>
                    <a:pt x="25" y="229"/>
                    <a:pt x="25" y="229"/>
                    <a:pt x="25" y="229"/>
                  </a:cubicBezTo>
                  <a:cubicBezTo>
                    <a:pt x="24" y="227"/>
                    <a:pt x="23" y="226"/>
                    <a:pt x="23" y="224"/>
                  </a:cubicBezTo>
                  <a:cubicBezTo>
                    <a:pt x="23" y="223"/>
                    <a:pt x="24" y="221"/>
                    <a:pt x="25" y="220"/>
                  </a:cubicBezTo>
                  <a:cubicBezTo>
                    <a:pt x="49" y="196"/>
                    <a:pt x="49" y="196"/>
                    <a:pt x="49" y="196"/>
                  </a:cubicBezTo>
                  <a:cubicBezTo>
                    <a:pt x="46" y="188"/>
                    <a:pt x="43" y="177"/>
                    <a:pt x="40" y="168"/>
                  </a:cubicBezTo>
                  <a:cubicBezTo>
                    <a:pt x="6" y="168"/>
                    <a:pt x="6" y="168"/>
                    <a:pt x="6" y="168"/>
                  </a:cubicBezTo>
                  <a:cubicBezTo>
                    <a:pt x="3" y="168"/>
                    <a:pt x="0" y="165"/>
                    <a:pt x="0" y="162"/>
                  </a:cubicBezTo>
                  <a:cubicBezTo>
                    <a:pt x="0" y="126"/>
                    <a:pt x="0" y="126"/>
                    <a:pt x="0" y="126"/>
                  </a:cubicBezTo>
                  <a:cubicBezTo>
                    <a:pt x="0" y="122"/>
                    <a:pt x="3" y="120"/>
                    <a:pt x="6" y="120"/>
                  </a:cubicBezTo>
                  <a:cubicBezTo>
                    <a:pt x="40" y="120"/>
                    <a:pt x="40" y="120"/>
                    <a:pt x="40" y="120"/>
                  </a:cubicBezTo>
                  <a:cubicBezTo>
                    <a:pt x="43" y="110"/>
                    <a:pt x="46" y="100"/>
                    <a:pt x="49" y="92"/>
                  </a:cubicBezTo>
                  <a:cubicBezTo>
                    <a:pt x="25" y="67"/>
                    <a:pt x="25" y="67"/>
                    <a:pt x="25" y="67"/>
                  </a:cubicBezTo>
                  <a:cubicBezTo>
                    <a:pt x="24" y="66"/>
                    <a:pt x="23" y="65"/>
                    <a:pt x="23" y="63"/>
                  </a:cubicBezTo>
                  <a:cubicBezTo>
                    <a:pt x="23" y="61"/>
                    <a:pt x="24" y="60"/>
                    <a:pt x="25" y="59"/>
                  </a:cubicBezTo>
                  <a:cubicBezTo>
                    <a:pt x="59" y="25"/>
                    <a:pt x="59" y="25"/>
                    <a:pt x="59" y="25"/>
                  </a:cubicBezTo>
                  <a:cubicBezTo>
                    <a:pt x="61" y="23"/>
                    <a:pt x="65" y="23"/>
                    <a:pt x="67" y="25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100" y="45"/>
                    <a:pt x="110" y="42"/>
                    <a:pt x="120" y="40"/>
                  </a:cubicBezTo>
                  <a:cubicBezTo>
                    <a:pt x="120" y="6"/>
                    <a:pt x="120" y="6"/>
                    <a:pt x="120" y="6"/>
                  </a:cubicBezTo>
                  <a:cubicBezTo>
                    <a:pt x="120" y="2"/>
                    <a:pt x="123" y="0"/>
                    <a:pt x="126" y="0"/>
                  </a:cubicBezTo>
                  <a:cubicBezTo>
                    <a:pt x="162" y="0"/>
                    <a:pt x="162" y="0"/>
                    <a:pt x="162" y="0"/>
                  </a:cubicBezTo>
                  <a:cubicBezTo>
                    <a:pt x="165" y="0"/>
                    <a:pt x="168" y="2"/>
                    <a:pt x="168" y="6"/>
                  </a:cubicBezTo>
                  <a:cubicBezTo>
                    <a:pt x="168" y="40"/>
                    <a:pt x="168" y="40"/>
                    <a:pt x="168" y="40"/>
                  </a:cubicBezTo>
                  <a:cubicBezTo>
                    <a:pt x="179" y="43"/>
                    <a:pt x="192" y="47"/>
                    <a:pt x="200" y="52"/>
                  </a:cubicBezTo>
                  <a:cubicBezTo>
                    <a:pt x="203" y="53"/>
                    <a:pt x="204" y="57"/>
                    <a:pt x="202" y="60"/>
                  </a:cubicBezTo>
                  <a:cubicBezTo>
                    <a:pt x="200" y="63"/>
                    <a:pt x="197" y="63"/>
                    <a:pt x="194" y="62"/>
                  </a:cubicBezTo>
                  <a:cubicBezTo>
                    <a:pt x="186" y="57"/>
                    <a:pt x="171" y="53"/>
                    <a:pt x="160" y="50"/>
                  </a:cubicBezTo>
                  <a:cubicBezTo>
                    <a:pt x="158" y="50"/>
                    <a:pt x="156" y="47"/>
                    <a:pt x="156" y="45"/>
                  </a:cubicBezTo>
                  <a:cubicBezTo>
                    <a:pt x="156" y="12"/>
                    <a:pt x="156" y="12"/>
                    <a:pt x="156" y="12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7"/>
                    <a:pt x="130" y="50"/>
                    <a:pt x="127" y="50"/>
                  </a:cubicBezTo>
                  <a:cubicBezTo>
                    <a:pt x="117" y="53"/>
                    <a:pt x="102" y="57"/>
                    <a:pt x="94" y="62"/>
                  </a:cubicBezTo>
                  <a:cubicBezTo>
                    <a:pt x="92" y="63"/>
                    <a:pt x="89" y="63"/>
                    <a:pt x="87" y="61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61" y="86"/>
                    <a:pt x="61" y="86"/>
                    <a:pt x="61" y="86"/>
                  </a:cubicBezTo>
                  <a:cubicBezTo>
                    <a:pt x="63" y="88"/>
                    <a:pt x="63" y="91"/>
                    <a:pt x="62" y="94"/>
                  </a:cubicBezTo>
                  <a:cubicBezTo>
                    <a:pt x="57" y="103"/>
                    <a:pt x="52" y="120"/>
                    <a:pt x="51" y="127"/>
                  </a:cubicBezTo>
                  <a:cubicBezTo>
                    <a:pt x="50" y="130"/>
                    <a:pt x="48" y="132"/>
                    <a:pt x="45" y="132"/>
                  </a:cubicBezTo>
                  <a:cubicBezTo>
                    <a:pt x="12" y="132"/>
                    <a:pt x="12" y="132"/>
                    <a:pt x="12" y="132"/>
                  </a:cubicBezTo>
                  <a:cubicBezTo>
                    <a:pt x="12" y="156"/>
                    <a:pt x="12" y="156"/>
                    <a:pt x="12" y="156"/>
                  </a:cubicBezTo>
                  <a:cubicBezTo>
                    <a:pt x="45" y="156"/>
                    <a:pt x="45" y="156"/>
                    <a:pt x="45" y="156"/>
                  </a:cubicBezTo>
                  <a:cubicBezTo>
                    <a:pt x="48" y="156"/>
                    <a:pt x="50" y="158"/>
                    <a:pt x="51" y="160"/>
                  </a:cubicBezTo>
                  <a:cubicBezTo>
                    <a:pt x="52" y="167"/>
                    <a:pt x="57" y="185"/>
                    <a:pt x="62" y="194"/>
                  </a:cubicBezTo>
                  <a:cubicBezTo>
                    <a:pt x="63" y="196"/>
                    <a:pt x="63" y="199"/>
                    <a:pt x="61" y="201"/>
                  </a:cubicBezTo>
                  <a:cubicBezTo>
                    <a:pt x="38" y="224"/>
                    <a:pt x="38" y="224"/>
                    <a:pt x="38" y="224"/>
                  </a:cubicBezTo>
                  <a:cubicBezTo>
                    <a:pt x="63" y="250"/>
                    <a:pt x="63" y="250"/>
                    <a:pt x="63" y="250"/>
                  </a:cubicBezTo>
                  <a:cubicBezTo>
                    <a:pt x="87" y="226"/>
                    <a:pt x="87" y="226"/>
                    <a:pt x="87" y="226"/>
                  </a:cubicBezTo>
                  <a:cubicBezTo>
                    <a:pt x="88" y="224"/>
                    <a:pt x="92" y="224"/>
                    <a:pt x="94" y="226"/>
                  </a:cubicBezTo>
                  <a:cubicBezTo>
                    <a:pt x="103" y="231"/>
                    <a:pt x="121" y="235"/>
                    <a:pt x="127" y="237"/>
                  </a:cubicBezTo>
                  <a:cubicBezTo>
                    <a:pt x="130" y="238"/>
                    <a:pt x="132" y="240"/>
                    <a:pt x="132" y="243"/>
                  </a:cubicBezTo>
                  <a:cubicBezTo>
                    <a:pt x="132" y="276"/>
                    <a:pt x="132" y="276"/>
                    <a:pt x="132" y="276"/>
                  </a:cubicBezTo>
                  <a:cubicBezTo>
                    <a:pt x="156" y="276"/>
                    <a:pt x="156" y="276"/>
                    <a:pt x="156" y="276"/>
                  </a:cubicBezTo>
                  <a:cubicBezTo>
                    <a:pt x="156" y="243"/>
                    <a:pt x="156" y="243"/>
                    <a:pt x="156" y="243"/>
                  </a:cubicBezTo>
                  <a:cubicBezTo>
                    <a:pt x="156" y="240"/>
                    <a:pt x="158" y="238"/>
                    <a:pt x="160" y="237"/>
                  </a:cubicBezTo>
                  <a:cubicBezTo>
                    <a:pt x="167" y="235"/>
                    <a:pt x="185" y="231"/>
                    <a:pt x="194" y="226"/>
                  </a:cubicBezTo>
                  <a:cubicBezTo>
                    <a:pt x="196" y="224"/>
                    <a:pt x="199" y="224"/>
                    <a:pt x="201" y="226"/>
                  </a:cubicBezTo>
                  <a:cubicBezTo>
                    <a:pt x="224" y="250"/>
                    <a:pt x="224" y="250"/>
                    <a:pt x="224" y="250"/>
                  </a:cubicBezTo>
                  <a:cubicBezTo>
                    <a:pt x="250" y="224"/>
                    <a:pt x="250" y="224"/>
                    <a:pt x="250" y="224"/>
                  </a:cubicBezTo>
                  <a:cubicBezTo>
                    <a:pt x="227" y="201"/>
                    <a:pt x="227" y="201"/>
                    <a:pt x="227" y="201"/>
                  </a:cubicBezTo>
                  <a:cubicBezTo>
                    <a:pt x="225" y="199"/>
                    <a:pt x="224" y="196"/>
                    <a:pt x="226" y="194"/>
                  </a:cubicBezTo>
                  <a:cubicBezTo>
                    <a:pt x="231" y="185"/>
                    <a:pt x="235" y="167"/>
                    <a:pt x="237" y="160"/>
                  </a:cubicBezTo>
                  <a:cubicBezTo>
                    <a:pt x="238" y="158"/>
                    <a:pt x="240" y="156"/>
                    <a:pt x="243" y="156"/>
                  </a:cubicBezTo>
                  <a:cubicBezTo>
                    <a:pt x="276" y="156"/>
                    <a:pt x="276" y="156"/>
                    <a:pt x="276" y="156"/>
                  </a:cubicBezTo>
                  <a:cubicBezTo>
                    <a:pt x="276" y="132"/>
                    <a:pt x="276" y="132"/>
                    <a:pt x="276" y="132"/>
                  </a:cubicBezTo>
                  <a:cubicBezTo>
                    <a:pt x="243" y="132"/>
                    <a:pt x="243" y="132"/>
                    <a:pt x="243" y="132"/>
                  </a:cubicBezTo>
                  <a:cubicBezTo>
                    <a:pt x="240" y="132"/>
                    <a:pt x="238" y="130"/>
                    <a:pt x="237" y="127"/>
                  </a:cubicBezTo>
                  <a:cubicBezTo>
                    <a:pt x="236" y="121"/>
                    <a:pt x="234" y="114"/>
                    <a:pt x="231" y="107"/>
                  </a:cubicBezTo>
                  <a:cubicBezTo>
                    <a:pt x="230" y="103"/>
                    <a:pt x="232" y="100"/>
                    <a:pt x="235" y="99"/>
                  </a:cubicBezTo>
                  <a:cubicBezTo>
                    <a:pt x="238" y="98"/>
                    <a:pt x="242" y="100"/>
                    <a:pt x="243" y="103"/>
                  </a:cubicBezTo>
                  <a:cubicBezTo>
                    <a:pt x="245" y="108"/>
                    <a:pt x="246" y="114"/>
                    <a:pt x="248" y="120"/>
                  </a:cubicBezTo>
                  <a:cubicBezTo>
                    <a:pt x="282" y="120"/>
                    <a:pt x="282" y="120"/>
                    <a:pt x="282" y="120"/>
                  </a:cubicBezTo>
                  <a:cubicBezTo>
                    <a:pt x="285" y="120"/>
                    <a:pt x="288" y="122"/>
                    <a:pt x="288" y="126"/>
                  </a:cubicBezTo>
                  <a:cubicBezTo>
                    <a:pt x="288" y="162"/>
                    <a:pt x="288" y="162"/>
                    <a:pt x="288" y="162"/>
                  </a:cubicBezTo>
                  <a:cubicBezTo>
                    <a:pt x="288" y="165"/>
                    <a:pt x="285" y="168"/>
                    <a:pt x="282" y="168"/>
                  </a:cubicBezTo>
                  <a:cubicBezTo>
                    <a:pt x="248" y="168"/>
                    <a:pt x="248" y="168"/>
                    <a:pt x="248" y="168"/>
                  </a:cubicBezTo>
                  <a:cubicBezTo>
                    <a:pt x="245" y="177"/>
                    <a:pt x="242" y="188"/>
                    <a:pt x="238" y="196"/>
                  </a:cubicBezTo>
                  <a:cubicBezTo>
                    <a:pt x="263" y="220"/>
                    <a:pt x="263" y="220"/>
                    <a:pt x="263" y="220"/>
                  </a:cubicBezTo>
                  <a:cubicBezTo>
                    <a:pt x="265" y="222"/>
                    <a:pt x="265" y="226"/>
                    <a:pt x="263" y="229"/>
                  </a:cubicBezTo>
                  <a:cubicBezTo>
                    <a:pt x="229" y="262"/>
                    <a:pt x="229" y="262"/>
                    <a:pt x="229" y="262"/>
                  </a:cubicBezTo>
                  <a:cubicBezTo>
                    <a:pt x="226" y="265"/>
                    <a:pt x="223" y="265"/>
                    <a:pt x="220" y="262"/>
                  </a:cubicBezTo>
                  <a:cubicBezTo>
                    <a:pt x="196" y="238"/>
                    <a:pt x="196" y="238"/>
                    <a:pt x="196" y="238"/>
                  </a:cubicBezTo>
                  <a:cubicBezTo>
                    <a:pt x="188" y="242"/>
                    <a:pt x="177" y="245"/>
                    <a:pt x="168" y="247"/>
                  </a:cubicBezTo>
                  <a:cubicBezTo>
                    <a:pt x="168" y="282"/>
                    <a:pt x="168" y="282"/>
                    <a:pt x="168" y="282"/>
                  </a:cubicBezTo>
                  <a:cubicBezTo>
                    <a:pt x="168" y="285"/>
                    <a:pt x="165" y="288"/>
                    <a:pt x="162" y="2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6789BBA2-2CE3-2ECF-0979-6876020413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7" y="437"/>
              <a:ext cx="299" cy="265"/>
            </a:xfrm>
            <a:custGeom>
              <a:avLst/>
              <a:gdLst>
                <a:gd name="T0" fmla="*/ 61 w 202"/>
                <a:gd name="T1" fmla="*/ 179 h 179"/>
                <a:gd name="T2" fmla="*/ 56 w 202"/>
                <a:gd name="T3" fmla="*/ 177 h 179"/>
                <a:gd name="T4" fmla="*/ 3 w 202"/>
                <a:gd name="T5" fmla="*/ 124 h 179"/>
                <a:gd name="T6" fmla="*/ 3 w 202"/>
                <a:gd name="T7" fmla="*/ 115 h 179"/>
                <a:gd name="T8" fmla="*/ 11 w 202"/>
                <a:gd name="T9" fmla="*/ 115 h 179"/>
                <a:gd name="T10" fmla="*/ 60 w 202"/>
                <a:gd name="T11" fmla="*/ 164 h 179"/>
                <a:gd name="T12" fmla="*/ 190 w 202"/>
                <a:gd name="T13" fmla="*/ 3 h 179"/>
                <a:gd name="T14" fmla="*/ 199 w 202"/>
                <a:gd name="T15" fmla="*/ 2 h 179"/>
                <a:gd name="T16" fmla="*/ 200 w 202"/>
                <a:gd name="T17" fmla="*/ 10 h 179"/>
                <a:gd name="T18" fmla="*/ 65 w 202"/>
                <a:gd name="T19" fmla="*/ 177 h 179"/>
                <a:gd name="T20" fmla="*/ 61 w 202"/>
                <a:gd name="T21" fmla="*/ 179 h 179"/>
                <a:gd name="T22" fmla="*/ 61 w 202"/>
                <a:gd name="T23" fmla="*/ 179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2" h="179">
                  <a:moveTo>
                    <a:pt x="61" y="179"/>
                  </a:moveTo>
                  <a:cubicBezTo>
                    <a:pt x="59" y="179"/>
                    <a:pt x="57" y="179"/>
                    <a:pt x="56" y="177"/>
                  </a:cubicBezTo>
                  <a:cubicBezTo>
                    <a:pt x="3" y="124"/>
                    <a:pt x="3" y="124"/>
                    <a:pt x="3" y="124"/>
                  </a:cubicBezTo>
                  <a:cubicBezTo>
                    <a:pt x="0" y="121"/>
                    <a:pt x="0" y="118"/>
                    <a:pt x="3" y="115"/>
                  </a:cubicBezTo>
                  <a:cubicBezTo>
                    <a:pt x="5" y="113"/>
                    <a:pt x="9" y="113"/>
                    <a:pt x="11" y="115"/>
                  </a:cubicBezTo>
                  <a:cubicBezTo>
                    <a:pt x="60" y="164"/>
                    <a:pt x="60" y="164"/>
                    <a:pt x="60" y="164"/>
                  </a:cubicBezTo>
                  <a:cubicBezTo>
                    <a:pt x="190" y="3"/>
                    <a:pt x="190" y="3"/>
                    <a:pt x="190" y="3"/>
                  </a:cubicBezTo>
                  <a:cubicBezTo>
                    <a:pt x="192" y="0"/>
                    <a:pt x="196" y="0"/>
                    <a:pt x="199" y="2"/>
                  </a:cubicBezTo>
                  <a:cubicBezTo>
                    <a:pt x="201" y="4"/>
                    <a:pt x="202" y="8"/>
                    <a:pt x="200" y="10"/>
                  </a:cubicBezTo>
                  <a:cubicBezTo>
                    <a:pt x="65" y="177"/>
                    <a:pt x="65" y="177"/>
                    <a:pt x="65" y="177"/>
                  </a:cubicBezTo>
                  <a:cubicBezTo>
                    <a:pt x="64" y="178"/>
                    <a:pt x="63" y="179"/>
                    <a:pt x="61" y="179"/>
                  </a:cubicBezTo>
                  <a:cubicBezTo>
                    <a:pt x="61" y="179"/>
                    <a:pt x="61" y="179"/>
                    <a:pt x="61" y="17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C28B9BC-D638-A35E-6C99-B0DEDF384CD7}"/>
              </a:ext>
            </a:extLst>
          </p:cNvPr>
          <p:cNvGrpSpPr/>
          <p:nvPr/>
        </p:nvGrpSpPr>
        <p:grpSpPr>
          <a:xfrm rot="5400000">
            <a:off x="11261582" y="1218952"/>
            <a:ext cx="720000" cy="720000"/>
            <a:chOff x="13338894" y="1587234"/>
            <a:chExt cx="720000" cy="7200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E23E1EB-FA5E-1E59-D7B0-4EE27A19E130}"/>
                </a:ext>
              </a:extLst>
            </p:cNvPr>
            <p:cNvSpPr/>
            <p:nvPr/>
          </p:nvSpPr>
          <p:spPr>
            <a:xfrm flipV="1">
              <a:off x="13338894" y="1587234"/>
              <a:ext cx="720000" cy="720000"/>
            </a:xfrm>
            <a:prstGeom prst="ellipse">
              <a:avLst/>
            </a:prstGeom>
            <a:solidFill>
              <a:schemeClr val="bg1"/>
            </a:solidFill>
            <a:ln w="22225" cap="flat" cmpd="sng" algn="ctr">
              <a:solidFill>
                <a:srgbClr val="7500C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grpSp>
          <p:nvGrpSpPr>
            <p:cNvPr id="10" name="Group 104">
              <a:extLst>
                <a:ext uri="{FF2B5EF4-FFF2-40B4-BE49-F238E27FC236}">
                  <a16:creationId xmlns:a16="http://schemas.microsoft.com/office/drawing/2014/main" id="{019E6A27-2E61-9270-6222-404B69B26EC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524907" y="1698240"/>
              <a:ext cx="347973" cy="523184"/>
              <a:chOff x="1443" y="2997"/>
              <a:chExt cx="284" cy="427"/>
            </a:xfrm>
            <a:solidFill>
              <a:srgbClr val="7500C0"/>
            </a:solidFill>
          </p:grpSpPr>
          <p:sp>
            <p:nvSpPr>
              <p:cNvPr id="11" name="Freeform 105">
                <a:extLst>
                  <a:ext uri="{FF2B5EF4-FFF2-40B4-BE49-F238E27FC236}">
                    <a16:creationId xmlns:a16="http://schemas.microsoft.com/office/drawing/2014/main" id="{66A8D598-086B-FFD5-3A7B-91987799EAD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62" y="3104"/>
                <a:ext cx="261" cy="320"/>
              </a:xfrm>
              <a:custGeom>
                <a:avLst/>
                <a:gdLst>
                  <a:gd name="T0" fmla="*/ 155 w 176"/>
                  <a:gd name="T1" fmla="*/ 216 h 216"/>
                  <a:gd name="T2" fmla="*/ 59 w 176"/>
                  <a:gd name="T3" fmla="*/ 216 h 216"/>
                  <a:gd name="T4" fmla="*/ 54 w 176"/>
                  <a:gd name="T5" fmla="*/ 213 h 216"/>
                  <a:gd name="T6" fmla="*/ 6 w 176"/>
                  <a:gd name="T7" fmla="*/ 141 h 216"/>
                  <a:gd name="T8" fmla="*/ 4 w 176"/>
                  <a:gd name="T9" fmla="*/ 116 h 216"/>
                  <a:gd name="T10" fmla="*/ 17 w 176"/>
                  <a:gd name="T11" fmla="*/ 108 h 216"/>
                  <a:gd name="T12" fmla="*/ 59 w 176"/>
                  <a:gd name="T13" fmla="*/ 137 h 216"/>
                  <a:gd name="T14" fmla="*/ 59 w 176"/>
                  <a:gd name="T15" fmla="*/ 24 h 216"/>
                  <a:gd name="T16" fmla="*/ 83 w 176"/>
                  <a:gd name="T17" fmla="*/ 0 h 216"/>
                  <a:gd name="T18" fmla="*/ 107 w 176"/>
                  <a:gd name="T19" fmla="*/ 24 h 216"/>
                  <a:gd name="T20" fmla="*/ 107 w 176"/>
                  <a:gd name="T21" fmla="*/ 92 h 216"/>
                  <a:gd name="T22" fmla="*/ 156 w 176"/>
                  <a:gd name="T23" fmla="*/ 108 h 216"/>
                  <a:gd name="T24" fmla="*/ 173 w 176"/>
                  <a:gd name="T25" fmla="*/ 145 h 216"/>
                  <a:gd name="T26" fmla="*/ 161 w 176"/>
                  <a:gd name="T27" fmla="*/ 211 h 216"/>
                  <a:gd name="T28" fmla="*/ 155 w 176"/>
                  <a:gd name="T29" fmla="*/ 216 h 216"/>
                  <a:gd name="T30" fmla="*/ 62 w 176"/>
                  <a:gd name="T31" fmla="*/ 204 h 216"/>
                  <a:gd name="T32" fmla="*/ 150 w 176"/>
                  <a:gd name="T33" fmla="*/ 204 h 216"/>
                  <a:gd name="T34" fmla="*/ 161 w 176"/>
                  <a:gd name="T35" fmla="*/ 143 h 216"/>
                  <a:gd name="T36" fmla="*/ 152 w 176"/>
                  <a:gd name="T37" fmla="*/ 120 h 216"/>
                  <a:gd name="T38" fmla="*/ 99 w 176"/>
                  <a:gd name="T39" fmla="*/ 102 h 216"/>
                  <a:gd name="T40" fmla="*/ 95 w 176"/>
                  <a:gd name="T41" fmla="*/ 96 h 216"/>
                  <a:gd name="T42" fmla="*/ 95 w 176"/>
                  <a:gd name="T43" fmla="*/ 24 h 216"/>
                  <a:gd name="T44" fmla="*/ 83 w 176"/>
                  <a:gd name="T45" fmla="*/ 12 h 216"/>
                  <a:gd name="T46" fmla="*/ 71 w 176"/>
                  <a:gd name="T47" fmla="*/ 24 h 216"/>
                  <a:gd name="T48" fmla="*/ 71 w 176"/>
                  <a:gd name="T49" fmla="*/ 156 h 216"/>
                  <a:gd name="T50" fmla="*/ 67 w 176"/>
                  <a:gd name="T51" fmla="*/ 162 h 216"/>
                  <a:gd name="T52" fmla="*/ 60 w 176"/>
                  <a:gd name="T53" fmla="*/ 159 h 216"/>
                  <a:gd name="T54" fmla="*/ 17 w 176"/>
                  <a:gd name="T55" fmla="*/ 120 h 216"/>
                  <a:gd name="T56" fmla="*/ 14 w 176"/>
                  <a:gd name="T57" fmla="*/ 121 h 216"/>
                  <a:gd name="T58" fmla="*/ 16 w 176"/>
                  <a:gd name="T59" fmla="*/ 135 h 216"/>
                  <a:gd name="T60" fmla="*/ 62 w 176"/>
                  <a:gd name="T61" fmla="*/ 204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76" h="216">
                    <a:moveTo>
                      <a:pt x="155" y="216"/>
                    </a:moveTo>
                    <a:cubicBezTo>
                      <a:pt x="59" y="216"/>
                      <a:pt x="59" y="216"/>
                      <a:pt x="59" y="216"/>
                    </a:cubicBezTo>
                    <a:cubicBezTo>
                      <a:pt x="57" y="216"/>
                      <a:pt x="55" y="215"/>
                      <a:pt x="54" y="213"/>
                    </a:cubicBezTo>
                    <a:cubicBezTo>
                      <a:pt x="6" y="141"/>
                      <a:pt x="6" y="141"/>
                      <a:pt x="6" y="141"/>
                    </a:cubicBezTo>
                    <a:cubicBezTo>
                      <a:pt x="2" y="135"/>
                      <a:pt x="0" y="124"/>
                      <a:pt x="4" y="116"/>
                    </a:cubicBezTo>
                    <a:cubicBezTo>
                      <a:pt x="6" y="111"/>
                      <a:pt x="11" y="108"/>
                      <a:pt x="17" y="108"/>
                    </a:cubicBezTo>
                    <a:cubicBezTo>
                      <a:pt x="30" y="108"/>
                      <a:pt x="42" y="113"/>
                      <a:pt x="59" y="137"/>
                    </a:cubicBezTo>
                    <a:cubicBezTo>
                      <a:pt x="59" y="24"/>
                      <a:pt x="59" y="24"/>
                      <a:pt x="59" y="24"/>
                    </a:cubicBezTo>
                    <a:cubicBezTo>
                      <a:pt x="59" y="11"/>
                      <a:pt x="70" y="0"/>
                      <a:pt x="83" y="0"/>
                    </a:cubicBezTo>
                    <a:cubicBezTo>
                      <a:pt x="96" y="0"/>
                      <a:pt x="107" y="11"/>
                      <a:pt x="107" y="24"/>
                    </a:cubicBezTo>
                    <a:cubicBezTo>
                      <a:pt x="107" y="92"/>
                      <a:pt x="107" y="92"/>
                      <a:pt x="107" y="92"/>
                    </a:cubicBezTo>
                    <a:cubicBezTo>
                      <a:pt x="156" y="108"/>
                      <a:pt x="156" y="108"/>
                      <a:pt x="156" y="108"/>
                    </a:cubicBezTo>
                    <a:cubicBezTo>
                      <a:pt x="172" y="113"/>
                      <a:pt x="176" y="131"/>
                      <a:pt x="173" y="145"/>
                    </a:cubicBezTo>
                    <a:cubicBezTo>
                      <a:pt x="161" y="211"/>
                      <a:pt x="161" y="211"/>
                      <a:pt x="161" y="211"/>
                    </a:cubicBezTo>
                    <a:cubicBezTo>
                      <a:pt x="161" y="214"/>
                      <a:pt x="158" y="216"/>
                      <a:pt x="155" y="216"/>
                    </a:cubicBezTo>
                    <a:close/>
                    <a:moveTo>
                      <a:pt x="62" y="204"/>
                    </a:moveTo>
                    <a:cubicBezTo>
                      <a:pt x="150" y="204"/>
                      <a:pt x="150" y="204"/>
                      <a:pt x="150" y="204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3" y="134"/>
                      <a:pt x="161" y="123"/>
                      <a:pt x="152" y="120"/>
                    </a:cubicBezTo>
                    <a:cubicBezTo>
                      <a:pt x="99" y="102"/>
                      <a:pt x="99" y="102"/>
                      <a:pt x="99" y="102"/>
                    </a:cubicBezTo>
                    <a:cubicBezTo>
                      <a:pt x="97" y="101"/>
                      <a:pt x="95" y="99"/>
                      <a:pt x="95" y="96"/>
                    </a:cubicBezTo>
                    <a:cubicBezTo>
                      <a:pt x="95" y="24"/>
                      <a:pt x="95" y="24"/>
                      <a:pt x="95" y="24"/>
                    </a:cubicBezTo>
                    <a:cubicBezTo>
                      <a:pt x="95" y="17"/>
                      <a:pt x="90" y="12"/>
                      <a:pt x="83" y="12"/>
                    </a:cubicBezTo>
                    <a:cubicBezTo>
                      <a:pt x="77" y="12"/>
                      <a:pt x="71" y="18"/>
                      <a:pt x="71" y="24"/>
                    </a:cubicBezTo>
                    <a:cubicBezTo>
                      <a:pt x="71" y="156"/>
                      <a:pt x="71" y="156"/>
                      <a:pt x="71" y="156"/>
                    </a:cubicBezTo>
                    <a:cubicBezTo>
                      <a:pt x="71" y="159"/>
                      <a:pt x="69" y="161"/>
                      <a:pt x="67" y="162"/>
                    </a:cubicBezTo>
                    <a:cubicBezTo>
                      <a:pt x="64" y="163"/>
                      <a:pt x="62" y="162"/>
                      <a:pt x="60" y="159"/>
                    </a:cubicBezTo>
                    <a:cubicBezTo>
                      <a:pt x="37" y="123"/>
                      <a:pt x="26" y="120"/>
                      <a:pt x="17" y="120"/>
                    </a:cubicBezTo>
                    <a:cubicBezTo>
                      <a:pt x="15" y="120"/>
                      <a:pt x="15" y="121"/>
                      <a:pt x="14" y="121"/>
                    </a:cubicBezTo>
                    <a:cubicBezTo>
                      <a:pt x="13" y="124"/>
                      <a:pt x="14" y="131"/>
                      <a:pt x="16" y="135"/>
                    </a:cubicBezTo>
                    <a:lnTo>
                      <a:pt x="62" y="20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2" name="Freeform 106">
                <a:extLst>
                  <a:ext uri="{FF2B5EF4-FFF2-40B4-BE49-F238E27FC236}">
                    <a16:creationId xmlns:a16="http://schemas.microsoft.com/office/drawing/2014/main" id="{BDAC6D0E-A0D6-9805-CB20-B41A0E11EB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6" y="3122"/>
                <a:ext cx="71" cy="17"/>
              </a:xfrm>
              <a:custGeom>
                <a:avLst/>
                <a:gdLst>
                  <a:gd name="T0" fmla="*/ 42 w 48"/>
                  <a:gd name="T1" fmla="*/ 12 h 12"/>
                  <a:gd name="T2" fmla="*/ 6 w 48"/>
                  <a:gd name="T3" fmla="*/ 12 h 12"/>
                  <a:gd name="T4" fmla="*/ 0 w 48"/>
                  <a:gd name="T5" fmla="*/ 6 h 12"/>
                  <a:gd name="T6" fmla="*/ 6 w 48"/>
                  <a:gd name="T7" fmla="*/ 0 h 12"/>
                  <a:gd name="T8" fmla="*/ 42 w 48"/>
                  <a:gd name="T9" fmla="*/ 0 h 12"/>
                  <a:gd name="T10" fmla="*/ 48 w 48"/>
                  <a:gd name="T11" fmla="*/ 6 h 12"/>
                  <a:gd name="T12" fmla="*/ 42 w 48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12">
                    <a:moveTo>
                      <a:pt x="42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6" y="0"/>
                      <a:pt x="48" y="3"/>
                      <a:pt x="48" y="6"/>
                    </a:cubicBezTo>
                    <a:cubicBezTo>
                      <a:pt x="48" y="9"/>
                      <a:pt x="46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3" name="Freeform 107">
                <a:extLst>
                  <a:ext uri="{FF2B5EF4-FFF2-40B4-BE49-F238E27FC236}">
                    <a16:creationId xmlns:a16="http://schemas.microsoft.com/office/drawing/2014/main" id="{2197FF73-CBC2-5D61-6FF4-821DF3E1FE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8" y="3031"/>
                <a:ext cx="55" cy="55"/>
              </a:xfrm>
              <a:custGeom>
                <a:avLst/>
                <a:gdLst>
                  <a:gd name="T0" fmla="*/ 6 w 37"/>
                  <a:gd name="T1" fmla="*/ 37 h 37"/>
                  <a:gd name="T2" fmla="*/ 2 w 37"/>
                  <a:gd name="T3" fmla="*/ 35 h 37"/>
                  <a:gd name="T4" fmla="*/ 2 w 37"/>
                  <a:gd name="T5" fmla="*/ 27 h 37"/>
                  <a:gd name="T6" fmla="*/ 26 w 37"/>
                  <a:gd name="T7" fmla="*/ 3 h 37"/>
                  <a:gd name="T8" fmla="*/ 34 w 37"/>
                  <a:gd name="T9" fmla="*/ 3 h 37"/>
                  <a:gd name="T10" fmla="*/ 34 w 37"/>
                  <a:gd name="T11" fmla="*/ 11 h 37"/>
                  <a:gd name="T12" fmla="*/ 10 w 37"/>
                  <a:gd name="T13" fmla="*/ 35 h 37"/>
                  <a:gd name="T14" fmla="*/ 6 w 37"/>
                  <a:gd name="T15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7" h="37">
                    <a:moveTo>
                      <a:pt x="6" y="37"/>
                    </a:moveTo>
                    <a:cubicBezTo>
                      <a:pt x="5" y="37"/>
                      <a:pt x="3" y="36"/>
                      <a:pt x="2" y="35"/>
                    </a:cubicBezTo>
                    <a:cubicBezTo>
                      <a:pt x="0" y="33"/>
                      <a:pt x="0" y="29"/>
                      <a:pt x="2" y="27"/>
                    </a:cubicBezTo>
                    <a:cubicBezTo>
                      <a:pt x="26" y="3"/>
                      <a:pt x="26" y="3"/>
                      <a:pt x="26" y="3"/>
                    </a:cubicBezTo>
                    <a:cubicBezTo>
                      <a:pt x="28" y="0"/>
                      <a:pt x="32" y="0"/>
                      <a:pt x="34" y="3"/>
                    </a:cubicBezTo>
                    <a:cubicBezTo>
                      <a:pt x="37" y="5"/>
                      <a:pt x="37" y="9"/>
                      <a:pt x="34" y="11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9" y="36"/>
                      <a:pt x="8" y="37"/>
                      <a:pt x="6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4" name="Freeform 108">
                <a:extLst>
                  <a:ext uri="{FF2B5EF4-FFF2-40B4-BE49-F238E27FC236}">
                    <a16:creationId xmlns:a16="http://schemas.microsoft.com/office/drawing/2014/main" id="{C69AB0BB-AE7D-3E37-6DCE-60D506DCE1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5" y="2997"/>
                <a:ext cx="18" cy="71"/>
              </a:xfrm>
              <a:custGeom>
                <a:avLst/>
                <a:gdLst>
                  <a:gd name="T0" fmla="*/ 6 w 12"/>
                  <a:gd name="T1" fmla="*/ 48 h 48"/>
                  <a:gd name="T2" fmla="*/ 0 w 12"/>
                  <a:gd name="T3" fmla="*/ 42 h 48"/>
                  <a:gd name="T4" fmla="*/ 0 w 12"/>
                  <a:gd name="T5" fmla="*/ 6 h 48"/>
                  <a:gd name="T6" fmla="*/ 6 w 12"/>
                  <a:gd name="T7" fmla="*/ 0 h 48"/>
                  <a:gd name="T8" fmla="*/ 12 w 12"/>
                  <a:gd name="T9" fmla="*/ 6 h 48"/>
                  <a:gd name="T10" fmla="*/ 12 w 12"/>
                  <a:gd name="T11" fmla="*/ 42 h 48"/>
                  <a:gd name="T12" fmla="*/ 6 w 12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48">
                    <a:moveTo>
                      <a:pt x="6" y="48"/>
                    </a:moveTo>
                    <a:cubicBezTo>
                      <a:pt x="3" y="48"/>
                      <a:pt x="0" y="45"/>
                      <a:pt x="0" y="42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0" y="0"/>
                      <a:pt x="12" y="3"/>
                      <a:pt x="12" y="6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2" y="45"/>
                      <a:pt x="10" y="48"/>
                      <a:pt x="6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5" name="Freeform 109">
                <a:extLst>
                  <a:ext uri="{FF2B5EF4-FFF2-40B4-BE49-F238E27FC236}">
                    <a16:creationId xmlns:a16="http://schemas.microsoft.com/office/drawing/2014/main" id="{47887552-69A9-4FF8-1AB9-EC071F3E19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8" y="3031"/>
                <a:ext cx="55" cy="55"/>
              </a:xfrm>
              <a:custGeom>
                <a:avLst/>
                <a:gdLst>
                  <a:gd name="T0" fmla="*/ 30 w 37"/>
                  <a:gd name="T1" fmla="*/ 37 h 37"/>
                  <a:gd name="T2" fmla="*/ 26 w 37"/>
                  <a:gd name="T3" fmla="*/ 35 h 37"/>
                  <a:gd name="T4" fmla="*/ 2 w 37"/>
                  <a:gd name="T5" fmla="*/ 11 h 37"/>
                  <a:gd name="T6" fmla="*/ 2 w 37"/>
                  <a:gd name="T7" fmla="*/ 3 h 37"/>
                  <a:gd name="T8" fmla="*/ 10 w 37"/>
                  <a:gd name="T9" fmla="*/ 3 h 37"/>
                  <a:gd name="T10" fmla="*/ 34 w 37"/>
                  <a:gd name="T11" fmla="*/ 27 h 37"/>
                  <a:gd name="T12" fmla="*/ 34 w 37"/>
                  <a:gd name="T13" fmla="*/ 35 h 37"/>
                  <a:gd name="T14" fmla="*/ 30 w 37"/>
                  <a:gd name="T15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7" h="37">
                    <a:moveTo>
                      <a:pt x="30" y="37"/>
                    </a:moveTo>
                    <a:cubicBezTo>
                      <a:pt x="29" y="37"/>
                      <a:pt x="27" y="36"/>
                      <a:pt x="26" y="35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0" y="9"/>
                      <a:pt x="0" y="5"/>
                      <a:pt x="2" y="3"/>
                    </a:cubicBezTo>
                    <a:cubicBezTo>
                      <a:pt x="4" y="0"/>
                      <a:pt x="8" y="0"/>
                      <a:pt x="10" y="3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7" y="29"/>
                      <a:pt x="37" y="33"/>
                      <a:pt x="34" y="35"/>
                    </a:cubicBezTo>
                    <a:cubicBezTo>
                      <a:pt x="33" y="36"/>
                      <a:pt x="32" y="37"/>
                      <a:pt x="30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6" name="Freeform 110">
                <a:extLst>
                  <a:ext uri="{FF2B5EF4-FFF2-40B4-BE49-F238E27FC236}">
                    <a16:creationId xmlns:a16="http://schemas.microsoft.com/office/drawing/2014/main" id="{09177C53-734D-6E26-EC03-BE46345446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3" y="3122"/>
                <a:ext cx="71" cy="17"/>
              </a:xfrm>
              <a:custGeom>
                <a:avLst/>
                <a:gdLst>
                  <a:gd name="T0" fmla="*/ 42 w 48"/>
                  <a:gd name="T1" fmla="*/ 12 h 12"/>
                  <a:gd name="T2" fmla="*/ 6 w 48"/>
                  <a:gd name="T3" fmla="*/ 12 h 12"/>
                  <a:gd name="T4" fmla="*/ 0 w 48"/>
                  <a:gd name="T5" fmla="*/ 6 h 12"/>
                  <a:gd name="T6" fmla="*/ 6 w 48"/>
                  <a:gd name="T7" fmla="*/ 0 h 12"/>
                  <a:gd name="T8" fmla="*/ 42 w 48"/>
                  <a:gd name="T9" fmla="*/ 0 h 12"/>
                  <a:gd name="T10" fmla="*/ 48 w 48"/>
                  <a:gd name="T11" fmla="*/ 6 h 12"/>
                  <a:gd name="T12" fmla="*/ 42 w 48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12">
                    <a:moveTo>
                      <a:pt x="42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6" y="0"/>
                      <a:pt x="48" y="3"/>
                      <a:pt x="48" y="6"/>
                    </a:cubicBezTo>
                    <a:cubicBezTo>
                      <a:pt x="48" y="9"/>
                      <a:pt x="46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71977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97B8F-D045-BD2D-293F-26605CE8A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1C5E20-1456-2E7E-CED6-60A7378447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"/>
            <a:ext cx="12191996" cy="6858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C6AB6B-440F-80FE-690E-843386E516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92" y="60165"/>
            <a:ext cx="12059208" cy="4602552"/>
          </a:xfrm>
          <a:prstGeom prst="rect">
            <a:avLst/>
          </a:prstGeom>
        </p:spPr>
      </p:pic>
      <p:sp>
        <p:nvSpPr>
          <p:cNvPr id="33" name="Arrow: Left 32">
            <a:hlinkClick r:id="rId5" action="ppaction://hlinksldjump"/>
            <a:extLst>
              <a:ext uri="{FF2B5EF4-FFF2-40B4-BE49-F238E27FC236}">
                <a16:creationId xmlns:a16="http://schemas.microsoft.com/office/drawing/2014/main" id="{D5B74BFA-82B0-C426-B658-FBEA009B8280}"/>
              </a:ext>
            </a:extLst>
          </p:cNvPr>
          <p:cNvSpPr/>
          <p:nvPr/>
        </p:nvSpPr>
        <p:spPr>
          <a:xfrm>
            <a:off x="11506534" y="193325"/>
            <a:ext cx="475048" cy="319931"/>
          </a:xfrm>
          <a:prstGeom prst="lef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5" name="Picture 24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E4C761E2-D3A2-A7C6-36A9-B1F3FCF7E7A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482516"/>
            <a:ext cx="192024" cy="20232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85BBB54-93F9-5996-74E9-3CEE07E47DDF}"/>
              </a:ext>
            </a:extLst>
          </p:cNvPr>
          <p:cNvSpPr txBox="1"/>
          <p:nvPr/>
        </p:nvSpPr>
        <p:spPr>
          <a:xfrm>
            <a:off x="622890" y="4688034"/>
            <a:ext cx="7390532" cy="2100539"/>
          </a:xfrm>
          <a:prstGeom prst="rect">
            <a:avLst/>
          </a:prstGeom>
          <a:noFill/>
        </p:spPr>
        <p:txBody>
          <a:bodyPr wrap="square" lIns="0" tIns="0" rIns="0" bIns="0" numCol="1" rtlCol="0" anchor="ctr">
            <a:noAutofit/>
          </a:bodyPr>
          <a:lstStyle/>
          <a:p>
            <a:pPr defTabSz="228600">
              <a:spcAft>
                <a:spcPts val="1200"/>
              </a:spcAft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What you need to do</a:t>
            </a:r>
          </a:p>
          <a:p>
            <a:pPr defTabSz="228600">
              <a:spcAft>
                <a:spcPts val="1200"/>
              </a:spcAft>
              <a:defRPr/>
            </a:pPr>
            <a:r>
              <a:rPr lang="en-US" sz="1200" b="1" dirty="0">
                <a:solidFill>
                  <a:srgbClr val="FFFFFF"/>
                </a:solidFill>
                <a:latin typeface="Graphik"/>
              </a:rPr>
              <a:t>Review the Claim Result: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FFFFFF"/>
                </a:solidFill>
                <a:latin typeface="Graphik"/>
              </a:rPr>
              <a:t>Review the outcome for both claimed and unclaimed coverages (from medical records)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FFFFFF"/>
                </a:solidFill>
                <a:latin typeface="Graphik"/>
              </a:rPr>
              <a:t>For each Coverage, review key information considered, detailed assessment (includes exclusions, Definition criteria, Eligibility, Limits &amp; Payability checks)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FFFFFF"/>
                </a:solidFill>
                <a:latin typeface="Graphik"/>
              </a:rPr>
              <a:t>Review the system’s recommended outcome (Approve, Deny, or NIGO Pending) and, if required, override the outcome, payable units, or payable amount based on your review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FFFFFF"/>
                </a:solidFill>
                <a:latin typeface="Graphik"/>
              </a:rPr>
              <a:t>Update any missing medical-record-based details and regenerate the Coverage assessment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FFFFFF"/>
                </a:solidFill>
                <a:latin typeface="Graphik"/>
              </a:rPr>
              <a:t>Click ‘Scroll’ to move up to the ‘Take Action’ button</a:t>
            </a:r>
          </a:p>
        </p:txBody>
      </p:sp>
      <p:pic>
        <p:nvPicPr>
          <p:cNvPr id="28" name="Graphic 27" descr="User with solid fill">
            <a:extLst>
              <a:ext uri="{FF2B5EF4-FFF2-40B4-BE49-F238E27FC236}">
                <a16:creationId xmlns:a16="http://schemas.microsoft.com/office/drawing/2014/main" id="{F71014EB-271B-355B-B37E-9AF57DB59D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157" y="4700994"/>
            <a:ext cx="426575" cy="426575"/>
          </a:xfrm>
          <a:prstGeom prst="rect">
            <a:avLst/>
          </a:prstGeom>
        </p:spPr>
      </p:pic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2442E05-82B1-C92D-39EB-0701AB5F7BBA}"/>
              </a:ext>
            </a:extLst>
          </p:cNvPr>
          <p:cNvSpPr/>
          <p:nvPr/>
        </p:nvSpPr>
        <p:spPr>
          <a:xfrm>
            <a:off x="8061714" y="4844955"/>
            <a:ext cx="3960571" cy="190690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tIns="45720" rIns="45720" bIns="45720" rtlCol="0" anchor="ctr">
            <a:spAutoFit/>
          </a:bodyPr>
          <a:lstStyle/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500C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What the system handles in the background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50" dirty="0">
                <a:solidFill>
                  <a:prstClr val="black"/>
                </a:solidFill>
                <a:latin typeface="Graphik" panose="020B0503030202060203" pitchFamily="34" charset="0"/>
              </a:rPr>
              <a:t>The system identifies both claimed coverages (from the claim form, claim system) and unclaimed coverages (from the medical records)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50" dirty="0">
                <a:solidFill>
                  <a:prstClr val="black"/>
                </a:solidFill>
                <a:latin typeface="Graphik" panose="020B0503030202060203" pitchFamily="34" charset="0"/>
              </a:rPr>
              <a:t>For each coverage, it evaluates the medical record evidence against the policy requirements to prepare a recommendation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50" dirty="0">
                <a:solidFill>
                  <a:prstClr val="black"/>
                </a:solidFill>
                <a:latin typeface="Graphik" panose="020B0503030202060203" pitchFamily="34" charset="0"/>
              </a:rPr>
              <a:t>When you update any missing medical-record details, the system instantly regenerates the assessment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4C3D180-A1E3-D016-8D02-3BB700E5DD8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111539" y="5022860"/>
            <a:ext cx="248275" cy="248273"/>
            <a:chOff x="3438" y="437"/>
            <a:chExt cx="428" cy="428"/>
          </a:xfrm>
          <a:solidFill>
            <a:srgbClr val="7500C0"/>
          </a:solidFill>
        </p:grpSpPr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1F1CEACF-1911-9882-29BA-61748EC5FD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8" y="439"/>
              <a:ext cx="427" cy="426"/>
            </a:xfrm>
            <a:custGeom>
              <a:avLst/>
              <a:gdLst>
                <a:gd name="T0" fmla="*/ 126 w 288"/>
                <a:gd name="T1" fmla="*/ 288 h 288"/>
                <a:gd name="T2" fmla="*/ 120 w 288"/>
                <a:gd name="T3" fmla="*/ 247 h 288"/>
                <a:gd name="T4" fmla="*/ 67 w 288"/>
                <a:gd name="T5" fmla="*/ 262 h 288"/>
                <a:gd name="T6" fmla="*/ 25 w 288"/>
                <a:gd name="T7" fmla="*/ 229 h 288"/>
                <a:gd name="T8" fmla="*/ 25 w 288"/>
                <a:gd name="T9" fmla="*/ 220 h 288"/>
                <a:gd name="T10" fmla="*/ 40 w 288"/>
                <a:gd name="T11" fmla="*/ 168 h 288"/>
                <a:gd name="T12" fmla="*/ 0 w 288"/>
                <a:gd name="T13" fmla="*/ 162 h 288"/>
                <a:gd name="T14" fmla="*/ 6 w 288"/>
                <a:gd name="T15" fmla="*/ 120 h 288"/>
                <a:gd name="T16" fmla="*/ 49 w 288"/>
                <a:gd name="T17" fmla="*/ 92 h 288"/>
                <a:gd name="T18" fmla="*/ 23 w 288"/>
                <a:gd name="T19" fmla="*/ 63 h 288"/>
                <a:gd name="T20" fmla="*/ 59 w 288"/>
                <a:gd name="T21" fmla="*/ 25 h 288"/>
                <a:gd name="T22" fmla="*/ 92 w 288"/>
                <a:gd name="T23" fmla="*/ 49 h 288"/>
                <a:gd name="T24" fmla="*/ 120 w 288"/>
                <a:gd name="T25" fmla="*/ 6 h 288"/>
                <a:gd name="T26" fmla="*/ 162 w 288"/>
                <a:gd name="T27" fmla="*/ 0 h 288"/>
                <a:gd name="T28" fmla="*/ 168 w 288"/>
                <a:gd name="T29" fmla="*/ 40 h 288"/>
                <a:gd name="T30" fmla="*/ 202 w 288"/>
                <a:gd name="T31" fmla="*/ 60 h 288"/>
                <a:gd name="T32" fmla="*/ 160 w 288"/>
                <a:gd name="T33" fmla="*/ 50 h 288"/>
                <a:gd name="T34" fmla="*/ 156 w 288"/>
                <a:gd name="T35" fmla="*/ 12 h 288"/>
                <a:gd name="T36" fmla="*/ 132 w 288"/>
                <a:gd name="T37" fmla="*/ 45 h 288"/>
                <a:gd name="T38" fmla="*/ 94 w 288"/>
                <a:gd name="T39" fmla="*/ 62 h 288"/>
                <a:gd name="T40" fmla="*/ 63 w 288"/>
                <a:gd name="T41" fmla="*/ 38 h 288"/>
                <a:gd name="T42" fmla="*/ 61 w 288"/>
                <a:gd name="T43" fmla="*/ 86 h 288"/>
                <a:gd name="T44" fmla="*/ 51 w 288"/>
                <a:gd name="T45" fmla="*/ 127 h 288"/>
                <a:gd name="T46" fmla="*/ 12 w 288"/>
                <a:gd name="T47" fmla="*/ 132 h 288"/>
                <a:gd name="T48" fmla="*/ 45 w 288"/>
                <a:gd name="T49" fmla="*/ 156 h 288"/>
                <a:gd name="T50" fmla="*/ 62 w 288"/>
                <a:gd name="T51" fmla="*/ 194 h 288"/>
                <a:gd name="T52" fmla="*/ 38 w 288"/>
                <a:gd name="T53" fmla="*/ 224 h 288"/>
                <a:gd name="T54" fmla="*/ 87 w 288"/>
                <a:gd name="T55" fmla="*/ 226 h 288"/>
                <a:gd name="T56" fmla="*/ 127 w 288"/>
                <a:gd name="T57" fmla="*/ 237 h 288"/>
                <a:gd name="T58" fmla="*/ 132 w 288"/>
                <a:gd name="T59" fmla="*/ 276 h 288"/>
                <a:gd name="T60" fmla="*/ 156 w 288"/>
                <a:gd name="T61" fmla="*/ 243 h 288"/>
                <a:gd name="T62" fmla="*/ 194 w 288"/>
                <a:gd name="T63" fmla="*/ 226 h 288"/>
                <a:gd name="T64" fmla="*/ 224 w 288"/>
                <a:gd name="T65" fmla="*/ 250 h 288"/>
                <a:gd name="T66" fmla="*/ 227 w 288"/>
                <a:gd name="T67" fmla="*/ 201 h 288"/>
                <a:gd name="T68" fmla="*/ 237 w 288"/>
                <a:gd name="T69" fmla="*/ 160 h 288"/>
                <a:gd name="T70" fmla="*/ 276 w 288"/>
                <a:gd name="T71" fmla="*/ 156 h 288"/>
                <a:gd name="T72" fmla="*/ 243 w 288"/>
                <a:gd name="T73" fmla="*/ 132 h 288"/>
                <a:gd name="T74" fmla="*/ 231 w 288"/>
                <a:gd name="T75" fmla="*/ 107 h 288"/>
                <a:gd name="T76" fmla="*/ 243 w 288"/>
                <a:gd name="T77" fmla="*/ 103 h 288"/>
                <a:gd name="T78" fmla="*/ 282 w 288"/>
                <a:gd name="T79" fmla="*/ 120 h 288"/>
                <a:gd name="T80" fmla="*/ 288 w 288"/>
                <a:gd name="T81" fmla="*/ 162 h 288"/>
                <a:gd name="T82" fmla="*/ 248 w 288"/>
                <a:gd name="T83" fmla="*/ 168 h 288"/>
                <a:gd name="T84" fmla="*/ 263 w 288"/>
                <a:gd name="T85" fmla="*/ 220 h 288"/>
                <a:gd name="T86" fmla="*/ 229 w 288"/>
                <a:gd name="T87" fmla="*/ 262 h 288"/>
                <a:gd name="T88" fmla="*/ 196 w 288"/>
                <a:gd name="T89" fmla="*/ 238 h 288"/>
                <a:gd name="T90" fmla="*/ 168 w 288"/>
                <a:gd name="T91" fmla="*/ 282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88" h="288">
                  <a:moveTo>
                    <a:pt x="162" y="288"/>
                  </a:moveTo>
                  <a:cubicBezTo>
                    <a:pt x="126" y="288"/>
                    <a:pt x="126" y="288"/>
                    <a:pt x="126" y="288"/>
                  </a:cubicBezTo>
                  <a:cubicBezTo>
                    <a:pt x="123" y="288"/>
                    <a:pt x="120" y="285"/>
                    <a:pt x="120" y="282"/>
                  </a:cubicBezTo>
                  <a:cubicBezTo>
                    <a:pt x="120" y="247"/>
                    <a:pt x="120" y="247"/>
                    <a:pt x="120" y="247"/>
                  </a:cubicBezTo>
                  <a:cubicBezTo>
                    <a:pt x="110" y="245"/>
                    <a:pt x="100" y="242"/>
                    <a:pt x="92" y="238"/>
                  </a:cubicBezTo>
                  <a:cubicBezTo>
                    <a:pt x="67" y="262"/>
                    <a:pt x="67" y="262"/>
                    <a:pt x="67" y="262"/>
                  </a:cubicBezTo>
                  <a:cubicBezTo>
                    <a:pt x="65" y="265"/>
                    <a:pt x="61" y="265"/>
                    <a:pt x="59" y="262"/>
                  </a:cubicBezTo>
                  <a:cubicBezTo>
                    <a:pt x="25" y="229"/>
                    <a:pt x="25" y="229"/>
                    <a:pt x="25" y="229"/>
                  </a:cubicBezTo>
                  <a:cubicBezTo>
                    <a:pt x="24" y="227"/>
                    <a:pt x="23" y="226"/>
                    <a:pt x="23" y="224"/>
                  </a:cubicBezTo>
                  <a:cubicBezTo>
                    <a:pt x="23" y="223"/>
                    <a:pt x="24" y="221"/>
                    <a:pt x="25" y="220"/>
                  </a:cubicBezTo>
                  <a:cubicBezTo>
                    <a:pt x="49" y="196"/>
                    <a:pt x="49" y="196"/>
                    <a:pt x="49" y="196"/>
                  </a:cubicBezTo>
                  <a:cubicBezTo>
                    <a:pt x="46" y="188"/>
                    <a:pt x="43" y="177"/>
                    <a:pt x="40" y="168"/>
                  </a:cubicBezTo>
                  <a:cubicBezTo>
                    <a:pt x="6" y="168"/>
                    <a:pt x="6" y="168"/>
                    <a:pt x="6" y="168"/>
                  </a:cubicBezTo>
                  <a:cubicBezTo>
                    <a:pt x="3" y="168"/>
                    <a:pt x="0" y="165"/>
                    <a:pt x="0" y="162"/>
                  </a:cubicBezTo>
                  <a:cubicBezTo>
                    <a:pt x="0" y="126"/>
                    <a:pt x="0" y="126"/>
                    <a:pt x="0" y="126"/>
                  </a:cubicBezTo>
                  <a:cubicBezTo>
                    <a:pt x="0" y="122"/>
                    <a:pt x="3" y="120"/>
                    <a:pt x="6" y="120"/>
                  </a:cubicBezTo>
                  <a:cubicBezTo>
                    <a:pt x="40" y="120"/>
                    <a:pt x="40" y="120"/>
                    <a:pt x="40" y="120"/>
                  </a:cubicBezTo>
                  <a:cubicBezTo>
                    <a:pt x="43" y="110"/>
                    <a:pt x="46" y="100"/>
                    <a:pt x="49" y="92"/>
                  </a:cubicBezTo>
                  <a:cubicBezTo>
                    <a:pt x="25" y="67"/>
                    <a:pt x="25" y="67"/>
                    <a:pt x="25" y="67"/>
                  </a:cubicBezTo>
                  <a:cubicBezTo>
                    <a:pt x="24" y="66"/>
                    <a:pt x="23" y="65"/>
                    <a:pt x="23" y="63"/>
                  </a:cubicBezTo>
                  <a:cubicBezTo>
                    <a:pt x="23" y="61"/>
                    <a:pt x="24" y="60"/>
                    <a:pt x="25" y="59"/>
                  </a:cubicBezTo>
                  <a:cubicBezTo>
                    <a:pt x="59" y="25"/>
                    <a:pt x="59" y="25"/>
                    <a:pt x="59" y="25"/>
                  </a:cubicBezTo>
                  <a:cubicBezTo>
                    <a:pt x="61" y="23"/>
                    <a:pt x="65" y="23"/>
                    <a:pt x="67" y="25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100" y="45"/>
                    <a:pt x="110" y="42"/>
                    <a:pt x="120" y="40"/>
                  </a:cubicBezTo>
                  <a:cubicBezTo>
                    <a:pt x="120" y="6"/>
                    <a:pt x="120" y="6"/>
                    <a:pt x="120" y="6"/>
                  </a:cubicBezTo>
                  <a:cubicBezTo>
                    <a:pt x="120" y="2"/>
                    <a:pt x="123" y="0"/>
                    <a:pt x="126" y="0"/>
                  </a:cubicBezTo>
                  <a:cubicBezTo>
                    <a:pt x="162" y="0"/>
                    <a:pt x="162" y="0"/>
                    <a:pt x="162" y="0"/>
                  </a:cubicBezTo>
                  <a:cubicBezTo>
                    <a:pt x="165" y="0"/>
                    <a:pt x="168" y="2"/>
                    <a:pt x="168" y="6"/>
                  </a:cubicBezTo>
                  <a:cubicBezTo>
                    <a:pt x="168" y="40"/>
                    <a:pt x="168" y="40"/>
                    <a:pt x="168" y="40"/>
                  </a:cubicBezTo>
                  <a:cubicBezTo>
                    <a:pt x="179" y="43"/>
                    <a:pt x="192" y="47"/>
                    <a:pt x="200" y="52"/>
                  </a:cubicBezTo>
                  <a:cubicBezTo>
                    <a:pt x="203" y="53"/>
                    <a:pt x="204" y="57"/>
                    <a:pt x="202" y="60"/>
                  </a:cubicBezTo>
                  <a:cubicBezTo>
                    <a:pt x="200" y="63"/>
                    <a:pt x="197" y="63"/>
                    <a:pt x="194" y="62"/>
                  </a:cubicBezTo>
                  <a:cubicBezTo>
                    <a:pt x="186" y="57"/>
                    <a:pt x="171" y="53"/>
                    <a:pt x="160" y="50"/>
                  </a:cubicBezTo>
                  <a:cubicBezTo>
                    <a:pt x="158" y="50"/>
                    <a:pt x="156" y="47"/>
                    <a:pt x="156" y="45"/>
                  </a:cubicBezTo>
                  <a:cubicBezTo>
                    <a:pt x="156" y="12"/>
                    <a:pt x="156" y="12"/>
                    <a:pt x="156" y="12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7"/>
                    <a:pt x="130" y="50"/>
                    <a:pt x="127" y="50"/>
                  </a:cubicBezTo>
                  <a:cubicBezTo>
                    <a:pt x="117" y="53"/>
                    <a:pt x="102" y="57"/>
                    <a:pt x="94" y="62"/>
                  </a:cubicBezTo>
                  <a:cubicBezTo>
                    <a:pt x="92" y="63"/>
                    <a:pt x="89" y="63"/>
                    <a:pt x="87" y="61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61" y="86"/>
                    <a:pt x="61" y="86"/>
                    <a:pt x="61" y="86"/>
                  </a:cubicBezTo>
                  <a:cubicBezTo>
                    <a:pt x="63" y="88"/>
                    <a:pt x="63" y="91"/>
                    <a:pt x="62" y="94"/>
                  </a:cubicBezTo>
                  <a:cubicBezTo>
                    <a:pt x="57" y="103"/>
                    <a:pt x="52" y="120"/>
                    <a:pt x="51" y="127"/>
                  </a:cubicBezTo>
                  <a:cubicBezTo>
                    <a:pt x="50" y="130"/>
                    <a:pt x="48" y="132"/>
                    <a:pt x="45" y="132"/>
                  </a:cubicBezTo>
                  <a:cubicBezTo>
                    <a:pt x="12" y="132"/>
                    <a:pt x="12" y="132"/>
                    <a:pt x="12" y="132"/>
                  </a:cubicBezTo>
                  <a:cubicBezTo>
                    <a:pt x="12" y="156"/>
                    <a:pt x="12" y="156"/>
                    <a:pt x="12" y="156"/>
                  </a:cubicBezTo>
                  <a:cubicBezTo>
                    <a:pt x="45" y="156"/>
                    <a:pt x="45" y="156"/>
                    <a:pt x="45" y="156"/>
                  </a:cubicBezTo>
                  <a:cubicBezTo>
                    <a:pt x="48" y="156"/>
                    <a:pt x="50" y="158"/>
                    <a:pt x="51" y="160"/>
                  </a:cubicBezTo>
                  <a:cubicBezTo>
                    <a:pt x="52" y="167"/>
                    <a:pt x="57" y="185"/>
                    <a:pt x="62" y="194"/>
                  </a:cubicBezTo>
                  <a:cubicBezTo>
                    <a:pt x="63" y="196"/>
                    <a:pt x="63" y="199"/>
                    <a:pt x="61" y="201"/>
                  </a:cubicBezTo>
                  <a:cubicBezTo>
                    <a:pt x="38" y="224"/>
                    <a:pt x="38" y="224"/>
                    <a:pt x="38" y="224"/>
                  </a:cubicBezTo>
                  <a:cubicBezTo>
                    <a:pt x="63" y="250"/>
                    <a:pt x="63" y="250"/>
                    <a:pt x="63" y="250"/>
                  </a:cubicBezTo>
                  <a:cubicBezTo>
                    <a:pt x="87" y="226"/>
                    <a:pt x="87" y="226"/>
                    <a:pt x="87" y="226"/>
                  </a:cubicBezTo>
                  <a:cubicBezTo>
                    <a:pt x="88" y="224"/>
                    <a:pt x="92" y="224"/>
                    <a:pt x="94" y="226"/>
                  </a:cubicBezTo>
                  <a:cubicBezTo>
                    <a:pt x="103" y="231"/>
                    <a:pt x="121" y="235"/>
                    <a:pt x="127" y="237"/>
                  </a:cubicBezTo>
                  <a:cubicBezTo>
                    <a:pt x="130" y="238"/>
                    <a:pt x="132" y="240"/>
                    <a:pt x="132" y="243"/>
                  </a:cubicBezTo>
                  <a:cubicBezTo>
                    <a:pt x="132" y="276"/>
                    <a:pt x="132" y="276"/>
                    <a:pt x="132" y="276"/>
                  </a:cubicBezTo>
                  <a:cubicBezTo>
                    <a:pt x="156" y="276"/>
                    <a:pt x="156" y="276"/>
                    <a:pt x="156" y="276"/>
                  </a:cubicBezTo>
                  <a:cubicBezTo>
                    <a:pt x="156" y="243"/>
                    <a:pt x="156" y="243"/>
                    <a:pt x="156" y="243"/>
                  </a:cubicBezTo>
                  <a:cubicBezTo>
                    <a:pt x="156" y="240"/>
                    <a:pt x="158" y="238"/>
                    <a:pt x="160" y="237"/>
                  </a:cubicBezTo>
                  <a:cubicBezTo>
                    <a:pt x="167" y="235"/>
                    <a:pt x="185" y="231"/>
                    <a:pt x="194" y="226"/>
                  </a:cubicBezTo>
                  <a:cubicBezTo>
                    <a:pt x="196" y="224"/>
                    <a:pt x="199" y="224"/>
                    <a:pt x="201" y="226"/>
                  </a:cubicBezTo>
                  <a:cubicBezTo>
                    <a:pt x="224" y="250"/>
                    <a:pt x="224" y="250"/>
                    <a:pt x="224" y="250"/>
                  </a:cubicBezTo>
                  <a:cubicBezTo>
                    <a:pt x="250" y="224"/>
                    <a:pt x="250" y="224"/>
                    <a:pt x="250" y="224"/>
                  </a:cubicBezTo>
                  <a:cubicBezTo>
                    <a:pt x="227" y="201"/>
                    <a:pt x="227" y="201"/>
                    <a:pt x="227" y="201"/>
                  </a:cubicBezTo>
                  <a:cubicBezTo>
                    <a:pt x="225" y="199"/>
                    <a:pt x="224" y="196"/>
                    <a:pt x="226" y="194"/>
                  </a:cubicBezTo>
                  <a:cubicBezTo>
                    <a:pt x="231" y="185"/>
                    <a:pt x="235" y="167"/>
                    <a:pt x="237" y="160"/>
                  </a:cubicBezTo>
                  <a:cubicBezTo>
                    <a:pt x="238" y="158"/>
                    <a:pt x="240" y="156"/>
                    <a:pt x="243" y="156"/>
                  </a:cubicBezTo>
                  <a:cubicBezTo>
                    <a:pt x="276" y="156"/>
                    <a:pt x="276" y="156"/>
                    <a:pt x="276" y="156"/>
                  </a:cubicBezTo>
                  <a:cubicBezTo>
                    <a:pt x="276" y="132"/>
                    <a:pt x="276" y="132"/>
                    <a:pt x="276" y="132"/>
                  </a:cubicBezTo>
                  <a:cubicBezTo>
                    <a:pt x="243" y="132"/>
                    <a:pt x="243" y="132"/>
                    <a:pt x="243" y="132"/>
                  </a:cubicBezTo>
                  <a:cubicBezTo>
                    <a:pt x="240" y="132"/>
                    <a:pt x="238" y="130"/>
                    <a:pt x="237" y="127"/>
                  </a:cubicBezTo>
                  <a:cubicBezTo>
                    <a:pt x="236" y="121"/>
                    <a:pt x="234" y="114"/>
                    <a:pt x="231" y="107"/>
                  </a:cubicBezTo>
                  <a:cubicBezTo>
                    <a:pt x="230" y="103"/>
                    <a:pt x="232" y="100"/>
                    <a:pt x="235" y="99"/>
                  </a:cubicBezTo>
                  <a:cubicBezTo>
                    <a:pt x="238" y="98"/>
                    <a:pt x="242" y="100"/>
                    <a:pt x="243" y="103"/>
                  </a:cubicBezTo>
                  <a:cubicBezTo>
                    <a:pt x="245" y="108"/>
                    <a:pt x="246" y="114"/>
                    <a:pt x="248" y="120"/>
                  </a:cubicBezTo>
                  <a:cubicBezTo>
                    <a:pt x="282" y="120"/>
                    <a:pt x="282" y="120"/>
                    <a:pt x="282" y="120"/>
                  </a:cubicBezTo>
                  <a:cubicBezTo>
                    <a:pt x="285" y="120"/>
                    <a:pt x="288" y="122"/>
                    <a:pt x="288" y="126"/>
                  </a:cubicBezTo>
                  <a:cubicBezTo>
                    <a:pt x="288" y="162"/>
                    <a:pt x="288" y="162"/>
                    <a:pt x="288" y="162"/>
                  </a:cubicBezTo>
                  <a:cubicBezTo>
                    <a:pt x="288" y="165"/>
                    <a:pt x="285" y="168"/>
                    <a:pt x="282" y="168"/>
                  </a:cubicBezTo>
                  <a:cubicBezTo>
                    <a:pt x="248" y="168"/>
                    <a:pt x="248" y="168"/>
                    <a:pt x="248" y="168"/>
                  </a:cubicBezTo>
                  <a:cubicBezTo>
                    <a:pt x="245" y="177"/>
                    <a:pt x="242" y="188"/>
                    <a:pt x="238" y="196"/>
                  </a:cubicBezTo>
                  <a:cubicBezTo>
                    <a:pt x="263" y="220"/>
                    <a:pt x="263" y="220"/>
                    <a:pt x="263" y="220"/>
                  </a:cubicBezTo>
                  <a:cubicBezTo>
                    <a:pt x="265" y="222"/>
                    <a:pt x="265" y="226"/>
                    <a:pt x="263" y="229"/>
                  </a:cubicBezTo>
                  <a:cubicBezTo>
                    <a:pt x="229" y="262"/>
                    <a:pt x="229" y="262"/>
                    <a:pt x="229" y="262"/>
                  </a:cubicBezTo>
                  <a:cubicBezTo>
                    <a:pt x="226" y="265"/>
                    <a:pt x="223" y="265"/>
                    <a:pt x="220" y="262"/>
                  </a:cubicBezTo>
                  <a:cubicBezTo>
                    <a:pt x="196" y="238"/>
                    <a:pt x="196" y="238"/>
                    <a:pt x="196" y="238"/>
                  </a:cubicBezTo>
                  <a:cubicBezTo>
                    <a:pt x="188" y="242"/>
                    <a:pt x="177" y="245"/>
                    <a:pt x="168" y="247"/>
                  </a:cubicBezTo>
                  <a:cubicBezTo>
                    <a:pt x="168" y="282"/>
                    <a:pt x="168" y="282"/>
                    <a:pt x="168" y="282"/>
                  </a:cubicBezTo>
                  <a:cubicBezTo>
                    <a:pt x="168" y="285"/>
                    <a:pt x="165" y="288"/>
                    <a:pt x="162" y="2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8933343A-C9D4-8B7F-A236-81C73F22C0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7" y="437"/>
              <a:ext cx="299" cy="265"/>
            </a:xfrm>
            <a:custGeom>
              <a:avLst/>
              <a:gdLst>
                <a:gd name="T0" fmla="*/ 61 w 202"/>
                <a:gd name="T1" fmla="*/ 179 h 179"/>
                <a:gd name="T2" fmla="*/ 56 w 202"/>
                <a:gd name="T3" fmla="*/ 177 h 179"/>
                <a:gd name="T4" fmla="*/ 3 w 202"/>
                <a:gd name="T5" fmla="*/ 124 h 179"/>
                <a:gd name="T6" fmla="*/ 3 w 202"/>
                <a:gd name="T7" fmla="*/ 115 h 179"/>
                <a:gd name="T8" fmla="*/ 11 w 202"/>
                <a:gd name="T9" fmla="*/ 115 h 179"/>
                <a:gd name="T10" fmla="*/ 60 w 202"/>
                <a:gd name="T11" fmla="*/ 164 h 179"/>
                <a:gd name="T12" fmla="*/ 190 w 202"/>
                <a:gd name="T13" fmla="*/ 3 h 179"/>
                <a:gd name="T14" fmla="*/ 199 w 202"/>
                <a:gd name="T15" fmla="*/ 2 h 179"/>
                <a:gd name="T16" fmla="*/ 200 w 202"/>
                <a:gd name="T17" fmla="*/ 10 h 179"/>
                <a:gd name="T18" fmla="*/ 65 w 202"/>
                <a:gd name="T19" fmla="*/ 177 h 179"/>
                <a:gd name="T20" fmla="*/ 61 w 202"/>
                <a:gd name="T21" fmla="*/ 179 h 179"/>
                <a:gd name="T22" fmla="*/ 61 w 202"/>
                <a:gd name="T23" fmla="*/ 179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2" h="179">
                  <a:moveTo>
                    <a:pt x="61" y="179"/>
                  </a:moveTo>
                  <a:cubicBezTo>
                    <a:pt x="59" y="179"/>
                    <a:pt x="57" y="179"/>
                    <a:pt x="56" y="177"/>
                  </a:cubicBezTo>
                  <a:cubicBezTo>
                    <a:pt x="3" y="124"/>
                    <a:pt x="3" y="124"/>
                    <a:pt x="3" y="124"/>
                  </a:cubicBezTo>
                  <a:cubicBezTo>
                    <a:pt x="0" y="121"/>
                    <a:pt x="0" y="118"/>
                    <a:pt x="3" y="115"/>
                  </a:cubicBezTo>
                  <a:cubicBezTo>
                    <a:pt x="5" y="113"/>
                    <a:pt x="9" y="113"/>
                    <a:pt x="11" y="115"/>
                  </a:cubicBezTo>
                  <a:cubicBezTo>
                    <a:pt x="60" y="164"/>
                    <a:pt x="60" y="164"/>
                    <a:pt x="60" y="164"/>
                  </a:cubicBezTo>
                  <a:cubicBezTo>
                    <a:pt x="190" y="3"/>
                    <a:pt x="190" y="3"/>
                    <a:pt x="190" y="3"/>
                  </a:cubicBezTo>
                  <a:cubicBezTo>
                    <a:pt x="192" y="0"/>
                    <a:pt x="196" y="0"/>
                    <a:pt x="199" y="2"/>
                  </a:cubicBezTo>
                  <a:cubicBezTo>
                    <a:pt x="201" y="4"/>
                    <a:pt x="202" y="8"/>
                    <a:pt x="200" y="10"/>
                  </a:cubicBezTo>
                  <a:cubicBezTo>
                    <a:pt x="65" y="177"/>
                    <a:pt x="65" y="177"/>
                    <a:pt x="65" y="177"/>
                  </a:cubicBezTo>
                  <a:cubicBezTo>
                    <a:pt x="64" y="178"/>
                    <a:pt x="63" y="179"/>
                    <a:pt x="61" y="179"/>
                  </a:cubicBezTo>
                  <a:cubicBezTo>
                    <a:pt x="61" y="179"/>
                    <a:pt x="61" y="179"/>
                    <a:pt x="61" y="17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3F58896-5EB0-EBD8-8B84-41941F4E5EEC}"/>
              </a:ext>
            </a:extLst>
          </p:cNvPr>
          <p:cNvGrpSpPr/>
          <p:nvPr/>
        </p:nvGrpSpPr>
        <p:grpSpPr>
          <a:xfrm rot="5400000">
            <a:off x="11261582" y="1218952"/>
            <a:ext cx="720000" cy="720000"/>
            <a:chOff x="13338894" y="1587234"/>
            <a:chExt cx="720000" cy="7200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59DA8B9-96FF-31AD-2ED9-1029EA7336F0}"/>
                </a:ext>
              </a:extLst>
            </p:cNvPr>
            <p:cNvSpPr/>
            <p:nvPr/>
          </p:nvSpPr>
          <p:spPr>
            <a:xfrm flipV="1">
              <a:off x="13338894" y="1587234"/>
              <a:ext cx="720000" cy="720000"/>
            </a:xfrm>
            <a:prstGeom prst="ellipse">
              <a:avLst/>
            </a:prstGeom>
            <a:solidFill>
              <a:schemeClr val="bg1"/>
            </a:solidFill>
            <a:ln w="22225" cap="flat" cmpd="sng" algn="ctr">
              <a:solidFill>
                <a:srgbClr val="7500C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grpSp>
          <p:nvGrpSpPr>
            <p:cNvPr id="10" name="Group 104">
              <a:extLst>
                <a:ext uri="{FF2B5EF4-FFF2-40B4-BE49-F238E27FC236}">
                  <a16:creationId xmlns:a16="http://schemas.microsoft.com/office/drawing/2014/main" id="{323C71F6-459A-60A0-911D-DD56D89A6FD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524907" y="1698240"/>
              <a:ext cx="347973" cy="523184"/>
              <a:chOff x="1443" y="2997"/>
              <a:chExt cx="284" cy="427"/>
            </a:xfrm>
            <a:solidFill>
              <a:srgbClr val="7500C0"/>
            </a:solidFill>
          </p:grpSpPr>
          <p:sp>
            <p:nvSpPr>
              <p:cNvPr id="11" name="Freeform 105">
                <a:extLst>
                  <a:ext uri="{FF2B5EF4-FFF2-40B4-BE49-F238E27FC236}">
                    <a16:creationId xmlns:a16="http://schemas.microsoft.com/office/drawing/2014/main" id="{D3A29D9B-8FE0-1DC7-1175-CF824425CB1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62" y="3104"/>
                <a:ext cx="261" cy="320"/>
              </a:xfrm>
              <a:custGeom>
                <a:avLst/>
                <a:gdLst>
                  <a:gd name="T0" fmla="*/ 155 w 176"/>
                  <a:gd name="T1" fmla="*/ 216 h 216"/>
                  <a:gd name="T2" fmla="*/ 59 w 176"/>
                  <a:gd name="T3" fmla="*/ 216 h 216"/>
                  <a:gd name="T4" fmla="*/ 54 w 176"/>
                  <a:gd name="T5" fmla="*/ 213 h 216"/>
                  <a:gd name="T6" fmla="*/ 6 w 176"/>
                  <a:gd name="T7" fmla="*/ 141 h 216"/>
                  <a:gd name="T8" fmla="*/ 4 w 176"/>
                  <a:gd name="T9" fmla="*/ 116 h 216"/>
                  <a:gd name="T10" fmla="*/ 17 w 176"/>
                  <a:gd name="T11" fmla="*/ 108 h 216"/>
                  <a:gd name="T12" fmla="*/ 59 w 176"/>
                  <a:gd name="T13" fmla="*/ 137 h 216"/>
                  <a:gd name="T14" fmla="*/ 59 w 176"/>
                  <a:gd name="T15" fmla="*/ 24 h 216"/>
                  <a:gd name="T16" fmla="*/ 83 w 176"/>
                  <a:gd name="T17" fmla="*/ 0 h 216"/>
                  <a:gd name="T18" fmla="*/ 107 w 176"/>
                  <a:gd name="T19" fmla="*/ 24 h 216"/>
                  <a:gd name="T20" fmla="*/ 107 w 176"/>
                  <a:gd name="T21" fmla="*/ 92 h 216"/>
                  <a:gd name="T22" fmla="*/ 156 w 176"/>
                  <a:gd name="T23" fmla="*/ 108 h 216"/>
                  <a:gd name="T24" fmla="*/ 173 w 176"/>
                  <a:gd name="T25" fmla="*/ 145 h 216"/>
                  <a:gd name="T26" fmla="*/ 161 w 176"/>
                  <a:gd name="T27" fmla="*/ 211 h 216"/>
                  <a:gd name="T28" fmla="*/ 155 w 176"/>
                  <a:gd name="T29" fmla="*/ 216 h 216"/>
                  <a:gd name="T30" fmla="*/ 62 w 176"/>
                  <a:gd name="T31" fmla="*/ 204 h 216"/>
                  <a:gd name="T32" fmla="*/ 150 w 176"/>
                  <a:gd name="T33" fmla="*/ 204 h 216"/>
                  <a:gd name="T34" fmla="*/ 161 w 176"/>
                  <a:gd name="T35" fmla="*/ 143 h 216"/>
                  <a:gd name="T36" fmla="*/ 152 w 176"/>
                  <a:gd name="T37" fmla="*/ 120 h 216"/>
                  <a:gd name="T38" fmla="*/ 99 w 176"/>
                  <a:gd name="T39" fmla="*/ 102 h 216"/>
                  <a:gd name="T40" fmla="*/ 95 w 176"/>
                  <a:gd name="T41" fmla="*/ 96 h 216"/>
                  <a:gd name="T42" fmla="*/ 95 w 176"/>
                  <a:gd name="T43" fmla="*/ 24 h 216"/>
                  <a:gd name="T44" fmla="*/ 83 w 176"/>
                  <a:gd name="T45" fmla="*/ 12 h 216"/>
                  <a:gd name="T46" fmla="*/ 71 w 176"/>
                  <a:gd name="T47" fmla="*/ 24 h 216"/>
                  <a:gd name="T48" fmla="*/ 71 w 176"/>
                  <a:gd name="T49" fmla="*/ 156 h 216"/>
                  <a:gd name="T50" fmla="*/ 67 w 176"/>
                  <a:gd name="T51" fmla="*/ 162 h 216"/>
                  <a:gd name="T52" fmla="*/ 60 w 176"/>
                  <a:gd name="T53" fmla="*/ 159 h 216"/>
                  <a:gd name="T54" fmla="*/ 17 w 176"/>
                  <a:gd name="T55" fmla="*/ 120 h 216"/>
                  <a:gd name="T56" fmla="*/ 14 w 176"/>
                  <a:gd name="T57" fmla="*/ 121 h 216"/>
                  <a:gd name="T58" fmla="*/ 16 w 176"/>
                  <a:gd name="T59" fmla="*/ 135 h 216"/>
                  <a:gd name="T60" fmla="*/ 62 w 176"/>
                  <a:gd name="T61" fmla="*/ 204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76" h="216">
                    <a:moveTo>
                      <a:pt x="155" y="216"/>
                    </a:moveTo>
                    <a:cubicBezTo>
                      <a:pt x="59" y="216"/>
                      <a:pt x="59" y="216"/>
                      <a:pt x="59" y="216"/>
                    </a:cubicBezTo>
                    <a:cubicBezTo>
                      <a:pt x="57" y="216"/>
                      <a:pt x="55" y="215"/>
                      <a:pt x="54" y="213"/>
                    </a:cubicBezTo>
                    <a:cubicBezTo>
                      <a:pt x="6" y="141"/>
                      <a:pt x="6" y="141"/>
                      <a:pt x="6" y="141"/>
                    </a:cubicBezTo>
                    <a:cubicBezTo>
                      <a:pt x="2" y="135"/>
                      <a:pt x="0" y="124"/>
                      <a:pt x="4" y="116"/>
                    </a:cubicBezTo>
                    <a:cubicBezTo>
                      <a:pt x="6" y="111"/>
                      <a:pt x="11" y="108"/>
                      <a:pt x="17" y="108"/>
                    </a:cubicBezTo>
                    <a:cubicBezTo>
                      <a:pt x="30" y="108"/>
                      <a:pt x="42" y="113"/>
                      <a:pt x="59" y="137"/>
                    </a:cubicBezTo>
                    <a:cubicBezTo>
                      <a:pt x="59" y="24"/>
                      <a:pt x="59" y="24"/>
                      <a:pt x="59" y="24"/>
                    </a:cubicBezTo>
                    <a:cubicBezTo>
                      <a:pt x="59" y="11"/>
                      <a:pt x="70" y="0"/>
                      <a:pt x="83" y="0"/>
                    </a:cubicBezTo>
                    <a:cubicBezTo>
                      <a:pt x="96" y="0"/>
                      <a:pt x="107" y="11"/>
                      <a:pt x="107" y="24"/>
                    </a:cubicBezTo>
                    <a:cubicBezTo>
                      <a:pt x="107" y="92"/>
                      <a:pt x="107" y="92"/>
                      <a:pt x="107" y="92"/>
                    </a:cubicBezTo>
                    <a:cubicBezTo>
                      <a:pt x="156" y="108"/>
                      <a:pt x="156" y="108"/>
                      <a:pt x="156" y="108"/>
                    </a:cubicBezTo>
                    <a:cubicBezTo>
                      <a:pt x="172" y="113"/>
                      <a:pt x="176" y="131"/>
                      <a:pt x="173" y="145"/>
                    </a:cubicBezTo>
                    <a:cubicBezTo>
                      <a:pt x="161" y="211"/>
                      <a:pt x="161" y="211"/>
                      <a:pt x="161" y="211"/>
                    </a:cubicBezTo>
                    <a:cubicBezTo>
                      <a:pt x="161" y="214"/>
                      <a:pt x="158" y="216"/>
                      <a:pt x="155" y="216"/>
                    </a:cubicBezTo>
                    <a:close/>
                    <a:moveTo>
                      <a:pt x="62" y="204"/>
                    </a:moveTo>
                    <a:cubicBezTo>
                      <a:pt x="150" y="204"/>
                      <a:pt x="150" y="204"/>
                      <a:pt x="150" y="204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3" y="134"/>
                      <a:pt x="161" y="123"/>
                      <a:pt x="152" y="120"/>
                    </a:cubicBezTo>
                    <a:cubicBezTo>
                      <a:pt x="99" y="102"/>
                      <a:pt x="99" y="102"/>
                      <a:pt x="99" y="102"/>
                    </a:cubicBezTo>
                    <a:cubicBezTo>
                      <a:pt x="97" y="101"/>
                      <a:pt x="95" y="99"/>
                      <a:pt x="95" y="96"/>
                    </a:cubicBezTo>
                    <a:cubicBezTo>
                      <a:pt x="95" y="24"/>
                      <a:pt x="95" y="24"/>
                      <a:pt x="95" y="24"/>
                    </a:cubicBezTo>
                    <a:cubicBezTo>
                      <a:pt x="95" y="17"/>
                      <a:pt x="90" y="12"/>
                      <a:pt x="83" y="12"/>
                    </a:cubicBezTo>
                    <a:cubicBezTo>
                      <a:pt x="77" y="12"/>
                      <a:pt x="71" y="18"/>
                      <a:pt x="71" y="24"/>
                    </a:cubicBezTo>
                    <a:cubicBezTo>
                      <a:pt x="71" y="156"/>
                      <a:pt x="71" y="156"/>
                      <a:pt x="71" y="156"/>
                    </a:cubicBezTo>
                    <a:cubicBezTo>
                      <a:pt x="71" y="159"/>
                      <a:pt x="69" y="161"/>
                      <a:pt x="67" y="162"/>
                    </a:cubicBezTo>
                    <a:cubicBezTo>
                      <a:pt x="64" y="163"/>
                      <a:pt x="62" y="162"/>
                      <a:pt x="60" y="159"/>
                    </a:cubicBezTo>
                    <a:cubicBezTo>
                      <a:pt x="37" y="123"/>
                      <a:pt x="26" y="120"/>
                      <a:pt x="17" y="120"/>
                    </a:cubicBezTo>
                    <a:cubicBezTo>
                      <a:pt x="15" y="120"/>
                      <a:pt x="15" y="121"/>
                      <a:pt x="14" y="121"/>
                    </a:cubicBezTo>
                    <a:cubicBezTo>
                      <a:pt x="13" y="124"/>
                      <a:pt x="14" y="131"/>
                      <a:pt x="16" y="135"/>
                    </a:cubicBezTo>
                    <a:lnTo>
                      <a:pt x="62" y="20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2" name="Freeform 106">
                <a:extLst>
                  <a:ext uri="{FF2B5EF4-FFF2-40B4-BE49-F238E27FC236}">
                    <a16:creationId xmlns:a16="http://schemas.microsoft.com/office/drawing/2014/main" id="{DEAD2D63-95F0-399C-838C-19838B392C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6" y="3122"/>
                <a:ext cx="71" cy="17"/>
              </a:xfrm>
              <a:custGeom>
                <a:avLst/>
                <a:gdLst>
                  <a:gd name="T0" fmla="*/ 42 w 48"/>
                  <a:gd name="T1" fmla="*/ 12 h 12"/>
                  <a:gd name="T2" fmla="*/ 6 w 48"/>
                  <a:gd name="T3" fmla="*/ 12 h 12"/>
                  <a:gd name="T4" fmla="*/ 0 w 48"/>
                  <a:gd name="T5" fmla="*/ 6 h 12"/>
                  <a:gd name="T6" fmla="*/ 6 w 48"/>
                  <a:gd name="T7" fmla="*/ 0 h 12"/>
                  <a:gd name="T8" fmla="*/ 42 w 48"/>
                  <a:gd name="T9" fmla="*/ 0 h 12"/>
                  <a:gd name="T10" fmla="*/ 48 w 48"/>
                  <a:gd name="T11" fmla="*/ 6 h 12"/>
                  <a:gd name="T12" fmla="*/ 42 w 48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12">
                    <a:moveTo>
                      <a:pt x="42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6" y="0"/>
                      <a:pt x="48" y="3"/>
                      <a:pt x="48" y="6"/>
                    </a:cubicBezTo>
                    <a:cubicBezTo>
                      <a:pt x="48" y="9"/>
                      <a:pt x="46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3" name="Freeform 107">
                <a:extLst>
                  <a:ext uri="{FF2B5EF4-FFF2-40B4-BE49-F238E27FC236}">
                    <a16:creationId xmlns:a16="http://schemas.microsoft.com/office/drawing/2014/main" id="{C3BAD39C-AF91-19DD-98A9-3AA7DD511D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8" y="3031"/>
                <a:ext cx="55" cy="55"/>
              </a:xfrm>
              <a:custGeom>
                <a:avLst/>
                <a:gdLst>
                  <a:gd name="T0" fmla="*/ 6 w 37"/>
                  <a:gd name="T1" fmla="*/ 37 h 37"/>
                  <a:gd name="T2" fmla="*/ 2 w 37"/>
                  <a:gd name="T3" fmla="*/ 35 h 37"/>
                  <a:gd name="T4" fmla="*/ 2 w 37"/>
                  <a:gd name="T5" fmla="*/ 27 h 37"/>
                  <a:gd name="T6" fmla="*/ 26 w 37"/>
                  <a:gd name="T7" fmla="*/ 3 h 37"/>
                  <a:gd name="T8" fmla="*/ 34 w 37"/>
                  <a:gd name="T9" fmla="*/ 3 h 37"/>
                  <a:gd name="T10" fmla="*/ 34 w 37"/>
                  <a:gd name="T11" fmla="*/ 11 h 37"/>
                  <a:gd name="T12" fmla="*/ 10 w 37"/>
                  <a:gd name="T13" fmla="*/ 35 h 37"/>
                  <a:gd name="T14" fmla="*/ 6 w 37"/>
                  <a:gd name="T15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7" h="37">
                    <a:moveTo>
                      <a:pt x="6" y="37"/>
                    </a:moveTo>
                    <a:cubicBezTo>
                      <a:pt x="5" y="37"/>
                      <a:pt x="3" y="36"/>
                      <a:pt x="2" y="35"/>
                    </a:cubicBezTo>
                    <a:cubicBezTo>
                      <a:pt x="0" y="33"/>
                      <a:pt x="0" y="29"/>
                      <a:pt x="2" y="27"/>
                    </a:cubicBezTo>
                    <a:cubicBezTo>
                      <a:pt x="26" y="3"/>
                      <a:pt x="26" y="3"/>
                      <a:pt x="26" y="3"/>
                    </a:cubicBezTo>
                    <a:cubicBezTo>
                      <a:pt x="28" y="0"/>
                      <a:pt x="32" y="0"/>
                      <a:pt x="34" y="3"/>
                    </a:cubicBezTo>
                    <a:cubicBezTo>
                      <a:pt x="37" y="5"/>
                      <a:pt x="37" y="9"/>
                      <a:pt x="34" y="11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9" y="36"/>
                      <a:pt x="8" y="37"/>
                      <a:pt x="6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4" name="Freeform 108">
                <a:extLst>
                  <a:ext uri="{FF2B5EF4-FFF2-40B4-BE49-F238E27FC236}">
                    <a16:creationId xmlns:a16="http://schemas.microsoft.com/office/drawing/2014/main" id="{8F89A214-F226-09AF-8DAF-C92AAF5AAE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5" y="2997"/>
                <a:ext cx="18" cy="71"/>
              </a:xfrm>
              <a:custGeom>
                <a:avLst/>
                <a:gdLst>
                  <a:gd name="T0" fmla="*/ 6 w 12"/>
                  <a:gd name="T1" fmla="*/ 48 h 48"/>
                  <a:gd name="T2" fmla="*/ 0 w 12"/>
                  <a:gd name="T3" fmla="*/ 42 h 48"/>
                  <a:gd name="T4" fmla="*/ 0 w 12"/>
                  <a:gd name="T5" fmla="*/ 6 h 48"/>
                  <a:gd name="T6" fmla="*/ 6 w 12"/>
                  <a:gd name="T7" fmla="*/ 0 h 48"/>
                  <a:gd name="T8" fmla="*/ 12 w 12"/>
                  <a:gd name="T9" fmla="*/ 6 h 48"/>
                  <a:gd name="T10" fmla="*/ 12 w 12"/>
                  <a:gd name="T11" fmla="*/ 42 h 48"/>
                  <a:gd name="T12" fmla="*/ 6 w 12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48">
                    <a:moveTo>
                      <a:pt x="6" y="48"/>
                    </a:moveTo>
                    <a:cubicBezTo>
                      <a:pt x="3" y="48"/>
                      <a:pt x="0" y="45"/>
                      <a:pt x="0" y="42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0" y="0"/>
                      <a:pt x="12" y="3"/>
                      <a:pt x="12" y="6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2" y="45"/>
                      <a:pt x="10" y="48"/>
                      <a:pt x="6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5" name="Freeform 109">
                <a:extLst>
                  <a:ext uri="{FF2B5EF4-FFF2-40B4-BE49-F238E27FC236}">
                    <a16:creationId xmlns:a16="http://schemas.microsoft.com/office/drawing/2014/main" id="{544CBDB1-6FBE-080E-1605-A602930569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8" y="3031"/>
                <a:ext cx="55" cy="55"/>
              </a:xfrm>
              <a:custGeom>
                <a:avLst/>
                <a:gdLst>
                  <a:gd name="T0" fmla="*/ 30 w 37"/>
                  <a:gd name="T1" fmla="*/ 37 h 37"/>
                  <a:gd name="T2" fmla="*/ 26 w 37"/>
                  <a:gd name="T3" fmla="*/ 35 h 37"/>
                  <a:gd name="T4" fmla="*/ 2 w 37"/>
                  <a:gd name="T5" fmla="*/ 11 h 37"/>
                  <a:gd name="T6" fmla="*/ 2 w 37"/>
                  <a:gd name="T7" fmla="*/ 3 h 37"/>
                  <a:gd name="T8" fmla="*/ 10 w 37"/>
                  <a:gd name="T9" fmla="*/ 3 h 37"/>
                  <a:gd name="T10" fmla="*/ 34 w 37"/>
                  <a:gd name="T11" fmla="*/ 27 h 37"/>
                  <a:gd name="T12" fmla="*/ 34 w 37"/>
                  <a:gd name="T13" fmla="*/ 35 h 37"/>
                  <a:gd name="T14" fmla="*/ 30 w 37"/>
                  <a:gd name="T15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7" h="37">
                    <a:moveTo>
                      <a:pt x="30" y="37"/>
                    </a:moveTo>
                    <a:cubicBezTo>
                      <a:pt x="29" y="37"/>
                      <a:pt x="27" y="36"/>
                      <a:pt x="26" y="35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0" y="9"/>
                      <a:pt x="0" y="5"/>
                      <a:pt x="2" y="3"/>
                    </a:cubicBezTo>
                    <a:cubicBezTo>
                      <a:pt x="4" y="0"/>
                      <a:pt x="8" y="0"/>
                      <a:pt x="10" y="3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7" y="29"/>
                      <a:pt x="37" y="33"/>
                      <a:pt x="34" y="35"/>
                    </a:cubicBezTo>
                    <a:cubicBezTo>
                      <a:pt x="33" y="36"/>
                      <a:pt x="32" y="37"/>
                      <a:pt x="30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6" name="Freeform 110">
                <a:extLst>
                  <a:ext uri="{FF2B5EF4-FFF2-40B4-BE49-F238E27FC236}">
                    <a16:creationId xmlns:a16="http://schemas.microsoft.com/office/drawing/2014/main" id="{0134D0DD-6AFF-7C0E-C7AD-B5BFECEDA6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3" y="3122"/>
                <a:ext cx="71" cy="17"/>
              </a:xfrm>
              <a:custGeom>
                <a:avLst/>
                <a:gdLst>
                  <a:gd name="T0" fmla="*/ 42 w 48"/>
                  <a:gd name="T1" fmla="*/ 12 h 12"/>
                  <a:gd name="T2" fmla="*/ 6 w 48"/>
                  <a:gd name="T3" fmla="*/ 12 h 12"/>
                  <a:gd name="T4" fmla="*/ 0 w 48"/>
                  <a:gd name="T5" fmla="*/ 6 h 12"/>
                  <a:gd name="T6" fmla="*/ 6 w 48"/>
                  <a:gd name="T7" fmla="*/ 0 h 12"/>
                  <a:gd name="T8" fmla="*/ 42 w 48"/>
                  <a:gd name="T9" fmla="*/ 0 h 12"/>
                  <a:gd name="T10" fmla="*/ 48 w 48"/>
                  <a:gd name="T11" fmla="*/ 6 h 12"/>
                  <a:gd name="T12" fmla="*/ 42 w 48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12">
                    <a:moveTo>
                      <a:pt x="42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6" y="0"/>
                      <a:pt x="48" y="3"/>
                      <a:pt x="48" y="6"/>
                    </a:cubicBezTo>
                    <a:cubicBezTo>
                      <a:pt x="48" y="9"/>
                      <a:pt x="46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12074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CD896-C747-5E22-1542-0F0BAB07F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6A358C-9A42-CB74-3BF5-2343C4CB08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"/>
            <a:ext cx="12191996" cy="6858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F9D787-04D5-3144-B2A6-2819F0A534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94" y="69427"/>
            <a:ext cx="12083448" cy="4775528"/>
          </a:xfrm>
          <a:prstGeom prst="rect">
            <a:avLst/>
          </a:prstGeom>
        </p:spPr>
      </p:pic>
      <p:sp>
        <p:nvSpPr>
          <p:cNvPr id="33" name="Arrow: Left 32">
            <a:hlinkClick r:id="rId5" action="ppaction://hlinksldjump"/>
            <a:extLst>
              <a:ext uri="{FF2B5EF4-FFF2-40B4-BE49-F238E27FC236}">
                <a16:creationId xmlns:a16="http://schemas.microsoft.com/office/drawing/2014/main" id="{7CB89806-B805-9090-E78D-E6ABE7A69B6C}"/>
              </a:ext>
            </a:extLst>
          </p:cNvPr>
          <p:cNvSpPr/>
          <p:nvPr/>
        </p:nvSpPr>
        <p:spPr>
          <a:xfrm>
            <a:off x="11506534" y="193325"/>
            <a:ext cx="475048" cy="319931"/>
          </a:xfrm>
          <a:prstGeom prst="lef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5" name="Picture 24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1C8EA3CD-6B84-B434-F8E5-DCBEFC42B6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482516"/>
            <a:ext cx="192024" cy="20232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BD9520A-EFA4-ACDA-9611-89CF950ADE66}"/>
              </a:ext>
            </a:extLst>
          </p:cNvPr>
          <p:cNvSpPr txBox="1"/>
          <p:nvPr/>
        </p:nvSpPr>
        <p:spPr>
          <a:xfrm>
            <a:off x="622890" y="4969647"/>
            <a:ext cx="6929500" cy="1943618"/>
          </a:xfrm>
          <a:prstGeom prst="rect">
            <a:avLst/>
          </a:prstGeom>
          <a:noFill/>
        </p:spPr>
        <p:txBody>
          <a:bodyPr wrap="square" lIns="0" tIns="0" rIns="0" bIns="0" numCol="1" rtlCol="0" anchor="ctr">
            <a:noAutofit/>
          </a:bodyPr>
          <a:lstStyle/>
          <a:p>
            <a:pPr defTabSz="228600">
              <a:spcAft>
                <a:spcPts val="1200"/>
              </a:spcAft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What you need to do</a:t>
            </a:r>
          </a:p>
          <a:p>
            <a:pPr defTabSz="228600">
              <a:spcAft>
                <a:spcPts val="1200"/>
              </a:spcAft>
              <a:defRPr/>
            </a:pPr>
            <a:r>
              <a:rPr lang="en-US" sz="1200" b="1" dirty="0">
                <a:solidFill>
                  <a:srgbClr val="FFFFFF"/>
                </a:solidFill>
                <a:latin typeface="Graphik"/>
              </a:rPr>
              <a:t>Review the Claim Result: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FFFFFF"/>
                </a:solidFill>
                <a:latin typeface="Graphik"/>
              </a:rPr>
              <a:t>On the Take Action section, choose how you want to proceed with the claim: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FFFFFF"/>
                </a:solidFill>
                <a:latin typeface="Graphik"/>
              </a:rPr>
              <a:t>Reject Claim: If you prefer to manually handle the claim outside the automated workflow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FFFFFF"/>
                </a:solidFill>
                <a:latin typeface="Graphik"/>
              </a:rPr>
              <a:t>Put on Hold: If you need time to consult with the clinical team or peers before deciding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FFFFFF"/>
                </a:solidFill>
                <a:latin typeface="Graphik"/>
              </a:rPr>
              <a:t>Confirm &amp; Post Outcome: if you are ready to finalize the claim outcome and post results to the claim system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FFFFFF"/>
                </a:solidFill>
                <a:latin typeface="Graphik"/>
              </a:rPr>
              <a:t>Click ‘Confirm &amp; Post’ in the pop up to complete the review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200" dirty="0">
              <a:solidFill>
                <a:srgbClr val="FFFFFF"/>
              </a:solidFill>
              <a:latin typeface="Graphik"/>
            </a:endParaRPr>
          </a:p>
        </p:txBody>
      </p:sp>
      <p:pic>
        <p:nvPicPr>
          <p:cNvPr id="28" name="Graphic 27" descr="User with solid fill">
            <a:extLst>
              <a:ext uri="{FF2B5EF4-FFF2-40B4-BE49-F238E27FC236}">
                <a16:creationId xmlns:a16="http://schemas.microsoft.com/office/drawing/2014/main" id="{31EB18C0-40EB-9533-0EE4-4DD8EFD7FA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157" y="4898423"/>
            <a:ext cx="426575" cy="426575"/>
          </a:xfrm>
          <a:prstGeom prst="rect">
            <a:avLst/>
          </a:prstGeom>
        </p:spPr>
      </p:pic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4A3CA2F-A56C-641A-6A68-AC25A901F3D5}"/>
              </a:ext>
            </a:extLst>
          </p:cNvPr>
          <p:cNvSpPr/>
          <p:nvPr/>
        </p:nvSpPr>
        <p:spPr>
          <a:xfrm>
            <a:off x="7553092" y="5023728"/>
            <a:ext cx="4469193" cy="154936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tIns="45720" rIns="45720" bIns="45720" rtlCol="0" anchor="ctr">
            <a:spAutoFit/>
          </a:bodyPr>
          <a:lstStyle/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500C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What the system handles in the background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50" dirty="0">
                <a:solidFill>
                  <a:prstClr val="black"/>
                </a:solidFill>
                <a:latin typeface="Graphik" panose="020B0503030202060203" pitchFamily="34" charset="0"/>
              </a:rPr>
              <a:t>Rejected Claims are not tracked within the automated process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50" dirty="0">
                <a:solidFill>
                  <a:prstClr val="black"/>
                </a:solidFill>
                <a:latin typeface="Graphik" panose="020B0503030202060203" pitchFamily="34" charset="0"/>
              </a:rPr>
              <a:t>On-Hold Claims stays active, but your handling-time tracking is paused until you resume the review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50" dirty="0">
                <a:solidFill>
                  <a:prstClr val="black"/>
                </a:solidFill>
                <a:latin typeface="Graphik" panose="020B0503030202060203" pitchFamily="34" charset="0"/>
              </a:rPr>
              <a:t>For Confirmed claims, the system considers review is completed, sends the outcome to both the workflow and the client’s claim system in the background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4BD3F44-24F9-645B-7525-F96E265D8B5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684638" y="5059421"/>
            <a:ext cx="300413" cy="300410"/>
            <a:chOff x="3438" y="437"/>
            <a:chExt cx="428" cy="428"/>
          </a:xfrm>
          <a:solidFill>
            <a:srgbClr val="7500C0"/>
          </a:solidFill>
        </p:grpSpPr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AC64B680-0227-F593-BDFB-0B8C1A5459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8" y="439"/>
              <a:ext cx="427" cy="426"/>
            </a:xfrm>
            <a:custGeom>
              <a:avLst/>
              <a:gdLst>
                <a:gd name="T0" fmla="*/ 126 w 288"/>
                <a:gd name="T1" fmla="*/ 288 h 288"/>
                <a:gd name="T2" fmla="*/ 120 w 288"/>
                <a:gd name="T3" fmla="*/ 247 h 288"/>
                <a:gd name="T4" fmla="*/ 67 w 288"/>
                <a:gd name="T5" fmla="*/ 262 h 288"/>
                <a:gd name="T6" fmla="*/ 25 w 288"/>
                <a:gd name="T7" fmla="*/ 229 h 288"/>
                <a:gd name="T8" fmla="*/ 25 w 288"/>
                <a:gd name="T9" fmla="*/ 220 h 288"/>
                <a:gd name="T10" fmla="*/ 40 w 288"/>
                <a:gd name="T11" fmla="*/ 168 h 288"/>
                <a:gd name="T12" fmla="*/ 0 w 288"/>
                <a:gd name="T13" fmla="*/ 162 h 288"/>
                <a:gd name="T14" fmla="*/ 6 w 288"/>
                <a:gd name="T15" fmla="*/ 120 h 288"/>
                <a:gd name="T16" fmla="*/ 49 w 288"/>
                <a:gd name="T17" fmla="*/ 92 h 288"/>
                <a:gd name="T18" fmla="*/ 23 w 288"/>
                <a:gd name="T19" fmla="*/ 63 h 288"/>
                <a:gd name="T20" fmla="*/ 59 w 288"/>
                <a:gd name="T21" fmla="*/ 25 h 288"/>
                <a:gd name="T22" fmla="*/ 92 w 288"/>
                <a:gd name="T23" fmla="*/ 49 h 288"/>
                <a:gd name="T24" fmla="*/ 120 w 288"/>
                <a:gd name="T25" fmla="*/ 6 h 288"/>
                <a:gd name="T26" fmla="*/ 162 w 288"/>
                <a:gd name="T27" fmla="*/ 0 h 288"/>
                <a:gd name="T28" fmla="*/ 168 w 288"/>
                <a:gd name="T29" fmla="*/ 40 h 288"/>
                <a:gd name="T30" fmla="*/ 202 w 288"/>
                <a:gd name="T31" fmla="*/ 60 h 288"/>
                <a:gd name="T32" fmla="*/ 160 w 288"/>
                <a:gd name="T33" fmla="*/ 50 h 288"/>
                <a:gd name="T34" fmla="*/ 156 w 288"/>
                <a:gd name="T35" fmla="*/ 12 h 288"/>
                <a:gd name="T36" fmla="*/ 132 w 288"/>
                <a:gd name="T37" fmla="*/ 45 h 288"/>
                <a:gd name="T38" fmla="*/ 94 w 288"/>
                <a:gd name="T39" fmla="*/ 62 h 288"/>
                <a:gd name="T40" fmla="*/ 63 w 288"/>
                <a:gd name="T41" fmla="*/ 38 h 288"/>
                <a:gd name="T42" fmla="*/ 61 w 288"/>
                <a:gd name="T43" fmla="*/ 86 h 288"/>
                <a:gd name="T44" fmla="*/ 51 w 288"/>
                <a:gd name="T45" fmla="*/ 127 h 288"/>
                <a:gd name="T46" fmla="*/ 12 w 288"/>
                <a:gd name="T47" fmla="*/ 132 h 288"/>
                <a:gd name="T48" fmla="*/ 45 w 288"/>
                <a:gd name="T49" fmla="*/ 156 h 288"/>
                <a:gd name="T50" fmla="*/ 62 w 288"/>
                <a:gd name="T51" fmla="*/ 194 h 288"/>
                <a:gd name="T52" fmla="*/ 38 w 288"/>
                <a:gd name="T53" fmla="*/ 224 h 288"/>
                <a:gd name="T54" fmla="*/ 87 w 288"/>
                <a:gd name="T55" fmla="*/ 226 h 288"/>
                <a:gd name="T56" fmla="*/ 127 w 288"/>
                <a:gd name="T57" fmla="*/ 237 h 288"/>
                <a:gd name="T58" fmla="*/ 132 w 288"/>
                <a:gd name="T59" fmla="*/ 276 h 288"/>
                <a:gd name="T60" fmla="*/ 156 w 288"/>
                <a:gd name="T61" fmla="*/ 243 h 288"/>
                <a:gd name="T62" fmla="*/ 194 w 288"/>
                <a:gd name="T63" fmla="*/ 226 h 288"/>
                <a:gd name="T64" fmla="*/ 224 w 288"/>
                <a:gd name="T65" fmla="*/ 250 h 288"/>
                <a:gd name="T66" fmla="*/ 227 w 288"/>
                <a:gd name="T67" fmla="*/ 201 h 288"/>
                <a:gd name="T68" fmla="*/ 237 w 288"/>
                <a:gd name="T69" fmla="*/ 160 h 288"/>
                <a:gd name="T70" fmla="*/ 276 w 288"/>
                <a:gd name="T71" fmla="*/ 156 h 288"/>
                <a:gd name="T72" fmla="*/ 243 w 288"/>
                <a:gd name="T73" fmla="*/ 132 h 288"/>
                <a:gd name="T74" fmla="*/ 231 w 288"/>
                <a:gd name="T75" fmla="*/ 107 h 288"/>
                <a:gd name="T76" fmla="*/ 243 w 288"/>
                <a:gd name="T77" fmla="*/ 103 h 288"/>
                <a:gd name="T78" fmla="*/ 282 w 288"/>
                <a:gd name="T79" fmla="*/ 120 h 288"/>
                <a:gd name="T80" fmla="*/ 288 w 288"/>
                <a:gd name="T81" fmla="*/ 162 h 288"/>
                <a:gd name="T82" fmla="*/ 248 w 288"/>
                <a:gd name="T83" fmla="*/ 168 h 288"/>
                <a:gd name="T84" fmla="*/ 263 w 288"/>
                <a:gd name="T85" fmla="*/ 220 h 288"/>
                <a:gd name="T86" fmla="*/ 229 w 288"/>
                <a:gd name="T87" fmla="*/ 262 h 288"/>
                <a:gd name="T88" fmla="*/ 196 w 288"/>
                <a:gd name="T89" fmla="*/ 238 h 288"/>
                <a:gd name="T90" fmla="*/ 168 w 288"/>
                <a:gd name="T91" fmla="*/ 282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88" h="288">
                  <a:moveTo>
                    <a:pt x="162" y="288"/>
                  </a:moveTo>
                  <a:cubicBezTo>
                    <a:pt x="126" y="288"/>
                    <a:pt x="126" y="288"/>
                    <a:pt x="126" y="288"/>
                  </a:cubicBezTo>
                  <a:cubicBezTo>
                    <a:pt x="123" y="288"/>
                    <a:pt x="120" y="285"/>
                    <a:pt x="120" y="282"/>
                  </a:cubicBezTo>
                  <a:cubicBezTo>
                    <a:pt x="120" y="247"/>
                    <a:pt x="120" y="247"/>
                    <a:pt x="120" y="247"/>
                  </a:cubicBezTo>
                  <a:cubicBezTo>
                    <a:pt x="110" y="245"/>
                    <a:pt x="100" y="242"/>
                    <a:pt x="92" y="238"/>
                  </a:cubicBezTo>
                  <a:cubicBezTo>
                    <a:pt x="67" y="262"/>
                    <a:pt x="67" y="262"/>
                    <a:pt x="67" y="262"/>
                  </a:cubicBezTo>
                  <a:cubicBezTo>
                    <a:pt x="65" y="265"/>
                    <a:pt x="61" y="265"/>
                    <a:pt x="59" y="262"/>
                  </a:cubicBezTo>
                  <a:cubicBezTo>
                    <a:pt x="25" y="229"/>
                    <a:pt x="25" y="229"/>
                    <a:pt x="25" y="229"/>
                  </a:cubicBezTo>
                  <a:cubicBezTo>
                    <a:pt x="24" y="227"/>
                    <a:pt x="23" y="226"/>
                    <a:pt x="23" y="224"/>
                  </a:cubicBezTo>
                  <a:cubicBezTo>
                    <a:pt x="23" y="223"/>
                    <a:pt x="24" y="221"/>
                    <a:pt x="25" y="220"/>
                  </a:cubicBezTo>
                  <a:cubicBezTo>
                    <a:pt x="49" y="196"/>
                    <a:pt x="49" y="196"/>
                    <a:pt x="49" y="196"/>
                  </a:cubicBezTo>
                  <a:cubicBezTo>
                    <a:pt x="46" y="188"/>
                    <a:pt x="43" y="177"/>
                    <a:pt x="40" y="168"/>
                  </a:cubicBezTo>
                  <a:cubicBezTo>
                    <a:pt x="6" y="168"/>
                    <a:pt x="6" y="168"/>
                    <a:pt x="6" y="168"/>
                  </a:cubicBezTo>
                  <a:cubicBezTo>
                    <a:pt x="3" y="168"/>
                    <a:pt x="0" y="165"/>
                    <a:pt x="0" y="162"/>
                  </a:cubicBezTo>
                  <a:cubicBezTo>
                    <a:pt x="0" y="126"/>
                    <a:pt x="0" y="126"/>
                    <a:pt x="0" y="126"/>
                  </a:cubicBezTo>
                  <a:cubicBezTo>
                    <a:pt x="0" y="122"/>
                    <a:pt x="3" y="120"/>
                    <a:pt x="6" y="120"/>
                  </a:cubicBezTo>
                  <a:cubicBezTo>
                    <a:pt x="40" y="120"/>
                    <a:pt x="40" y="120"/>
                    <a:pt x="40" y="120"/>
                  </a:cubicBezTo>
                  <a:cubicBezTo>
                    <a:pt x="43" y="110"/>
                    <a:pt x="46" y="100"/>
                    <a:pt x="49" y="92"/>
                  </a:cubicBezTo>
                  <a:cubicBezTo>
                    <a:pt x="25" y="67"/>
                    <a:pt x="25" y="67"/>
                    <a:pt x="25" y="67"/>
                  </a:cubicBezTo>
                  <a:cubicBezTo>
                    <a:pt x="24" y="66"/>
                    <a:pt x="23" y="65"/>
                    <a:pt x="23" y="63"/>
                  </a:cubicBezTo>
                  <a:cubicBezTo>
                    <a:pt x="23" y="61"/>
                    <a:pt x="24" y="60"/>
                    <a:pt x="25" y="59"/>
                  </a:cubicBezTo>
                  <a:cubicBezTo>
                    <a:pt x="59" y="25"/>
                    <a:pt x="59" y="25"/>
                    <a:pt x="59" y="25"/>
                  </a:cubicBezTo>
                  <a:cubicBezTo>
                    <a:pt x="61" y="23"/>
                    <a:pt x="65" y="23"/>
                    <a:pt x="67" y="25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100" y="45"/>
                    <a:pt x="110" y="42"/>
                    <a:pt x="120" y="40"/>
                  </a:cubicBezTo>
                  <a:cubicBezTo>
                    <a:pt x="120" y="6"/>
                    <a:pt x="120" y="6"/>
                    <a:pt x="120" y="6"/>
                  </a:cubicBezTo>
                  <a:cubicBezTo>
                    <a:pt x="120" y="2"/>
                    <a:pt x="123" y="0"/>
                    <a:pt x="126" y="0"/>
                  </a:cubicBezTo>
                  <a:cubicBezTo>
                    <a:pt x="162" y="0"/>
                    <a:pt x="162" y="0"/>
                    <a:pt x="162" y="0"/>
                  </a:cubicBezTo>
                  <a:cubicBezTo>
                    <a:pt x="165" y="0"/>
                    <a:pt x="168" y="2"/>
                    <a:pt x="168" y="6"/>
                  </a:cubicBezTo>
                  <a:cubicBezTo>
                    <a:pt x="168" y="40"/>
                    <a:pt x="168" y="40"/>
                    <a:pt x="168" y="40"/>
                  </a:cubicBezTo>
                  <a:cubicBezTo>
                    <a:pt x="179" y="43"/>
                    <a:pt x="192" y="47"/>
                    <a:pt x="200" y="52"/>
                  </a:cubicBezTo>
                  <a:cubicBezTo>
                    <a:pt x="203" y="53"/>
                    <a:pt x="204" y="57"/>
                    <a:pt x="202" y="60"/>
                  </a:cubicBezTo>
                  <a:cubicBezTo>
                    <a:pt x="200" y="63"/>
                    <a:pt x="197" y="63"/>
                    <a:pt x="194" y="62"/>
                  </a:cubicBezTo>
                  <a:cubicBezTo>
                    <a:pt x="186" y="57"/>
                    <a:pt x="171" y="53"/>
                    <a:pt x="160" y="50"/>
                  </a:cubicBezTo>
                  <a:cubicBezTo>
                    <a:pt x="158" y="50"/>
                    <a:pt x="156" y="47"/>
                    <a:pt x="156" y="45"/>
                  </a:cubicBezTo>
                  <a:cubicBezTo>
                    <a:pt x="156" y="12"/>
                    <a:pt x="156" y="12"/>
                    <a:pt x="156" y="12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7"/>
                    <a:pt x="130" y="50"/>
                    <a:pt x="127" y="50"/>
                  </a:cubicBezTo>
                  <a:cubicBezTo>
                    <a:pt x="117" y="53"/>
                    <a:pt x="102" y="57"/>
                    <a:pt x="94" y="62"/>
                  </a:cubicBezTo>
                  <a:cubicBezTo>
                    <a:pt x="92" y="63"/>
                    <a:pt x="89" y="63"/>
                    <a:pt x="87" y="61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61" y="86"/>
                    <a:pt x="61" y="86"/>
                    <a:pt x="61" y="86"/>
                  </a:cubicBezTo>
                  <a:cubicBezTo>
                    <a:pt x="63" y="88"/>
                    <a:pt x="63" y="91"/>
                    <a:pt x="62" y="94"/>
                  </a:cubicBezTo>
                  <a:cubicBezTo>
                    <a:pt x="57" y="103"/>
                    <a:pt x="52" y="120"/>
                    <a:pt x="51" y="127"/>
                  </a:cubicBezTo>
                  <a:cubicBezTo>
                    <a:pt x="50" y="130"/>
                    <a:pt x="48" y="132"/>
                    <a:pt x="45" y="132"/>
                  </a:cubicBezTo>
                  <a:cubicBezTo>
                    <a:pt x="12" y="132"/>
                    <a:pt x="12" y="132"/>
                    <a:pt x="12" y="132"/>
                  </a:cubicBezTo>
                  <a:cubicBezTo>
                    <a:pt x="12" y="156"/>
                    <a:pt x="12" y="156"/>
                    <a:pt x="12" y="156"/>
                  </a:cubicBezTo>
                  <a:cubicBezTo>
                    <a:pt x="45" y="156"/>
                    <a:pt x="45" y="156"/>
                    <a:pt x="45" y="156"/>
                  </a:cubicBezTo>
                  <a:cubicBezTo>
                    <a:pt x="48" y="156"/>
                    <a:pt x="50" y="158"/>
                    <a:pt x="51" y="160"/>
                  </a:cubicBezTo>
                  <a:cubicBezTo>
                    <a:pt x="52" y="167"/>
                    <a:pt x="57" y="185"/>
                    <a:pt x="62" y="194"/>
                  </a:cubicBezTo>
                  <a:cubicBezTo>
                    <a:pt x="63" y="196"/>
                    <a:pt x="63" y="199"/>
                    <a:pt x="61" y="201"/>
                  </a:cubicBezTo>
                  <a:cubicBezTo>
                    <a:pt x="38" y="224"/>
                    <a:pt x="38" y="224"/>
                    <a:pt x="38" y="224"/>
                  </a:cubicBezTo>
                  <a:cubicBezTo>
                    <a:pt x="63" y="250"/>
                    <a:pt x="63" y="250"/>
                    <a:pt x="63" y="250"/>
                  </a:cubicBezTo>
                  <a:cubicBezTo>
                    <a:pt x="87" y="226"/>
                    <a:pt x="87" y="226"/>
                    <a:pt x="87" y="226"/>
                  </a:cubicBezTo>
                  <a:cubicBezTo>
                    <a:pt x="88" y="224"/>
                    <a:pt x="92" y="224"/>
                    <a:pt x="94" y="226"/>
                  </a:cubicBezTo>
                  <a:cubicBezTo>
                    <a:pt x="103" y="231"/>
                    <a:pt x="121" y="235"/>
                    <a:pt x="127" y="237"/>
                  </a:cubicBezTo>
                  <a:cubicBezTo>
                    <a:pt x="130" y="238"/>
                    <a:pt x="132" y="240"/>
                    <a:pt x="132" y="243"/>
                  </a:cubicBezTo>
                  <a:cubicBezTo>
                    <a:pt x="132" y="276"/>
                    <a:pt x="132" y="276"/>
                    <a:pt x="132" y="276"/>
                  </a:cubicBezTo>
                  <a:cubicBezTo>
                    <a:pt x="156" y="276"/>
                    <a:pt x="156" y="276"/>
                    <a:pt x="156" y="276"/>
                  </a:cubicBezTo>
                  <a:cubicBezTo>
                    <a:pt x="156" y="243"/>
                    <a:pt x="156" y="243"/>
                    <a:pt x="156" y="243"/>
                  </a:cubicBezTo>
                  <a:cubicBezTo>
                    <a:pt x="156" y="240"/>
                    <a:pt x="158" y="238"/>
                    <a:pt x="160" y="237"/>
                  </a:cubicBezTo>
                  <a:cubicBezTo>
                    <a:pt x="167" y="235"/>
                    <a:pt x="185" y="231"/>
                    <a:pt x="194" y="226"/>
                  </a:cubicBezTo>
                  <a:cubicBezTo>
                    <a:pt x="196" y="224"/>
                    <a:pt x="199" y="224"/>
                    <a:pt x="201" y="226"/>
                  </a:cubicBezTo>
                  <a:cubicBezTo>
                    <a:pt x="224" y="250"/>
                    <a:pt x="224" y="250"/>
                    <a:pt x="224" y="250"/>
                  </a:cubicBezTo>
                  <a:cubicBezTo>
                    <a:pt x="250" y="224"/>
                    <a:pt x="250" y="224"/>
                    <a:pt x="250" y="224"/>
                  </a:cubicBezTo>
                  <a:cubicBezTo>
                    <a:pt x="227" y="201"/>
                    <a:pt x="227" y="201"/>
                    <a:pt x="227" y="201"/>
                  </a:cubicBezTo>
                  <a:cubicBezTo>
                    <a:pt x="225" y="199"/>
                    <a:pt x="224" y="196"/>
                    <a:pt x="226" y="194"/>
                  </a:cubicBezTo>
                  <a:cubicBezTo>
                    <a:pt x="231" y="185"/>
                    <a:pt x="235" y="167"/>
                    <a:pt x="237" y="160"/>
                  </a:cubicBezTo>
                  <a:cubicBezTo>
                    <a:pt x="238" y="158"/>
                    <a:pt x="240" y="156"/>
                    <a:pt x="243" y="156"/>
                  </a:cubicBezTo>
                  <a:cubicBezTo>
                    <a:pt x="276" y="156"/>
                    <a:pt x="276" y="156"/>
                    <a:pt x="276" y="156"/>
                  </a:cubicBezTo>
                  <a:cubicBezTo>
                    <a:pt x="276" y="132"/>
                    <a:pt x="276" y="132"/>
                    <a:pt x="276" y="132"/>
                  </a:cubicBezTo>
                  <a:cubicBezTo>
                    <a:pt x="243" y="132"/>
                    <a:pt x="243" y="132"/>
                    <a:pt x="243" y="132"/>
                  </a:cubicBezTo>
                  <a:cubicBezTo>
                    <a:pt x="240" y="132"/>
                    <a:pt x="238" y="130"/>
                    <a:pt x="237" y="127"/>
                  </a:cubicBezTo>
                  <a:cubicBezTo>
                    <a:pt x="236" y="121"/>
                    <a:pt x="234" y="114"/>
                    <a:pt x="231" y="107"/>
                  </a:cubicBezTo>
                  <a:cubicBezTo>
                    <a:pt x="230" y="103"/>
                    <a:pt x="232" y="100"/>
                    <a:pt x="235" y="99"/>
                  </a:cubicBezTo>
                  <a:cubicBezTo>
                    <a:pt x="238" y="98"/>
                    <a:pt x="242" y="100"/>
                    <a:pt x="243" y="103"/>
                  </a:cubicBezTo>
                  <a:cubicBezTo>
                    <a:pt x="245" y="108"/>
                    <a:pt x="246" y="114"/>
                    <a:pt x="248" y="120"/>
                  </a:cubicBezTo>
                  <a:cubicBezTo>
                    <a:pt x="282" y="120"/>
                    <a:pt x="282" y="120"/>
                    <a:pt x="282" y="120"/>
                  </a:cubicBezTo>
                  <a:cubicBezTo>
                    <a:pt x="285" y="120"/>
                    <a:pt x="288" y="122"/>
                    <a:pt x="288" y="126"/>
                  </a:cubicBezTo>
                  <a:cubicBezTo>
                    <a:pt x="288" y="162"/>
                    <a:pt x="288" y="162"/>
                    <a:pt x="288" y="162"/>
                  </a:cubicBezTo>
                  <a:cubicBezTo>
                    <a:pt x="288" y="165"/>
                    <a:pt x="285" y="168"/>
                    <a:pt x="282" y="168"/>
                  </a:cubicBezTo>
                  <a:cubicBezTo>
                    <a:pt x="248" y="168"/>
                    <a:pt x="248" y="168"/>
                    <a:pt x="248" y="168"/>
                  </a:cubicBezTo>
                  <a:cubicBezTo>
                    <a:pt x="245" y="177"/>
                    <a:pt x="242" y="188"/>
                    <a:pt x="238" y="196"/>
                  </a:cubicBezTo>
                  <a:cubicBezTo>
                    <a:pt x="263" y="220"/>
                    <a:pt x="263" y="220"/>
                    <a:pt x="263" y="220"/>
                  </a:cubicBezTo>
                  <a:cubicBezTo>
                    <a:pt x="265" y="222"/>
                    <a:pt x="265" y="226"/>
                    <a:pt x="263" y="229"/>
                  </a:cubicBezTo>
                  <a:cubicBezTo>
                    <a:pt x="229" y="262"/>
                    <a:pt x="229" y="262"/>
                    <a:pt x="229" y="262"/>
                  </a:cubicBezTo>
                  <a:cubicBezTo>
                    <a:pt x="226" y="265"/>
                    <a:pt x="223" y="265"/>
                    <a:pt x="220" y="262"/>
                  </a:cubicBezTo>
                  <a:cubicBezTo>
                    <a:pt x="196" y="238"/>
                    <a:pt x="196" y="238"/>
                    <a:pt x="196" y="238"/>
                  </a:cubicBezTo>
                  <a:cubicBezTo>
                    <a:pt x="188" y="242"/>
                    <a:pt x="177" y="245"/>
                    <a:pt x="168" y="247"/>
                  </a:cubicBezTo>
                  <a:cubicBezTo>
                    <a:pt x="168" y="282"/>
                    <a:pt x="168" y="282"/>
                    <a:pt x="168" y="282"/>
                  </a:cubicBezTo>
                  <a:cubicBezTo>
                    <a:pt x="168" y="285"/>
                    <a:pt x="165" y="288"/>
                    <a:pt x="162" y="2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97FB719B-EC7C-3F5B-BEE6-D9E20DA53B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7" y="437"/>
              <a:ext cx="299" cy="265"/>
            </a:xfrm>
            <a:custGeom>
              <a:avLst/>
              <a:gdLst>
                <a:gd name="T0" fmla="*/ 61 w 202"/>
                <a:gd name="T1" fmla="*/ 179 h 179"/>
                <a:gd name="T2" fmla="*/ 56 w 202"/>
                <a:gd name="T3" fmla="*/ 177 h 179"/>
                <a:gd name="T4" fmla="*/ 3 w 202"/>
                <a:gd name="T5" fmla="*/ 124 h 179"/>
                <a:gd name="T6" fmla="*/ 3 w 202"/>
                <a:gd name="T7" fmla="*/ 115 h 179"/>
                <a:gd name="T8" fmla="*/ 11 w 202"/>
                <a:gd name="T9" fmla="*/ 115 h 179"/>
                <a:gd name="T10" fmla="*/ 60 w 202"/>
                <a:gd name="T11" fmla="*/ 164 h 179"/>
                <a:gd name="T12" fmla="*/ 190 w 202"/>
                <a:gd name="T13" fmla="*/ 3 h 179"/>
                <a:gd name="T14" fmla="*/ 199 w 202"/>
                <a:gd name="T15" fmla="*/ 2 h 179"/>
                <a:gd name="T16" fmla="*/ 200 w 202"/>
                <a:gd name="T17" fmla="*/ 10 h 179"/>
                <a:gd name="T18" fmla="*/ 65 w 202"/>
                <a:gd name="T19" fmla="*/ 177 h 179"/>
                <a:gd name="T20" fmla="*/ 61 w 202"/>
                <a:gd name="T21" fmla="*/ 179 h 179"/>
                <a:gd name="T22" fmla="*/ 61 w 202"/>
                <a:gd name="T23" fmla="*/ 179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2" h="179">
                  <a:moveTo>
                    <a:pt x="61" y="179"/>
                  </a:moveTo>
                  <a:cubicBezTo>
                    <a:pt x="59" y="179"/>
                    <a:pt x="57" y="179"/>
                    <a:pt x="56" y="177"/>
                  </a:cubicBezTo>
                  <a:cubicBezTo>
                    <a:pt x="3" y="124"/>
                    <a:pt x="3" y="124"/>
                    <a:pt x="3" y="124"/>
                  </a:cubicBezTo>
                  <a:cubicBezTo>
                    <a:pt x="0" y="121"/>
                    <a:pt x="0" y="118"/>
                    <a:pt x="3" y="115"/>
                  </a:cubicBezTo>
                  <a:cubicBezTo>
                    <a:pt x="5" y="113"/>
                    <a:pt x="9" y="113"/>
                    <a:pt x="11" y="115"/>
                  </a:cubicBezTo>
                  <a:cubicBezTo>
                    <a:pt x="60" y="164"/>
                    <a:pt x="60" y="164"/>
                    <a:pt x="60" y="164"/>
                  </a:cubicBezTo>
                  <a:cubicBezTo>
                    <a:pt x="190" y="3"/>
                    <a:pt x="190" y="3"/>
                    <a:pt x="190" y="3"/>
                  </a:cubicBezTo>
                  <a:cubicBezTo>
                    <a:pt x="192" y="0"/>
                    <a:pt x="196" y="0"/>
                    <a:pt x="199" y="2"/>
                  </a:cubicBezTo>
                  <a:cubicBezTo>
                    <a:pt x="201" y="4"/>
                    <a:pt x="202" y="8"/>
                    <a:pt x="200" y="10"/>
                  </a:cubicBezTo>
                  <a:cubicBezTo>
                    <a:pt x="65" y="177"/>
                    <a:pt x="65" y="177"/>
                    <a:pt x="65" y="177"/>
                  </a:cubicBezTo>
                  <a:cubicBezTo>
                    <a:pt x="64" y="178"/>
                    <a:pt x="63" y="179"/>
                    <a:pt x="61" y="179"/>
                  </a:cubicBezTo>
                  <a:cubicBezTo>
                    <a:pt x="61" y="179"/>
                    <a:pt x="61" y="179"/>
                    <a:pt x="61" y="17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6F047339-356A-3273-8049-E2E5698761E1}"/>
              </a:ext>
            </a:extLst>
          </p:cNvPr>
          <p:cNvGrpSpPr/>
          <p:nvPr/>
        </p:nvGrpSpPr>
        <p:grpSpPr>
          <a:xfrm>
            <a:off x="7553092" y="2709000"/>
            <a:ext cx="720000" cy="720000"/>
            <a:chOff x="13338894" y="1587234"/>
            <a:chExt cx="720000" cy="7200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9806617-B535-44C2-416E-C9B7129FDD23}"/>
                </a:ext>
              </a:extLst>
            </p:cNvPr>
            <p:cNvSpPr/>
            <p:nvPr/>
          </p:nvSpPr>
          <p:spPr>
            <a:xfrm flipV="1">
              <a:off x="13338894" y="1587234"/>
              <a:ext cx="720000" cy="720000"/>
            </a:xfrm>
            <a:prstGeom prst="ellipse">
              <a:avLst/>
            </a:prstGeom>
            <a:solidFill>
              <a:schemeClr val="bg1"/>
            </a:solidFill>
            <a:ln w="22225" cap="flat" cmpd="sng" algn="ctr">
              <a:solidFill>
                <a:srgbClr val="7500C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grpSp>
          <p:nvGrpSpPr>
            <p:cNvPr id="7" name="Group 104">
              <a:extLst>
                <a:ext uri="{FF2B5EF4-FFF2-40B4-BE49-F238E27FC236}">
                  <a16:creationId xmlns:a16="http://schemas.microsoft.com/office/drawing/2014/main" id="{4F89BE17-BC9D-84C0-7589-FA4646E8B6A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524907" y="1698240"/>
              <a:ext cx="347973" cy="523184"/>
              <a:chOff x="1443" y="2997"/>
              <a:chExt cx="284" cy="427"/>
            </a:xfrm>
            <a:solidFill>
              <a:srgbClr val="7500C0"/>
            </a:solidFill>
          </p:grpSpPr>
          <p:sp>
            <p:nvSpPr>
              <p:cNvPr id="17" name="Freeform 105">
                <a:extLst>
                  <a:ext uri="{FF2B5EF4-FFF2-40B4-BE49-F238E27FC236}">
                    <a16:creationId xmlns:a16="http://schemas.microsoft.com/office/drawing/2014/main" id="{FFDA764F-258C-04DC-C1F7-591758A9D7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62" y="3104"/>
                <a:ext cx="261" cy="320"/>
              </a:xfrm>
              <a:custGeom>
                <a:avLst/>
                <a:gdLst>
                  <a:gd name="T0" fmla="*/ 155 w 176"/>
                  <a:gd name="T1" fmla="*/ 216 h 216"/>
                  <a:gd name="T2" fmla="*/ 59 w 176"/>
                  <a:gd name="T3" fmla="*/ 216 h 216"/>
                  <a:gd name="T4" fmla="*/ 54 w 176"/>
                  <a:gd name="T5" fmla="*/ 213 h 216"/>
                  <a:gd name="T6" fmla="*/ 6 w 176"/>
                  <a:gd name="T7" fmla="*/ 141 h 216"/>
                  <a:gd name="T8" fmla="*/ 4 w 176"/>
                  <a:gd name="T9" fmla="*/ 116 h 216"/>
                  <a:gd name="T10" fmla="*/ 17 w 176"/>
                  <a:gd name="T11" fmla="*/ 108 h 216"/>
                  <a:gd name="T12" fmla="*/ 59 w 176"/>
                  <a:gd name="T13" fmla="*/ 137 h 216"/>
                  <a:gd name="T14" fmla="*/ 59 w 176"/>
                  <a:gd name="T15" fmla="*/ 24 h 216"/>
                  <a:gd name="T16" fmla="*/ 83 w 176"/>
                  <a:gd name="T17" fmla="*/ 0 h 216"/>
                  <a:gd name="T18" fmla="*/ 107 w 176"/>
                  <a:gd name="T19" fmla="*/ 24 h 216"/>
                  <a:gd name="T20" fmla="*/ 107 w 176"/>
                  <a:gd name="T21" fmla="*/ 92 h 216"/>
                  <a:gd name="T22" fmla="*/ 156 w 176"/>
                  <a:gd name="T23" fmla="*/ 108 h 216"/>
                  <a:gd name="T24" fmla="*/ 173 w 176"/>
                  <a:gd name="T25" fmla="*/ 145 h 216"/>
                  <a:gd name="T26" fmla="*/ 161 w 176"/>
                  <a:gd name="T27" fmla="*/ 211 h 216"/>
                  <a:gd name="T28" fmla="*/ 155 w 176"/>
                  <a:gd name="T29" fmla="*/ 216 h 216"/>
                  <a:gd name="T30" fmla="*/ 62 w 176"/>
                  <a:gd name="T31" fmla="*/ 204 h 216"/>
                  <a:gd name="T32" fmla="*/ 150 w 176"/>
                  <a:gd name="T33" fmla="*/ 204 h 216"/>
                  <a:gd name="T34" fmla="*/ 161 w 176"/>
                  <a:gd name="T35" fmla="*/ 143 h 216"/>
                  <a:gd name="T36" fmla="*/ 152 w 176"/>
                  <a:gd name="T37" fmla="*/ 120 h 216"/>
                  <a:gd name="T38" fmla="*/ 99 w 176"/>
                  <a:gd name="T39" fmla="*/ 102 h 216"/>
                  <a:gd name="T40" fmla="*/ 95 w 176"/>
                  <a:gd name="T41" fmla="*/ 96 h 216"/>
                  <a:gd name="T42" fmla="*/ 95 w 176"/>
                  <a:gd name="T43" fmla="*/ 24 h 216"/>
                  <a:gd name="T44" fmla="*/ 83 w 176"/>
                  <a:gd name="T45" fmla="*/ 12 h 216"/>
                  <a:gd name="T46" fmla="*/ 71 w 176"/>
                  <a:gd name="T47" fmla="*/ 24 h 216"/>
                  <a:gd name="T48" fmla="*/ 71 w 176"/>
                  <a:gd name="T49" fmla="*/ 156 h 216"/>
                  <a:gd name="T50" fmla="*/ 67 w 176"/>
                  <a:gd name="T51" fmla="*/ 162 h 216"/>
                  <a:gd name="T52" fmla="*/ 60 w 176"/>
                  <a:gd name="T53" fmla="*/ 159 h 216"/>
                  <a:gd name="T54" fmla="*/ 17 w 176"/>
                  <a:gd name="T55" fmla="*/ 120 h 216"/>
                  <a:gd name="T56" fmla="*/ 14 w 176"/>
                  <a:gd name="T57" fmla="*/ 121 h 216"/>
                  <a:gd name="T58" fmla="*/ 16 w 176"/>
                  <a:gd name="T59" fmla="*/ 135 h 216"/>
                  <a:gd name="T60" fmla="*/ 62 w 176"/>
                  <a:gd name="T61" fmla="*/ 204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76" h="216">
                    <a:moveTo>
                      <a:pt x="155" y="216"/>
                    </a:moveTo>
                    <a:cubicBezTo>
                      <a:pt x="59" y="216"/>
                      <a:pt x="59" y="216"/>
                      <a:pt x="59" y="216"/>
                    </a:cubicBezTo>
                    <a:cubicBezTo>
                      <a:pt x="57" y="216"/>
                      <a:pt x="55" y="215"/>
                      <a:pt x="54" y="213"/>
                    </a:cubicBezTo>
                    <a:cubicBezTo>
                      <a:pt x="6" y="141"/>
                      <a:pt x="6" y="141"/>
                      <a:pt x="6" y="141"/>
                    </a:cubicBezTo>
                    <a:cubicBezTo>
                      <a:pt x="2" y="135"/>
                      <a:pt x="0" y="124"/>
                      <a:pt x="4" y="116"/>
                    </a:cubicBezTo>
                    <a:cubicBezTo>
                      <a:pt x="6" y="111"/>
                      <a:pt x="11" y="108"/>
                      <a:pt x="17" y="108"/>
                    </a:cubicBezTo>
                    <a:cubicBezTo>
                      <a:pt x="30" y="108"/>
                      <a:pt x="42" y="113"/>
                      <a:pt x="59" y="137"/>
                    </a:cubicBezTo>
                    <a:cubicBezTo>
                      <a:pt x="59" y="24"/>
                      <a:pt x="59" y="24"/>
                      <a:pt x="59" y="24"/>
                    </a:cubicBezTo>
                    <a:cubicBezTo>
                      <a:pt x="59" y="11"/>
                      <a:pt x="70" y="0"/>
                      <a:pt x="83" y="0"/>
                    </a:cubicBezTo>
                    <a:cubicBezTo>
                      <a:pt x="96" y="0"/>
                      <a:pt x="107" y="11"/>
                      <a:pt x="107" y="24"/>
                    </a:cubicBezTo>
                    <a:cubicBezTo>
                      <a:pt x="107" y="92"/>
                      <a:pt x="107" y="92"/>
                      <a:pt x="107" y="92"/>
                    </a:cubicBezTo>
                    <a:cubicBezTo>
                      <a:pt x="156" y="108"/>
                      <a:pt x="156" y="108"/>
                      <a:pt x="156" y="108"/>
                    </a:cubicBezTo>
                    <a:cubicBezTo>
                      <a:pt x="172" y="113"/>
                      <a:pt x="176" y="131"/>
                      <a:pt x="173" y="145"/>
                    </a:cubicBezTo>
                    <a:cubicBezTo>
                      <a:pt x="161" y="211"/>
                      <a:pt x="161" y="211"/>
                      <a:pt x="161" y="211"/>
                    </a:cubicBezTo>
                    <a:cubicBezTo>
                      <a:pt x="161" y="214"/>
                      <a:pt x="158" y="216"/>
                      <a:pt x="155" y="216"/>
                    </a:cubicBezTo>
                    <a:close/>
                    <a:moveTo>
                      <a:pt x="62" y="204"/>
                    </a:moveTo>
                    <a:cubicBezTo>
                      <a:pt x="150" y="204"/>
                      <a:pt x="150" y="204"/>
                      <a:pt x="150" y="204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3" y="134"/>
                      <a:pt x="161" y="123"/>
                      <a:pt x="152" y="120"/>
                    </a:cubicBezTo>
                    <a:cubicBezTo>
                      <a:pt x="99" y="102"/>
                      <a:pt x="99" y="102"/>
                      <a:pt x="99" y="102"/>
                    </a:cubicBezTo>
                    <a:cubicBezTo>
                      <a:pt x="97" y="101"/>
                      <a:pt x="95" y="99"/>
                      <a:pt x="95" y="96"/>
                    </a:cubicBezTo>
                    <a:cubicBezTo>
                      <a:pt x="95" y="24"/>
                      <a:pt x="95" y="24"/>
                      <a:pt x="95" y="24"/>
                    </a:cubicBezTo>
                    <a:cubicBezTo>
                      <a:pt x="95" y="17"/>
                      <a:pt x="90" y="12"/>
                      <a:pt x="83" y="12"/>
                    </a:cubicBezTo>
                    <a:cubicBezTo>
                      <a:pt x="77" y="12"/>
                      <a:pt x="71" y="18"/>
                      <a:pt x="71" y="24"/>
                    </a:cubicBezTo>
                    <a:cubicBezTo>
                      <a:pt x="71" y="156"/>
                      <a:pt x="71" y="156"/>
                      <a:pt x="71" y="156"/>
                    </a:cubicBezTo>
                    <a:cubicBezTo>
                      <a:pt x="71" y="159"/>
                      <a:pt x="69" y="161"/>
                      <a:pt x="67" y="162"/>
                    </a:cubicBezTo>
                    <a:cubicBezTo>
                      <a:pt x="64" y="163"/>
                      <a:pt x="62" y="162"/>
                      <a:pt x="60" y="159"/>
                    </a:cubicBezTo>
                    <a:cubicBezTo>
                      <a:pt x="37" y="123"/>
                      <a:pt x="26" y="120"/>
                      <a:pt x="17" y="120"/>
                    </a:cubicBezTo>
                    <a:cubicBezTo>
                      <a:pt x="15" y="120"/>
                      <a:pt x="15" y="121"/>
                      <a:pt x="14" y="121"/>
                    </a:cubicBezTo>
                    <a:cubicBezTo>
                      <a:pt x="13" y="124"/>
                      <a:pt x="14" y="131"/>
                      <a:pt x="16" y="135"/>
                    </a:cubicBezTo>
                    <a:lnTo>
                      <a:pt x="62" y="20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8" name="Freeform 106">
                <a:extLst>
                  <a:ext uri="{FF2B5EF4-FFF2-40B4-BE49-F238E27FC236}">
                    <a16:creationId xmlns:a16="http://schemas.microsoft.com/office/drawing/2014/main" id="{D6AF8C03-7233-5472-E09D-374629BE39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6" y="3122"/>
                <a:ext cx="71" cy="17"/>
              </a:xfrm>
              <a:custGeom>
                <a:avLst/>
                <a:gdLst>
                  <a:gd name="T0" fmla="*/ 42 w 48"/>
                  <a:gd name="T1" fmla="*/ 12 h 12"/>
                  <a:gd name="T2" fmla="*/ 6 w 48"/>
                  <a:gd name="T3" fmla="*/ 12 h 12"/>
                  <a:gd name="T4" fmla="*/ 0 w 48"/>
                  <a:gd name="T5" fmla="*/ 6 h 12"/>
                  <a:gd name="T6" fmla="*/ 6 w 48"/>
                  <a:gd name="T7" fmla="*/ 0 h 12"/>
                  <a:gd name="T8" fmla="*/ 42 w 48"/>
                  <a:gd name="T9" fmla="*/ 0 h 12"/>
                  <a:gd name="T10" fmla="*/ 48 w 48"/>
                  <a:gd name="T11" fmla="*/ 6 h 12"/>
                  <a:gd name="T12" fmla="*/ 42 w 48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12">
                    <a:moveTo>
                      <a:pt x="42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6" y="0"/>
                      <a:pt x="48" y="3"/>
                      <a:pt x="48" y="6"/>
                    </a:cubicBezTo>
                    <a:cubicBezTo>
                      <a:pt x="48" y="9"/>
                      <a:pt x="46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9" name="Freeform 107">
                <a:extLst>
                  <a:ext uri="{FF2B5EF4-FFF2-40B4-BE49-F238E27FC236}">
                    <a16:creationId xmlns:a16="http://schemas.microsoft.com/office/drawing/2014/main" id="{434292A4-B6E7-3076-FDDC-F7DE013BC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8" y="3031"/>
                <a:ext cx="55" cy="55"/>
              </a:xfrm>
              <a:custGeom>
                <a:avLst/>
                <a:gdLst>
                  <a:gd name="T0" fmla="*/ 6 w 37"/>
                  <a:gd name="T1" fmla="*/ 37 h 37"/>
                  <a:gd name="T2" fmla="*/ 2 w 37"/>
                  <a:gd name="T3" fmla="*/ 35 h 37"/>
                  <a:gd name="T4" fmla="*/ 2 w 37"/>
                  <a:gd name="T5" fmla="*/ 27 h 37"/>
                  <a:gd name="T6" fmla="*/ 26 w 37"/>
                  <a:gd name="T7" fmla="*/ 3 h 37"/>
                  <a:gd name="T8" fmla="*/ 34 w 37"/>
                  <a:gd name="T9" fmla="*/ 3 h 37"/>
                  <a:gd name="T10" fmla="*/ 34 w 37"/>
                  <a:gd name="T11" fmla="*/ 11 h 37"/>
                  <a:gd name="T12" fmla="*/ 10 w 37"/>
                  <a:gd name="T13" fmla="*/ 35 h 37"/>
                  <a:gd name="T14" fmla="*/ 6 w 37"/>
                  <a:gd name="T15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7" h="37">
                    <a:moveTo>
                      <a:pt x="6" y="37"/>
                    </a:moveTo>
                    <a:cubicBezTo>
                      <a:pt x="5" y="37"/>
                      <a:pt x="3" y="36"/>
                      <a:pt x="2" y="35"/>
                    </a:cubicBezTo>
                    <a:cubicBezTo>
                      <a:pt x="0" y="33"/>
                      <a:pt x="0" y="29"/>
                      <a:pt x="2" y="27"/>
                    </a:cubicBezTo>
                    <a:cubicBezTo>
                      <a:pt x="26" y="3"/>
                      <a:pt x="26" y="3"/>
                      <a:pt x="26" y="3"/>
                    </a:cubicBezTo>
                    <a:cubicBezTo>
                      <a:pt x="28" y="0"/>
                      <a:pt x="32" y="0"/>
                      <a:pt x="34" y="3"/>
                    </a:cubicBezTo>
                    <a:cubicBezTo>
                      <a:pt x="37" y="5"/>
                      <a:pt x="37" y="9"/>
                      <a:pt x="34" y="11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9" y="36"/>
                      <a:pt x="8" y="37"/>
                      <a:pt x="6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20" name="Freeform 108">
                <a:extLst>
                  <a:ext uri="{FF2B5EF4-FFF2-40B4-BE49-F238E27FC236}">
                    <a16:creationId xmlns:a16="http://schemas.microsoft.com/office/drawing/2014/main" id="{3F2CC00B-1D0B-E3A4-8E2F-78C4C78473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5" y="2997"/>
                <a:ext cx="18" cy="71"/>
              </a:xfrm>
              <a:custGeom>
                <a:avLst/>
                <a:gdLst>
                  <a:gd name="T0" fmla="*/ 6 w 12"/>
                  <a:gd name="T1" fmla="*/ 48 h 48"/>
                  <a:gd name="T2" fmla="*/ 0 w 12"/>
                  <a:gd name="T3" fmla="*/ 42 h 48"/>
                  <a:gd name="T4" fmla="*/ 0 w 12"/>
                  <a:gd name="T5" fmla="*/ 6 h 48"/>
                  <a:gd name="T6" fmla="*/ 6 w 12"/>
                  <a:gd name="T7" fmla="*/ 0 h 48"/>
                  <a:gd name="T8" fmla="*/ 12 w 12"/>
                  <a:gd name="T9" fmla="*/ 6 h 48"/>
                  <a:gd name="T10" fmla="*/ 12 w 12"/>
                  <a:gd name="T11" fmla="*/ 42 h 48"/>
                  <a:gd name="T12" fmla="*/ 6 w 12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48">
                    <a:moveTo>
                      <a:pt x="6" y="48"/>
                    </a:moveTo>
                    <a:cubicBezTo>
                      <a:pt x="3" y="48"/>
                      <a:pt x="0" y="45"/>
                      <a:pt x="0" y="42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0" y="0"/>
                      <a:pt x="12" y="3"/>
                      <a:pt x="12" y="6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2" y="45"/>
                      <a:pt x="10" y="48"/>
                      <a:pt x="6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21" name="Freeform 109">
                <a:extLst>
                  <a:ext uri="{FF2B5EF4-FFF2-40B4-BE49-F238E27FC236}">
                    <a16:creationId xmlns:a16="http://schemas.microsoft.com/office/drawing/2014/main" id="{E4BB6D14-B328-549F-09E7-586AD6BAFF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8" y="3031"/>
                <a:ext cx="55" cy="55"/>
              </a:xfrm>
              <a:custGeom>
                <a:avLst/>
                <a:gdLst>
                  <a:gd name="T0" fmla="*/ 30 w 37"/>
                  <a:gd name="T1" fmla="*/ 37 h 37"/>
                  <a:gd name="T2" fmla="*/ 26 w 37"/>
                  <a:gd name="T3" fmla="*/ 35 h 37"/>
                  <a:gd name="T4" fmla="*/ 2 w 37"/>
                  <a:gd name="T5" fmla="*/ 11 h 37"/>
                  <a:gd name="T6" fmla="*/ 2 w 37"/>
                  <a:gd name="T7" fmla="*/ 3 h 37"/>
                  <a:gd name="T8" fmla="*/ 10 w 37"/>
                  <a:gd name="T9" fmla="*/ 3 h 37"/>
                  <a:gd name="T10" fmla="*/ 34 w 37"/>
                  <a:gd name="T11" fmla="*/ 27 h 37"/>
                  <a:gd name="T12" fmla="*/ 34 w 37"/>
                  <a:gd name="T13" fmla="*/ 35 h 37"/>
                  <a:gd name="T14" fmla="*/ 30 w 37"/>
                  <a:gd name="T15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7" h="37">
                    <a:moveTo>
                      <a:pt x="30" y="37"/>
                    </a:moveTo>
                    <a:cubicBezTo>
                      <a:pt x="29" y="37"/>
                      <a:pt x="27" y="36"/>
                      <a:pt x="26" y="35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0" y="9"/>
                      <a:pt x="0" y="5"/>
                      <a:pt x="2" y="3"/>
                    </a:cubicBezTo>
                    <a:cubicBezTo>
                      <a:pt x="4" y="0"/>
                      <a:pt x="8" y="0"/>
                      <a:pt x="10" y="3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7" y="29"/>
                      <a:pt x="37" y="33"/>
                      <a:pt x="34" y="35"/>
                    </a:cubicBezTo>
                    <a:cubicBezTo>
                      <a:pt x="33" y="36"/>
                      <a:pt x="32" y="37"/>
                      <a:pt x="30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22" name="Freeform 110">
                <a:extLst>
                  <a:ext uri="{FF2B5EF4-FFF2-40B4-BE49-F238E27FC236}">
                    <a16:creationId xmlns:a16="http://schemas.microsoft.com/office/drawing/2014/main" id="{D2BF5A1D-534C-F682-FBBE-D4E5DC521D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3" y="3122"/>
                <a:ext cx="71" cy="17"/>
              </a:xfrm>
              <a:custGeom>
                <a:avLst/>
                <a:gdLst>
                  <a:gd name="T0" fmla="*/ 42 w 48"/>
                  <a:gd name="T1" fmla="*/ 12 h 12"/>
                  <a:gd name="T2" fmla="*/ 6 w 48"/>
                  <a:gd name="T3" fmla="*/ 12 h 12"/>
                  <a:gd name="T4" fmla="*/ 0 w 48"/>
                  <a:gd name="T5" fmla="*/ 6 h 12"/>
                  <a:gd name="T6" fmla="*/ 6 w 48"/>
                  <a:gd name="T7" fmla="*/ 0 h 12"/>
                  <a:gd name="T8" fmla="*/ 42 w 48"/>
                  <a:gd name="T9" fmla="*/ 0 h 12"/>
                  <a:gd name="T10" fmla="*/ 48 w 48"/>
                  <a:gd name="T11" fmla="*/ 6 h 12"/>
                  <a:gd name="T12" fmla="*/ 42 w 48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12">
                    <a:moveTo>
                      <a:pt x="42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6" y="0"/>
                      <a:pt x="48" y="3"/>
                      <a:pt x="48" y="6"/>
                    </a:cubicBezTo>
                    <a:cubicBezTo>
                      <a:pt x="48" y="9"/>
                      <a:pt x="46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9" tIns="45709" rIns="91419" bIns="457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19856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1488</Words>
  <Application>Microsoft Office PowerPoint</Application>
  <PresentationFormat>Widescreen</PresentationFormat>
  <Paragraphs>165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Graphik</vt:lpstr>
      <vt:lpstr>Graphik Super</vt:lpstr>
      <vt:lpstr>Wingdings</vt:lpstr>
      <vt:lpstr>Office Theme</vt:lpstr>
      <vt:lpstr>PRU VB Claims</vt:lpstr>
      <vt:lpstr>Claim Journey with Gen AI</vt:lpstr>
      <vt:lpstr>Claim Intake and Validation Process Flow - With Gen AI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Valencia, Maria Cristina</dc:creator>
  <cp:lastModifiedBy>Valencia, Maria Cristina</cp:lastModifiedBy>
  <cp:revision>1</cp:revision>
  <dcterms:created xsi:type="dcterms:W3CDTF">2026-04-19T15:27:58Z</dcterms:created>
  <dcterms:modified xsi:type="dcterms:W3CDTF">2026-04-19T16:27:02Z</dcterms:modified>
</cp:coreProperties>
</file>